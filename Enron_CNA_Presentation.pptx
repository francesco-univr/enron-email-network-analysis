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analyse the Enron email network — the corporate communication graph released publicly during the FERC investigation into the Enron scandal. It is a real, human communication network, which is exactly why it is a good test case for everything the course covers: hubs, small-world behaviour, clustering, community structure and — the focus of this project — robustness to random failures versus targeted attacks. IF ASKED why this dataset: it is undirected, well above the 1,000-node minimum, not bipartite, and has a clear real-world narrative (a corporate email network) that makes every structural result interpretable.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Six steps, about fifteen minutes. We characterise the network structurally, then — this is the part the professor asked us to focus on — compare it against four textbook reference models, and finish with robustness to random failures and targeted attacks. IF ASKED about scope: extensions beyond the required scaletta (game theory, spreading, embeddings, conformal prediction) are summarised briefly near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work on the Giant Component only, which covers 92% of the graph — the remaining components are negligible (never more than 20 nodes). IF ASKED about 367,662 vs 183,831: the raw SNAP file stores each edge in both directions; NetworkX collapses that to unique undirected edges when we read it as a Graph, not a DiGraph. IF ASKED about bipartite: we checked explicitly with nx.is_bipartite and counted triangles — a bipartite graph cannot contain any triangle, and we have over 725,000, so the requirement is unambiguously met. IN PLAIN TERMS, for anyone unfamiliar with the jargon: a 'connected component' is just a cluster of nodes you can reach from one another by hopping along edges — the Giant Component is simply the largest such cluster, the rest are small leftover pockets. A graph is 'bipartite' when every node can be put into one of two sides such that edges only ever cross between sides, never within one — which would make a triangle impossible by construction, so counting triangles is the simplest possible way to rule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average node has about 11 contacts, but the busiest address has 1,383 — two orders of magnitude apart. That gap is the first hint of hubs, and the CCDF in log-log scale is how we always visualise this (never the linear-binned density, which is unreliable in the tail). IF ASKED why CCDF and not a normal histogram: at high degree there are very few nodes per bin, so the raw density is noisy; the cumulative version smooths that out and is the standard tool for spotting heavy tails. IN PLAIN TERMS: a node's degree is nothing more than a head-count of distinct addresses it has exchanged mail with, and a hub is simply a node whose head-count towers over everyone else's. Two orders of magnitude between the average and the busiest node is, on its own, a strong visual tell that this network was not built by connecting people at random.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do not stop at eyeballing a straight line in log-log scale. We ran the rigorous statistical test (Clauset et al. methodology, via the `powerlaw` package): the power law beats the exponential easily, but both the lognormal and the truncated power law beat the pure power law. The truncated power law wins overall — alpha 1.87, with an exponential cutoff around 590, which is the same order of magnitude as our biggest hub. IF ASKED what this means physically: the tail behaves like a power law up to a finite-size effect, then decays faster — completely expected in a finite real network. IF ASKED about xmin sensitivity: it is selected automatically (Clauset et al.); a manual xmin can change the numeric alpha, which is exactly why we report the full statistical comparison rather than a single alpha in isolation. IN PLAIN TERMS: xmin is not a value we picked by eye — the algorithm tries every candidate cut-off present in the data and keeps whichever one makes the tail above it look most like a clean straight line on the fitted scale (smallest gap between the real data and the fitted curve); it happened to land on 5. Alpha itself is not read off a ruler on the log-log plot either — it comes from the single best-fitting value found by the standard rigorous method, not a hand-drawn slope. And 'R' in the table is simply a score of which of two candidate distributions explains the data better: positive means the first-named one wins, negative means the second one does — chaining the four pairwise scores together is exactly how we get the final ranking, truncated power law beats lognormal beats power law beats exponential.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Clustering must always be read relative to the equivalent random graph, which has clustering of order k/N — essentially zero at this scale. Enron's local clustering is 1,599 times higher, so the network is strongly cohesive. The average path length, 3.96, matches the correct theoretical benchmark ln N / ln average degree, about 4.4 — confirming small-world behaviour. IF ASKED why not compare with ln N alone: ln N is about 10.4, nowhere near 4, so that would be the wrong benchmark; dividing by ln of the average degree is what the lectures derive for this regime. IF ASKED why clustering is high despite the heavy tail: a pure Barabási-Albert scale-free model actually has LOW clustering — high clustering here is an independent, genuinely social signature (triadic closure: colleagues of colleagues also email each other). IN PLAIN TERMS: the clustering coefficient just asks 'of my contacts, how many of them also know each other?' — high clustering means colleagues of colleagues tend to already be connected, low clustering means your contacts are mostly strangers to one another. The small-world benchmark comes from a simple branching argument: if every hop reaches, on average, about eleven new people, the pool of reachable people roughly multiplies by eleven at each extra hop — so it only takes a handful of hops for that multiplication to cover tens of thousands of nodes, which is why dividing by the average degree (not just taking ln N on its own) is the right yardstick.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more structural facts. First, assortativity: r is negative, so hubs connect mostly to low-degree nodes rather than to each other — disassortative, like most technological/communication networks (the Internet is around -0.19). Second, degree and betweenness correlate strongly at 0.79, so the hubs are also the main bridges of the network. IF ASKED about mean knn = 257 versus average degree 10.7: that is the friendship paradox — your neighbours have on average more connections than you do, a real and expected effect in heavy-tailed networks, not a bug. IF ASKED why disassortativity matters: because there is no tight cluster of mutually-connected hubs, removing one hub does not get ‘covered’ by a neighbouring hub — which is exactly why targeted attacks will be so damaging, as we show two slides from now. IN PLAIN TERMS: assortativity simply asks whether well-connected people tend to email other well-connected people, or mostly email 'ordinary' addresses instead — here it is clearly the latter. Betweenness asks, for every pair of nodes in the network, what share of their shortest communication path runs through a given node — a high-betweenness node is a gatekeeper that a lot of message traffic has to pass through, which is a different question from simply 'how many people does this node talk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ran Louvain community detection, which maximises modularity. It found 197 communities with a modularity of 0.60 — well above the 0.3 threshold the lectures use as the marker of clear community structure — and about 78% of the giant component sits in just the ten largest communities. IF ASKED how this relates to clustering: the two reinforce each other — high local clustering (triadic closure) and high modularity (compartmentalisation) are two different lenses on the same phenomenon, tight-knit local groups. IF ASKED why Louvain and not another algorithm: it is the standard, fast, modularity-maximising method used in the course; we did not need ground-truth ‘department’ labels since Enron's org chart is not part of the released dataset — the communities are inferred purely from the email topology. IN PLAIN TERMS: modularity simply compares how many edges sit inside the groups we found against how many we would expect if edges were scattered randomly among nodes with the same degrees — the Louvain algorithm searches for a good grouping by repeatedly moving each node into whichever neighbouring group increases that score the most, then bundles each group into one 'super-node' and repeats the same process one level up, until no more improvement 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what the network actually looks like — not the full 33,696-node graph, which would just render as an unreadable dark blob, but the induced sub-graph of the 540 hub nodes (degree above 100), coloured by the communities we just found. You can already see the community structure visually: distinct colour clusters with denser connections inside each colour than between colours. IF ASKED why not show the whole graph: with 180,811 edges no layout algorithm produces a readable picture — the induced hub sub-graph is the standard, principled way to visualise a large network, used identically in the course's own Facebook lab. IF ASKED about the interactive version: we also built a self-contained HTML page with the same layout — pan, zoom, and hover any node to see its degree, community, and neighbours.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core comparison the professor asked for. All four models are built with the same N and, as closely as possible, the same average degree as Enron. ER has a light Poisson tail and no hubs at all. Watts-Strogatz is the small-world model — it reproduces our high clustering almost exactly, 0.488 versus our 0.509, but its degree distribution is narrow, no hubs. Barabási-Albert gives a power-law tail but with the wrong exponent, gamma 3 instead of our 1.98-1.87, and near-zero clustering. The Configuration Model, built from Enron's own degree sequence, reproduces the degree distribution almost by construction — its CCDF overlaps ours — but still has low clustering, because it has no mechanism for triadic closure. IF ASKED to compare BA vs ER vs WS directly: ER = no structure at all (fully random); BA = structure only in the degree sequence (rich-get-richer, but no local cohesion); WS = structure only in local cohesion (from a ring lattice) with no hubs. Enron needs both mechanisms together, which is why it is a real human network and not a synthetic one. IF ASKED about the Configuration Model's slightly different N and average degree: removing multi-edges and self-loops after generation makes it only approximately equal to Enron's sequence, not identical — we state that explicitly. IN PLAIN TERMS: each synthetic model isolates one single ingredient of network structure and nothing else — pure randomness (ER), a 'popularity attracts more popularity' growth rule (BA), or local cliquishness copied from a ring of neighbours (WS) — and none of them, alone, produces both hubs and high clustering at the same time. Only forcing the degree sequence directly (the Configuration Model) gets the hubs right, and only Watts-Strogatz gets the clustering right — nobody gets both, which is precisely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heart of the project. Random failures barely dent the network — you need to remove over 90% of nodes before the giant component collapses, matching the analytical Molloy-Reed prediction of 0.993. Targeted attacks on the highest-degree nodes are devastating: removing just 13% collapses the giant component. This is the classic ‘robust-yet-fragile’ property of heavy-tailed networks. IF ASKED how fₑ is defined here: it is an operational threshold, the first fraction removed where the giant component drops below 1% — not the exact asymptotic critical point, which is why our empirical random value (0.93) is only of the same order as the analytical 0.993, not identical (finite-size effects and the 1% cutoff both lower it). IF ASKED sequential vs. simultaneous degree attack: the sequential one re-ranks nodes by degree after every removal, so it re-targets newly emerged hubs — it is at least as damaging, confirmed by comparing the area under each curve, not by fₑ alone (which can coincide at this batch resolution). IN PLAIN TERMS — how the four curves are actually built: at every step we remove a batch of nodes and re-measure how large the surviving connected core is. Random failure just shuffles every node and removes them in that random order. The degree attack ranks every node by degree once, right at the start, and removes them highest-first in that fixed order. The sequential/adaptive version does the same thing but re-ranks the remaining nodes by degree after every single batch removed — so if knocking out the biggest hub promotes some other node into becoming the new top hub, that node gets targeted immediately, exactly what a real, observant attacker would do. The betweenness attack repeats the same idea, ranking by 'how much of a bridge' a node is instead of its raw contact count. IN PLAIN TERMS — what the Molloy-Reed number really measures: it is a statement about how uneven the degree distribution is. The more that a handful of nodes dominate the total connectivity, the more random removals the network can absorb before falling apart — but that exact same unevenness is what a targeted attack exploits, by picking off precisely those few dominant nodes first. Robust-yet-fragile and 'uneven degree distribution' are really two descriptions of the same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lectures show that, at fixed average degree, the critical threshold is maximised by maximising the degree variance — the optimal configuration is bimodal: one giant super-hub plus everyone else at the minimum degree. We reproduced that construction from the professor's robustness lab code and compared it directly against Enron at the same average degree. IF ASKED whether this is realistic: no — it is a theoretical benchmark showing that resilience is a design choice, not something that costs more links; a real email network could never look like this because it has no mechanism to enforce such an extreme degree sequence, but the comparison isolates exactly how much of Enron's fragility comes from its particular degree distribution. IN PLAIN TERMS: at a fixed average number of connections per node, the trick is to make the degree distribution as lopsided as possible — pile almost all the 'spare' connections onto a single giant hub, while still giving every other node a guaranteed minimum number of connections to each other. That guaranteed minimum is the key: even if the one super-hub were removed, the rest of the network already has just enough connectivity among itself to stay largely in one piece — which is why this construction tolerates heavy removal under both random and targeted attacks, without adding a single extra link compared to Enron's own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Putting every index together: Enron is heavy-tailed with a finite cutoff, small-world, strongly clustered, organised into clear communities, disassortative, and robust-yet-fragile. No single textbook null model reproduces all of these at once — that combination is exactly the signature of a real human communication network, not a synthetic one. IF ASKED about limitations: the graph is symmetrised so we lose sender/recipient direction; betweenness, diameter and path length are sampled or approximated for computational cost on 33,000+ nodes; and our null models are only matched on N and average degree, not on higher-order structure. IF ASKED about domain sense: the hubs plausibly correspond to shared mailboxes or managers, and the communities to departments or teams — consistent with both the high clustering and the modularity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(only if time / if asked ‘did you do anything beyond what was required’): four extensions. Shapley centrality from cooperative game theory — the professor's Game 1 from Michalak et al., a coverage game with an exact closed form, only moderately correlated with degree so it is a genuinely different way to rank nodes. SI spreading plus five immunisation strategies — the defensive mirror of the attack analysis: vaccinating just 10% of the highest-degree nodes collapses reachability from 85% to 14%, while random vaccination barely moves it. Spectral graph embeddings feeding a classifier that recovers Louvain communities with 90% accuracy. And conformal prediction wrapped around that classifier, giving calibrated 90% prediction sets with 90.5% empirical coverage. IF ASKED about the SI threshold: 1/lambda_max is the SIS/SIR spectral threshold, used here only as a reference scale for beta — SI itself has no true threshold on a finite connected graph, everyone is eventually infected, so we compare spreading SPEED, not a threshold. IF ASKED about the embedding classifier: labels are Louvain communities from the same graph and the embedding is transductive, so this is a representation-quality probe, not a claim about generalising to unseen nodes; conformal coverage is reported as empirical evidence on that split, not a strong guarantee, because graph nodes are not i.i.d. IN PLAIN TERMS, one mechanism at a time: Shapley centrality gives every node a score for 'how much unique territory' it covers — itself plus its neighbours — counting a poorly-connected neighbour for more than a well-connected one, since a poorly-connected neighbour depends more on this particular node to be reached; it is a genuinely different question from 'how many contacts do you have'. The SI worm simulation just lets an infection hop from an infected node to each of its healthy neighbours with some fixed chance at every tick of a clock, repeated and averaged over many runs; immunisation is the mirror image — removing nodes before the epidemic starts instead of after — and 'acquaintance' immunisation is a clever shortcut: pick a random node, then vaccinate one of ITS random neighbours instead of the node itself, which — without ever checking anyone's degree — still tends to catch better-connected people, thanks to the same 'your contacts have more contacts than you do' effect from the assortativity slide. The graph embedding turns every node into a set of 32 coordinates chosen so that connected nodes land near each other in that coordinate space; a simple classifier is then trained to guess a node's community purely from its 32 coordinates. Conformal prediction takes that classifier and, instead of a single guess, returns a small set of plausible answers, sized so that on data never used for training the true answer falls inside the set about 90%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 happy to take questions on any of the numbers, and the appendix slide right after this one has a full quick-reference sheet if you want to pull up a specific figure during the individual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functional backup for the individual Q&amp;A discussion — every core number from the required scaletta in one place. Not meant to be presented; pull it up only if a specific figure is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0E3D"/>
        </a:solidFill>
      </p:bgPr>
    </p:bg>
    <p:spTree>
      <p:nvGrpSpPr>
        <p:cNvPr id="1" name=""/>
        <p:cNvGrpSpPr/>
        <p:nvPr/>
      </p:nvGrpSpPr>
      <p:grpSpPr>
        <a:xfrm>
          <a:off x="0" y="0"/>
          <a:ext cx="0" cy="0"/>
          <a:chOff x="0" y="0"/>
          <a:chExt cx="0" cy="0"/>
        </a:xfrm>
      </p:grpSpPr>
      <p:sp>
        <p:nvSpPr>
          <p:cNvPr id="2" name="Shape 0"/>
          <p:cNvSpPr/>
          <p:nvPr/>
        </p:nvSpPr>
        <p:spPr>
          <a:xfrm>
            <a:off x="9153144" y="3963010"/>
            <a:ext cx="1133856" cy="1020470"/>
          </a:xfrm>
          <a:prstGeom prst="line">
            <a:avLst/>
          </a:prstGeom>
          <a:noFill/>
          <a:ln w="12700">
            <a:solidFill>
              <a:srgbClr val="CFC9E4"/>
            </a:solidFill>
            <a:prstDash val="solid"/>
          </a:ln>
        </p:spPr>
      </p:sp>
      <p:sp>
        <p:nvSpPr>
          <p:cNvPr id="3" name="Shape 1"/>
          <p:cNvSpPr/>
          <p:nvPr/>
        </p:nvSpPr>
        <p:spPr>
          <a:xfrm flipV="1">
            <a:off x="10287000" y="3849624"/>
            <a:ext cx="1077163" cy="1133856"/>
          </a:xfrm>
          <a:prstGeom prst="line">
            <a:avLst/>
          </a:prstGeom>
          <a:noFill/>
          <a:ln w="12700">
            <a:solidFill>
              <a:srgbClr val="CFC9E4"/>
            </a:solidFill>
            <a:prstDash val="solid"/>
          </a:ln>
        </p:spPr>
      </p:sp>
      <p:sp>
        <p:nvSpPr>
          <p:cNvPr id="4" name="Shape 2"/>
          <p:cNvSpPr/>
          <p:nvPr/>
        </p:nvSpPr>
        <p:spPr>
          <a:xfrm flipV="1">
            <a:off x="9096451" y="4983480"/>
            <a:ext cx="1190549" cy="1077163"/>
          </a:xfrm>
          <a:prstGeom prst="line">
            <a:avLst/>
          </a:prstGeom>
          <a:noFill/>
          <a:ln w="12700">
            <a:solidFill>
              <a:srgbClr val="CFC9E4"/>
            </a:solidFill>
            <a:prstDash val="solid"/>
          </a:ln>
        </p:spPr>
      </p:sp>
      <p:sp>
        <p:nvSpPr>
          <p:cNvPr id="5" name="Shape 3"/>
          <p:cNvSpPr/>
          <p:nvPr/>
        </p:nvSpPr>
        <p:spPr>
          <a:xfrm>
            <a:off x="10287000" y="4983480"/>
            <a:ext cx="1133856" cy="1020470"/>
          </a:xfrm>
          <a:prstGeom prst="line">
            <a:avLst/>
          </a:prstGeom>
          <a:noFill/>
          <a:ln w="12700">
            <a:solidFill>
              <a:srgbClr val="CFC9E4"/>
            </a:solidFill>
            <a:prstDash val="solid"/>
          </a:ln>
        </p:spPr>
      </p:sp>
      <p:sp>
        <p:nvSpPr>
          <p:cNvPr id="6" name="Shape 4"/>
          <p:cNvSpPr/>
          <p:nvPr/>
        </p:nvSpPr>
        <p:spPr>
          <a:xfrm>
            <a:off x="8932042" y="3741908"/>
            <a:ext cx="442204" cy="442204"/>
          </a:xfrm>
          <a:prstGeom prst="ellipse">
            <a:avLst/>
          </a:prstGeom>
          <a:solidFill>
            <a:srgbClr val="0091FF"/>
          </a:solidFill>
          <a:ln/>
        </p:spPr>
      </p:sp>
      <p:sp>
        <p:nvSpPr>
          <p:cNvPr id="7" name="Shape 5"/>
          <p:cNvSpPr/>
          <p:nvPr/>
        </p:nvSpPr>
        <p:spPr>
          <a:xfrm>
            <a:off x="11194085" y="3679546"/>
            <a:ext cx="340157" cy="340157"/>
          </a:xfrm>
          <a:prstGeom prst="ellipse">
            <a:avLst/>
          </a:prstGeom>
          <a:solidFill>
            <a:srgbClr val="FFB800"/>
          </a:solidFill>
          <a:ln/>
        </p:spPr>
      </p:sp>
      <p:sp>
        <p:nvSpPr>
          <p:cNvPr id="8" name="Shape 6"/>
          <p:cNvSpPr/>
          <p:nvPr/>
        </p:nvSpPr>
        <p:spPr>
          <a:xfrm>
            <a:off x="8926373" y="5890565"/>
            <a:ext cx="340157" cy="340157"/>
          </a:xfrm>
          <a:prstGeom prst="ellipse">
            <a:avLst/>
          </a:prstGeom>
          <a:solidFill>
            <a:srgbClr val="FF1F71"/>
          </a:solidFill>
          <a:ln/>
        </p:spPr>
      </p:sp>
      <p:sp>
        <p:nvSpPr>
          <p:cNvPr id="9" name="Shape 7"/>
          <p:cNvSpPr/>
          <p:nvPr/>
        </p:nvSpPr>
        <p:spPr>
          <a:xfrm>
            <a:off x="11199754" y="5782848"/>
            <a:ext cx="442204" cy="442204"/>
          </a:xfrm>
          <a:prstGeom prst="ellipse">
            <a:avLst/>
          </a:prstGeom>
          <a:solidFill>
            <a:srgbClr val="0091FF"/>
          </a:solidFill>
          <a:ln/>
        </p:spPr>
      </p:sp>
      <p:sp>
        <p:nvSpPr>
          <p:cNvPr id="10" name="Shape 8"/>
          <p:cNvSpPr/>
          <p:nvPr/>
        </p:nvSpPr>
        <p:spPr>
          <a:xfrm>
            <a:off x="9961016" y="4657496"/>
            <a:ext cx="651967" cy="651967"/>
          </a:xfrm>
          <a:prstGeom prst="ellipse">
            <a:avLst/>
          </a:prstGeom>
          <a:solidFill>
            <a:srgbClr val="1B0E3D"/>
          </a:solidFill>
          <a:ln w="19050">
            <a:solidFill>
              <a:srgbClr val="FFFFFF"/>
            </a:solidFill>
            <a:prstDash val="solid"/>
          </a:ln>
        </p:spPr>
      </p:sp>
      <p:sp>
        <p:nvSpPr>
          <p:cNvPr id="11" name="Shape 9"/>
          <p:cNvSpPr/>
          <p:nvPr/>
        </p:nvSpPr>
        <p:spPr>
          <a:xfrm>
            <a:off x="10725912" y="1080821"/>
            <a:ext cx="475488" cy="427939"/>
          </a:xfrm>
          <a:prstGeom prst="line">
            <a:avLst/>
          </a:prstGeom>
          <a:noFill/>
          <a:ln w="12700">
            <a:solidFill>
              <a:srgbClr val="CFC9E4"/>
            </a:solidFill>
            <a:prstDash val="solid"/>
          </a:ln>
        </p:spPr>
      </p:sp>
      <p:sp>
        <p:nvSpPr>
          <p:cNvPr id="12" name="Shape 10"/>
          <p:cNvSpPr/>
          <p:nvPr/>
        </p:nvSpPr>
        <p:spPr>
          <a:xfrm flipV="1">
            <a:off x="11201400" y="1033272"/>
            <a:ext cx="451714" cy="475488"/>
          </a:xfrm>
          <a:prstGeom prst="line">
            <a:avLst/>
          </a:prstGeom>
          <a:noFill/>
          <a:ln w="12700">
            <a:solidFill>
              <a:srgbClr val="CFC9E4"/>
            </a:solidFill>
            <a:prstDash val="solid"/>
          </a:ln>
        </p:spPr>
      </p:sp>
      <p:sp>
        <p:nvSpPr>
          <p:cNvPr id="13" name="Shape 11"/>
          <p:cNvSpPr/>
          <p:nvPr/>
        </p:nvSpPr>
        <p:spPr>
          <a:xfrm flipV="1">
            <a:off x="10702138" y="1508760"/>
            <a:ext cx="499262" cy="451714"/>
          </a:xfrm>
          <a:prstGeom prst="line">
            <a:avLst/>
          </a:prstGeom>
          <a:noFill/>
          <a:ln w="12700">
            <a:solidFill>
              <a:srgbClr val="CFC9E4"/>
            </a:solidFill>
            <a:prstDash val="solid"/>
          </a:ln>
        </p:spPr>
      </p:sp>
      <p:sp>
        <p:nvSpPr>
          <p:cNvPr id="14" name="Shape 12"/>
          <p:cNvSpPr/>
          <p:nvPr/>
        </p:nvSpPr>
        <p:spPr>
          <a:xfrm>
            <a:off x="11201400" y="1508760"/>
            <a:ext cx="475488" cy="427939"/>
          </a:xfrm>
          <a:prstGeom prst="line">
            <a:avLst/>
          </a:prstGeom>
          <a:noFill/>
          <a:ln w="12700">
            <a:solidFill>
              <a:srgbClr val="CFC9E4"/>
            </a:solidFill>
            <a:prstDash val="solid"/>
          </a:ln>
        </p:spPr>
      </p:sp>
      <p:sp>
        <p:nvSpPr>
          <p:cNvPr id="15" name="Shape 13"/>
          <p:cNvSpPr/>
          <p:nvPr/>
        </p:nvSpPr>
        <p:spPr>
          <a:xfrm>
            <a:off x="10633192" y="988101"/>
            <a:ext cx="185440" cy="185440"/>
          </a:xfrm>
          <a:prstGeom prst="ellipse">
            <a:avLst/>
          </a:prstGeom>
          <a:solidFill>
            <a:srgbClr val="FF1F71"/>
          </a:solidFill>
          <a:ln/>
        </p:spPr>
      </p:sp>
      <p:sp>
        <p:nvSpPr>
          <p:cNvPr id="16" name="Shape 14"/>
          <p:cNvSpPr/>
          <p:nvPr/>
        </p:nvSpPr>
        <p:spPr>
          <a:xfrm>
            <a:off x="11581790" y="961949"/>
            <a:ext cx="142646" cy="142646"/>
          </a:xfrm>
          <a:prstGeom prst="ellipse">
            <a:avLst/>
          </a:prstGeom>
          <a:solidFill>
            <a:srgbClr val="0091FF"/>
          </a:solidFill>
          <a:ln/>
        </p:spPr>
      </p:sp>
      <p:sp>
        <p:nvSpPr>
          <p:cNvPr id="17" name="Shape 15"/>
          <p:cNvSpPr/>
          <p:nvPr/>
        </p:nvSpPr>
        <p:spPr>
          <a:xfrm>
            <a:off x="10630814" y="1889150"/>
            <a:ext cx="142646" cy="142646"/>
          </a:xfrm>
          <a:prstGeom prst="ellipse">
            <a:avLst/>
          </a:prstGeom>
          <a:solidFill>
            <a:srgbClr val="FFB800"/>
          </a:solidFill>
          <a:ln/>
        </p:spPr>
      </p:sp>
      <p:sp>
        <p:nvSpPr>
          <p:cNvPr id="18" name="Shape 16"/>
          <p:cNvSpPr/>
          <p:nvPr/>
        </p:nvSpPr>
        <p:spPr>
          <a:xfrm>
            <a:off x="11584168" y="1843979"/>
            <a:ext cx="185440" cy="185440"/>
          </a:xfrm>
          <a:prstGeom prst="ellipse">
            <a:avLst/>
          </a:prstGeom>
          <a:solidFill>
            <a:srgbClr val="FF1F71"/>
          </a:solidFill>
          <a:ln/>
        </p:spPr>
      </p:sp>
      <p:sp>
        <p:nvSpPr>
          <p:cNvPr id="19" name="Shape 17"/>
          <p:cNvSpPr/>
          <p:nvPr/>
        </p:nvSpPr>
        <p:spPr>
          <a:xfrm>
            <a:off x="11064697" y="1372057"/>
            <a:ext cx="273406" cy="273406"/>
          </a:xfrm>
          <a:prstGeom prst="ellipse">
            <a:avLst/>
          </a:prstGeom>
          <a:solidFill>
            <a:srgbClr val="1B0E3D"/>
          </a:solidFill>
          <a:ln w="19050">
            <a:solidFill>
              <a:srgbClr val="FFFFFF"/>
            </a:solidFill>
            <a:prstDash val="solid"/>
          </a:ln>
        </p:spPr>
      </p:sp>
      <p:sp>
        <p:nvSpPr>
          <p:cNvPr id="20" name="Text 18"/>
          <p:cNvSpPr/>
          <p:nvPr/>
        </p:nvSpPr>
        <p:spPr>
          <a:xfrm>
            <a:off x="640080" y="1417320"/>
            <a:ext cx="8686800" cy="320040"/>
          </a:xfrm>
          <a:prstGeom prst="rect">
            <a:avLst/>
          </a:prstGeom>
          <a:noFill/>
          <a:ln/>
        </p:spPr>
        <p:txBody>
          <a:bodyPr wrap="square" lIns="0" tIns="0" rIns="0" bIns="0" rtlCol="0" anchor="ctr"/>
          <a:lstStyle/>
          <a:p>
            <a:pPr indent="0" marL="0">
              <a:buNone/>
            </a:pPr>
            <a:r>
              <a:rPr lang="en-US" sz="1300" b="1" spc="200" kern="0" dirty="0">
                <a:solidFill>
                  <a:srgbClr val="FFB800"/>
                </a:solidFill>
                <a:latin typeface="Cambria" pitchFamily="34" charset="0"/>
                <a:ea typeface="Cambria" pitchFamily="34" charset="-122"/>
                <a:cs typeface="Cambria" pitchFamily="34" charset="-120"/>
              </a:rPr>
              <a:t>COMPLEX NETWORK ANALYSIS  ·  MASTER IN CYBERSECURITY</a:t>
            </a:r>
            <a:endParaRPr lang="en-US" sz="1300" dirty="0"/>
          </a:p>
        </p:txBody>
      </p:sp>
      <p:sp>
        <p:nvSpPr>
          <p:cNvPr id="21" name="Text 19"/>
          <p:cNvSpPr/>
          <p:nvPr/>
        </p:nvSpPr>
        <p:spPr>
          <a:xfrm>
            <a:off x="640080" y="1828800"/>
            <a:ext cx="8869680" cy="13716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The Enron Email Network</a:t>
            </a:r>
            <a:endParaRPr lang="en-US" sz="4800" dirty="0"/>
          </a:p>
        </p:txBody>
      </p:sp>
      <p:sp>
        <p:nvSpPr>
          <p:cNvPr id="22" name="Text 20"/>
          <p:cNvSpPr/>
          <p:nvPr/>
        </p:nvSpPr>
        <p:spPr>
          <a:xfrm>
            <a:off x="640080" y="3063240"/>
            <a:ext cx="8412480" cy="548640"/>
          </a:xfrm>
          <a:prstGeom prst="rect">
            <a:avLst/>
          </a:prstGeom>
          <a:noFill/>
          <a:ln/>
        </p:spPr>
        <p:txBody>
          <a:bodyPr wrap="square" lIns="0" tIns="0" rIns="0" bIns="0" rtlCol="0" anchor="ctr"/>
          <a:lstStyle/>
          <a:p>
            <a:pPr indent="0" marL="0">
              <a:buNone/>
            </a:pPr>
            <a:r>
              <a:rPr lang="en-US" sz="1900" i="1" dirty="0">
                <a:solidFill>
                  <a:srgbClr val="D8CFFF"/>
                </a:solidFill>
                <a:latin typeface="Cambria" pitchFamily="34" charset="0"/>
                <a:ea typeface="Cambria" pitchFamily="34" charset="-122"/>
                <a:cs typeface="Cambria" pitchFamily="34" charset="-120"/>
              </a:rPr>
              <a:t>A Complex Network Analysis of Corporate Communication</a:t>
            </a:r>
            <a:endParaRPr lang="en-US" sz="1900" dirty="0"/>
          </a:p>
        </p:txBody>
      </p:sp>
      <p:sp>
        <p:nvSpPr>
          <p:cNvPr id="23" name="Shape 21"/>
          <p:cNvSpPr/>
          <p:nvPr/>
        </p:nvSpPr>
        <p:spPr>
          <a:xfrm>
            <a:off x="658368" y="3886200"/>
            <a:ext cx="914" cy="914"/>
          </a:xfrm>
          <a:prstGeom prst="line">
            <a:avLst/>
          </a:prstGeom>
          <a:noFill/>
          <a:ln/>
        </p:spPr>
      </p:sp>
      <p:sp>
        <p:nvSpPr>
          <p:cNvPr id="24" name="Text 22"/>
          <p:cNvSpPr/>
          <p:nvPr/>
        </p:nvSpPr>
        <p:spPr>
          <a:xfrm>
            <a:off x="640080" y="4160520"/>
            <a:ext cx="7772400" cy="365760"/>
          </a:xfrm>
          <a:prstGeom prst="rect">
            <a:avLst/>
          </a:prstGeom>
          <a:noFill/>
          <a:ln/>
        </p:spPr>
        <p:txBody>
          <a:bodyPr wrap="square" lIns="0" tIns="0" rIns="0" bIns="0" rtlCol="0" anchor="ctr"/>
          <a:lstStyle/>
          <a:p>
            <a:pPr indent="0" marL="0">
              <a:buNone/>
            </a:pPr>
            <a:r>
              <a:rPr lang="en-US" sz="1350" b="1" dirty="0">
                <a:solidFill>
                  <a:srgbClr val="FFB800"/>
                </a:solidFill>
                <a:latin typeface="Cambria" pitchFamily="34" charset="0"/>
                <a:ea typeface="Cambria" pitchFamily="34" charset="-122"/>
                <a:cs typeface="Cambria" pitchFamily="34" charset="-120"/>
              </a:rPr>
              <a:t>Dataset:  </a:t>
            </a:r>
            <a:pPr indent="0" marL="0">
              <a:buNone/>
            </a:pPr>
            <a:r>
              <a:rPr lang="en-US" sz="1350" dirty="0">
                <a:solidFill>
                  <a:srgbClr val="E8E3F7"/>
                </a:solidFill>
                <a:latin typeface="Cambria" pitchFamily="34" charset="0"/>
                <a:ea typeface="Cambria" pitchFamily="34" charset="-122"/>
                <a:cs typeface="Cambria" pitchFamily="34" charset="-120"/>
              </a:rPr>
              <a:t>SNAP email-Enron   ·   36,692 nodes   ·   183,831 edges</a:t>
            </a:r>
            <a:endParaRPr lang="en-US" sz="1350" dirty="0"/>
          </a:p>
        </p:txBody>
      </p:sp>
      <p:sp>
        <p:nvSpPr>
          <p:cNvPr id="25" name="Text 23"/>
          <p:cNvSpPr/>
          <p:nvPr/>
        </p:nvSpPr>
        <p:spPr>
          <a:xfrm>
            <a:off x="640080" y="4526280"/>
            <a:ext cx="7772400" cy="365760"/>
          </a:xfrm>
          <a:prstGeom prst="rect">
            <a:avLst/>
          </a:prstGeom>
          <a:noFill/>
          <a:ln/>
        </p:spPr>
        <p:txBody>
          <a:bodyPr wrap="square" lIns="0" tIns="0" rIns="0" bIns="0" rtlCol="0" anchor="ctr"/>
          <a:lstStyle/>
          <a:p>
            <a:pPr indent="0" marL="0">
              <a:buNone/>
            </a:pPr>
            <a:r>
              <a:rPr lang="en-US" sz="1200" i="1" dirty="0">
                <a:solidFill>
                  <a:srgbClr val="9B8FC9"/>
                </a:solidFill>
                <a:latin typeface="Cambria" pitchFamily="34" charset="0"/>
                <a:ea typeface="Cambria" pitchFamily="34" charset="-122"/>
                <a:cs typeface="Cambria" pitchFamily="34" charset="-120"/>
              </a:rPr>
              <a:t>Undirected communication network released during the FERC investigation</a:t>
            </a:r>
            <a:endParaRPr lang="en-US" sz="1200" dirty="0"/>
          </a:p>
        </p:txBody>
      </p:sp>
      <p:sp>
        <p:nvSpPr>
          <p:cNvPr id="26" name="Text 24"/>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9B8FC9"/>
                </a:solidFill>
                <a:latin typeface="Cambria" pitchFamily="34" charset="0"/>
                <a:ea typeface="Cambria" pitchFamily="34" charset="-122"/>
                <a:cs typeface="Cambria" pitchFamily="34" charset="-120"/>
              </a:rPr>
              <a:t>1 / 16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50" b="1" spc="200" kern="0" dirty="0">
                <a:solidFill>
                  <a:srgbClr val="0091FF"/>
                </a:solidFill>
                <a:latin typeface="Cambria" pitchFamily="34" charset="0"/>
                <a:ea typeface="Cambria" pitchFamily="34" charset="-122"/>
                <a:cs typeface="Cambria" pitchFamily="34" charset="-120"/>
              </a:rPr>
              <a:t>OVERVIEW</a:t>
            </a:r>
            <a:endParaRPr lang="en-US" sz="125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buNone/>
            </a:pPr>
            <a:r>
              <a:rPr lang="en-US" sz="3000" b="1" dirty="0">
                <a:solidFill>
                  <a:srgbClr val="1B0E3D"/>
                </a:solidFill>
                <a:latin typeface="Cambria" pitchFamily="34" charset="0"/>
                <a:ea typeface="Cambria" pitchFamily="34" charset="-122"/>
                <a:cs typeface="Cambria" pitchFamily="34" charset="-120"/>
              </a:rPr>
              <a:t>Roadmap</a:t>
            </a:r>
            <a:endParaRPr lang="en-US" sz="3000" dirty="0"/>
          </a:p>
        </p:txBody>
      </p:sp>
      <p:sp>
        <p:nvSpPr>
          <p:cNvPr id="4" name="Shape 2"/>
          <p:cNvSpPr/>
          <p:nvPr/>
        </p:nvSpPr>
        <p:spPr>
          <a:xfrm>
            <a:off x="11034979" y="492862"/>
            <a:ext cx="310896" cy="279806"/>
          </a:xfrm>
          <a:prstGeom prst="line">
            <a:avLst/>
          </a:prstGeom>
          <a:noFill/>
          <a:ln w="12700">
            <a:solidFill>
              <a:srgbClr val="CFC9E4"/>
            </a:solidFill>
            <a:prstDash val="solid"/>
          </a:ln>
        </p:spPr>
      </p:sp>
      <p:sp>
        <p:nvSpPr>
          <p:cNvPr id="5" name="Shape 3"/>
          <p:cNvSpPr/>
          <p:nvPr/>
        </p:nvSpPr>
        <p:spPr>
          <a:xfrm flipV="1">
            <a:off x="11345875" y="461772"/>
            <a:ext cx="295351" cy="310896"/>
          </a:xfrm>
          <a:prstGeom prst="line">
            <a:avLst/>
          </a:prstGeom>
          <a:noFill/>
          <a:ln w="12700">
            <a:solidFill>
              <a:srgbClr val="CFC9E4"/>
            </a:solidFill>
            <a:prstDash val="solid"/>
          </a:ln>
        </p:spPr>
      </p:sp>
      <p:sp>
        <p:nvSpPr>
          <p:cNvPr id="6" name="Shape 4"/>
          <p:cNvSpPr/>
          <p:nvPr/>
        </p:nvSpPr>
        <p:spPr>
          <a:xfrm flipV="1">
            <a:off x="11019434" y="772668"/>
            <a:ext cx="326441" cy="295351"/>
          </a:xfrm>
          <a:prstGeom prst="line">
            <a:avLst/>
          </a:prstGeom>
          <a:noFill/>
          <a:ln w="12700">
            <a:solidFill>
              <a:srgbClr val="CFC9E4"/>
            </a:solidFill>
            <a:prstDash val="solid"/>
          </a:ln>
        </p:spPr>
      </p:sp>
      <p:sp>
        <p:nvSpPr>
          <p:cNvPr id="7" name="Shape 5"/>
          <p:cNvSpPr/>
          <p:nvPr/>
        </p:nvSpPr>
        <p:spPr>
          <a:xfrm>
            <a:off x="11345875" y="772668"/>
            <a:ext cx="310896" cy="279806"/>
          </a:xfrm>
          <a:prstGeom prst="line">
            <a:avLst/>
          </a:prstGeom>
          <a:noFill/>
          <a:ln w="12700">
            <a:solidFill>
              <a:srgbClr val="CFC9E4"/>
            </a:solidFill>
            <a:prstDash val="solid"/>
          </a:ln>
        </p:spPr>
      </p:sp>
      <p:sp>
        <p:nvSpPr>
          <p:cNvPr id="8" name="Shape 6"/>
          <p:cNvSpPr/>
          <p:nvPr/>
        </p:nvSpPr>
        <p:spPr>
          <a:xfrm>
            <a:off x="10974354" y="432237"/>
            <a:ext cx="121249" cy="121249"/>
          </a:xfrm>
          <a:prstGeom prst="ellipse">
            <a:avLst/>
          </a:prstGeom>
          <a:solidFill>
            <a:srgbClr val="0091FF"/>
          </a:solidFill>
          <a:ln/>
        </p:spPr>
      </p:sp>
      <p:sp>
        <p:nvSpPr>
          <p:cNvPr id="9" name="Shape 7"/>
          <p:cNvSpPr/>
          <p:nvPr/>
        </p:nvSpPr>
        <p:spPr>
          <a:xfrm>
            <a:off x="11594592" y="415138"/>
            <a:ext cx="93269" cy="93269"/>
          </a:xfrm>
          <a:prstGeom prst="ellipse">
            <a:avLst/>
          </a:prstGeom>
          <a:solidFill>
            <a:srgbClr val="FFB800"/>
          </a:solidFill>
          <a:ln/>
        </p:spPr>
      </p:sp>
      <p:sp>
        <p:nvSpPr>
          <p:cNvPr id="10" name="Shape 8"/>
          <p:cNvSpPr/>
          <p:nvPr/>
        </p:nvSpPr>
        <p:spPr>
          <a:xfrm>
            <a:off x="10972800" y="1021385"/>
            <a:ext cx="93269" cy="93269"/>
          </a:xfrm>
          <a:prstGeom prst="ellipse">
            <a:avLst/>
          </a:prstGeom>
          <a:solidFill>
            <a:srgbClr val="FF1F71"/>
          </a:solidFill>
          <a:ln/>
        </p:spPr>
      </p:sp>
      <p:sp>
        <p:nvSpPr>
          <p:cNvPr id="11" name="Shape 9"/>
          <p:cNvSpPr/>
          <p:nvPr/>
        </p:nvSpPr>
        <p:spPr>
          <a:xfrm>
            <a:off x="11596146" y="991850"/>
            <a:ext cx="121249" cy="121249"/>
          </a:xfrm>
          <a:prstGeom prst="ellipse">
            <a:avLst/>
          </a:prstGeom>
          <a:solidFill>
            <a:srgbClr val="0091FF"/>
          </a:solidFill>
          <a:ln/>
        </p:spPr>
      </p:sp>
      <p:sp>
        <p:nvSpPr>
          <p:cNvPr id="12" name="Shape 10"/>
          <p:cNvSpPr/>
          <p:nvPr/>
        </p:nvSpPr>
        <p:spPr>
          <a:xfrm>
            <a:off x="11256493" y="683285"/>
            <a:ext cx="178765" cy="178765"/>
          </a:xfrm>
          <a:prstGeom prst="ellipse">
            <a:avLst/>
          </a:prstGeom>
          <a:solidFill>
            <a:srgbClr val="1B0E3D"/>
          </a:solidFill>
          <a:ln w="19050">
            <a:solidFill>
              <a:srgbClr val="FFFFFF"/>
            </a:solidFill>
            <a:prstDash val="solid"/>
          </a:ln>
        </p:spPr>
      </p:sp>
      <p:sp>
        <p:nvSpPr>
          <p:cNvPr id="13" name="Shape 11"/>
          <p:cNvSpPr/>
          <p:nvPr/>
        </p:nvSpPr>
        <p:spPr>
          <a:xfrm>
            <a:off x="952282" y="2674620"/>
            <a:ext cx="777240" cy="777240"/>
          </a:xfrm>
          <a:prstGeom prst="ellipse">
            <a:avLst/>
          </a:prstGeom>
          <a:solidFill>
            <a:srgbClr val="FFFFFF"/>
          </a:solidFill>
          <a:ln w="28575">
            <a:solidFill>
              <a:srgbClr val="0091FF"/>
            </a:solidFill>
            <a:prstDash val="solid"/>
          </a:ln>
          <a:effectLst>
            <a:outerShdw sx="100000" sy="100000" kx="0" ky="0" algn="bl" rotWithShape="0" blurRad="101600" dist="38100" dir="5400000">
              <a:srgbClr val="000000">
                <a:alpha val="14000"/>
              </a:srgbClr>
            </a:outerShdw>
          </a:effectLst>
        </p:spPr>
      </p:sp>
      <p:sp>
        <p:nvSpPr>
          <p:cNvPr id="14" name="Text 12"/>
          <p:cNvSpPr/>
          <p:nvPr/>
        </p:nvSpPr>
        <p:spPr>
          <a:xfrm>
            <a:off x="952282" y="2674620"/>
            <a:ext cx="777240" cy="777240"/>
          </a:xfrm>
          <a:prstGeom prst="rect">
            <a:avLst/>
          </a:prstGeom>
          <a:noFill/>
          <a:ln/>
        </p:spPr>
        <p:txBody>
          <a:bodyPr wrap="square" lIns="0" tIns="0" rIns="0" bIns="0" rtlCol="0" anchor="ctr"/>
          <a:lstStyle/>
          <a:p>
            <a:pPr algn="ctr" indent="0" marL="0">
              <a:buNone/>
            </a:pPr>
            <a:r>
              <a:rPr lang="en-US" sz="2500" b="1" dirty="0">
                <a:solidFill>
                  <a:srgbClr val="0091FF"/>
                </a:solidFill>
                <a:latin typeface="Cambria" pitchFamily="34" charset="0"/>
                <a:ea typeface="Cambria" pitchFamily="34" charset="-122"/>
                <a:cs typeface="Cambria" pitchFamily="34" charset="-120"/>
              </a:rPr>
              <a:t>1</a:t>
            </a:r>
            <a:endParaRPr lang="en-US" sz="2500" dirty="0"/>
          </a:p>
        </p:txBody>
      </p:sp>
      <p:sp>
        <p:nvSpPr>
          <p:cNvPr id="15" name="Text 13"/>
          <p:cNvSpPr/>
          <p:nvPr/>
        </p:nvSpPr>
        <p:spPr>
          <a:xfrm>
            <a:off x="621792" y="3589020"/>
            <a:ext cx="1438221" cy="868680"/>
          </a:xfrm>
          <a:prstGeom prst="rect">
            <a:avLst/>
          </a:prstGeom>
          <a:noFill/>
          <a:ln/>
        </p:spPr>
        <p:txBody>
          <a:bodyPr wrap="square" lIns="0" tIns="0" rIns="0" bIns="0" rtlCol="0" anchor="t"/>
          <a:lstStyle/>
          <a:p>
            <a:pPr algn="ctr" indent="0" marL="0">
              <a:lnSpc>
                <a:spcPct val="103000"/>
              </a:lnSpc>
              <a:buNone/>
            </a:pPr>
            <a:r>
              <a:rPr lang="en-US" sz="1100" dirty="0">
                <a:solidFill>
                  <a:srgbClr val="1B0E3D"/>
                </a:solidFill>
                <a:latin typeface="Cambria" pitchFamily="34" charset="0"/>
                <a:ea typeface="Cambria" pitchFamily="34" charset="-122"/>
                <a:cs typeface="Cambria" pitchFamily="34" charset="-120"/>
              </a:rPr>
              <a:t>Dataset &amp;</a:t>
            </a:r>
            <a:endParaRPr lang="en-US" sz="1100" dirty="0"/>
          </a:p>
          <a:p>
            <a:pPr algn="ctr" indent="0" marL="0">
              <a:lnSpc>
                <a:spcPct val="103000"/>
              </a:lnSpc>
              <a:buNone/>
            </a:pPr>
            <a:r>
              <a:rPr lang="en-US" sz="1100" dirty="0">
                <a:solidFill>
                  <a:srgbClr val="1B0E3D"/>
                </a:solidFill>
                <a:latin typeface="Cambria" pitchFamily="34" charset="0"/>
                <a:ea typeface="Cambria" pitchFamily="34" charset="-122"/>
                <a:cs typeface="Cambria" pitchFamily="34" charset="-120"/>
              </a:rPr>
              <a:t>Structure</a:t>
            </a:r>
            <a:endParaRPr lang="en-US" sz="1100" dirty="0"/>
          </a:p>
        </p:txBody>
      </p:sp>
      <p:sp>
        <p:nvSpPr>
          <p:cNvPr id="16" name="Shape 14"/>
          <p:cNvSpPr/>
          <p:nvPr/>
        </p:nvSpPr>
        <p:spPr>
          <a:xfrm>
            <a:off x="2536807" y="2674620"/>
            <a:ext cx="777240" cy="777240"/>
          </a:xfrm>
          <a:prstGeom prst="ellipse">
            <a:avLst/>
          </a:prstGeom>
          <a:solidFill>
            <a:srgbClr val="FFFFFF"/>
          </a:solidFill>
          <a:ln w="28575">
            <a:solidFill>
              <a:srgbClr val="FFB800"/>
            </a:solidFill>
            <a:prstDash val="solid"/>
          </a:ln>
          <a:effectLst>
            <a:outerShdw sx="100000" sy="100000" kx="0" ky="0" algn="bl" rotWithShape="0" blurRad="101600" dist="38100" dir="5400000">
              <a:srgbClr val="000000">
                <a:alpha val="14000"/>
              </a:srgbClr>
            </a:outerShdw>
          </a:effectLst>
        </p:spPr>
      </p:sp>
      <p:sp>
        <p:nvSpPr>
          <p:cNvPr id="17" name="Text 15"/>
          <p:cNvSpPr/>
          <p:nvPr/>
        </p:nvSpPr>
        <p:spPr>
          <a:xfrm>
            <a:off x="2536807" y="2674620"/>
            <a:ext cx="777240" cy="777240"/>
          </a:xfrm>
          <a:prstGeom prst="rect">
            <a:avLst/>
          </a:prstGeom>
          <a:noFill/>
          <a:ln/>
        </p:spPr>
        <p:txBody>
          <a:bodyPr wrap="square" lIns="0" tIns="0" rIns="0" bIns="0" rtlCol="0" anchor="ctr"/>
          <a:lstStyle/>
          <a:p>
            <a:pPr algn="ctr" indent="0" marL="0">
              <a:buNone/>
            </a:pPr>
            <a:r>
              <a:rPr lang="en-US" sz="2500" b="1" dirty="0">
                <a:solidFill>
                  <a:srgbClr val="FFB800"/>
                </a:solidFill>
                <a:latin typeface="Cambria" pitchFamily="34" charset="0"/>
                <a:ea typeface="Cambria" pitchFamily="34" charset="-122"/>
                <a:cs typeface="Cambria" pitchFamily="34" charset="-120"/>
              </a:rPr>
              <a:t>2</a:t>
            </a:r>
            <a:endParaRPr lang="en-US" sz="2500" dirty="0"/>
          </a:p>
        </p:txBody>
      </p:sp>
      <p:sp>
        <p:nvSpPr>
          <p:cNvPr id="18" name="Text 16"/>
          <p:cNvSpPr/>
          <p:nvPr/>
        </p:nvSpPr>
        <p:spPr>
          <a:xfrm>
            <a:off x="2206317" y="3589020"/>
            <a:ext cx="1438221" cy="868680"/>
          </a:xfrm>
          <a:prstGeom prst="rect">
            <a:avLst/>
          </a:prstGeom>
          <a:noFill/>
          <a:ln/>
        </p:spPr>
        <p:txBody>
          <a:bodyPr wrap="square" lIns="0" tIns="0" rIns="0" bIns="0" rtlCol="0" anchor="t"/>
          <a:lstStyle/>
          <a:p>
            <a:pPr algn="ctr" indent="0" marL="0">
              <a:lnSpc>
                <a:spcPct val="103000"/>
              </a:lnSpc>
              <a:buNone/>
            </a:pPr>
            <a:r>
              <a:rPr lang="en-US" sz="1100" dirty="0">
                <a:solidFill>
                  <a:srgbClr val="1B0E3D"/>
                </a:solidFill>
                <a:latin typeface="Cambria" pitchFamily="34" charset="0"/>
                <a:ea typeface="Cambria" pitchFamily="34" charset="-122"/>
                <a:cs typeface="Cambria" pitchFamily="34" charset="-120"/>
              </a:rPr>
              <a:t>Degree &amp;</a:t>
            </a:r>
            <a:endParaRPr lang="en-US" sz="1100" dirty="0"/>
          </a:p>
          <a:p>
            <a:pPr algn="ctr" indent="0" marL="0">
              <a:lnSpc>
                <a:spcPct val="103000"/>
              </a:lnSpc>
              <a:buNone/>
            </a:pPr>
            <a:r>
              <a:rPr lang="en-US" sz="1100" dirty="0">
                <a:solidFill>
                  <a:srgbClr val="1B0E3D"/>
                </a:solidFill>
                <a:latin typeface="Cambria" pitchFamily="34" charset="0"/>
                <a:ea typeface="Cambria" pitchFamily="34" charset="-122"/>
                <a:cs typeface="Cambria" pitchFamily="34" charset="-120"/>
              </a:rPr>
              <a:t>Hubs</a:t>
            </a:r>
            <a:endParaRPr lang="en-US" sz="1100" dirty="0"/>
          </a:p>
        </p:txBody>
      </p:sp>
      <p:sp>
        <p:nvSpPr>
          <p:cNvPr id="19" name="Shape 17"/>
          <p:cNvSpPr/>
          <p:nvPr/>
        </p:nvSpPr>
        <p:spPr>
          <a:xfrm>
            <a:off x="4121331" y="2674620"/>
            <a:ext cx="777240" cy="777240"/>
          </a:xfrm>
          <a:prstGeom prst="ellipse">
            <a:avLst/>
          </a:prstGeom>
          <a:solidFill>
            <a:srgbClr val="FFFFFF"/>
          </a:solidFill>
          <a:ln w="28575">
            <a:solidFill>
              <a:srgbClr val="FF1F71"/>
            </a:solidFill>
            <a:prstDash val="solid"/>
          </a:ln>
          <a:effectLst>
            <a:outerShdw sx="100000" sy="100000" kx="0" ky="0" algn="bl" rotWithShape="0" blurRad="101600" dist="38100" dir="5400000">
              <a:srgbClr val="000000">
                <a:alpha val="14000"/>
              </a:srgbClr>
            </a:outerShdw>
          </a:effectLst>
        </p:spPr>
      </p:sp>
      <p:sp>
        <p:nvSpPr>
          <p:cNvPr id="20" name="Text 18"/>
          <p:cNvSpPr/>
          <p:nvPr/>
        </p:nvSpPr>
        <p:spPr>
          <a:xfrm>
            <a:off x="4121331" y="2674620"/>
            <a:ext cx="777240" cy="777240"/>
          </a:xfrm>
          <a:prstGeom prst="rect">
            <a:avLst/>
          </a:prstGeom>
          <a:noFill/>
          <a:ln/>
        </p:spPr>
        <p:txBody>
          <a:bodyPr wrap="square" lIns="0" tIns="0" rIns="0" bIns="0" rtlCol="0" anchor="ctr"/>
          <a:lstStyle/>
          <a:p>
            <a:pPr algn="ctr" indent="0" marL="0">
              <a:buNone/>
            </a:pPr>
            <a:r>
              <a:rPr lang="en-US" sz="2500" b="1" dirty="0">
                <a:solidFill>
                  <a:srgbClr val="FF1F71"/>
                </a:solidFill>
                <a:latin typeface="Cambria" pitchFamily="34" charset="0"/>
                <a:ea typeface="Cambria" pitchFamily="34" charset="-122"/>
                <a:cs typeface="Cambria" pitchFamily="34" charset="-120"/>
              </a:rPr>
              <a:t>3</a:t>
            </a:r>
            <a:endParaRPr lang="en-US" sz="2500" dirty="0"/>
          </a:p>
        </p:txBody>
      </p:sp>
      <p:sp>
        <p:nvSpPr>
          <p:cNvPr id="21" name="Text 19"/>
          <p:cNvSpPr/>
          <p:nvPr/>
        </p:nvSpPr>
        <p:spPr>
          <a:xfrm>
            <a:off x="3790841" y="3589020"/>
            <a:ext cx="1438221" cy="868680"/>
          </a:xfrm>
          <a:prstGeom prst="rect">
            <a:avLst/>
          </a:prstGeom>
          <a:noFill/>
          <a:ln/>
        </p:spPr>
        <p:txBody>
          <a:bodyPr wrap="square" lIns="0" tIns="0" rIns="0" bIns="0" rtlCol="0" anchor="t"/>
          <a:lstStyle/>
          <a:p>
            <a:pPr algn="ctr" indent="0" marL="0">
              <a:lnSpc>
                <a:spcPct val="103000"/>
              </a:lnSpc>
              <a:buNone/>
            </a:pPr>
            <a:r>
              <a:rPr lang="en-US" sz="1100" dirty="0">
                <a:solidFill>
                  <a:srgbClr val="1B0E3D"/>
                </a:solidFill>
                <a:latin typeface="Cambria" pitchFamily="34" charset="0"/>
                <a:ea typeface="Cambria" pitchFamily="34" charset="-122"/>
                <a:cs typeface="Cambria" pitchFamily="34" charset="-120"/>
              </a:rPr>
              <a:t>Topology</a:t>
            </a:r>
            <a:endParaRPr lang="en-US" sz="1100" dirty="0"/>
          </a:p>
          <a:p>
            <a:pPr algn="ctr" indent="0" marL="0">
              <a:lnSpc>
                <a:spcPct val="103000"/>
              </a:lnSpc>
              <a:buNone/>
            </a:pPr>
            <a:r>
              <a:rPr lang="en-US" sz="1100" dirty="0">
                <a:solidFill>
                  <a:srgbClr val="1B0E3D"/>
                </a:solidFill>
                <a:latin typeface="Cambria" pitchFamily="34" charset="0"/>
                <a:ea typeface="Cambria" pitchFamily="34" charset="-122"/>
                <a:cs typeface="Cambria" pitchFamily="34" charset="-120"/>
              </a:rPr>
              <a:t>(clustering, paths, r)</a:t>
            </a:r>
            <a:endParaRPr lang="en-US" sz="1100" dirty="0"/>
          </a:p>
        </p:txBody>
      </p:sp>
      <p:sp>
        <p:nvSpPr>
          <p:cNvPr id="22" name="Shape 20"/>
          <p:cNvSpPr/>
          <p:nvPr/>
        </p:nvSpPr>
        <p:spPr>
          <a:xfrm>
            <a:off x="5705856" y="2674620"/>
            <a:ext cx="777240" cy="777240"/>
          </a:xfrm>
          <a:prstGeom prst="ellipse">
            <a:avLst/>
          </a:prstGeom>
          <a:solidFill>
            <a:srgbClr val="FFFFFF"/>
          </a:solidFill>
          <a:ln w="28575">
            <a:solidFill>
              <a:srgbClr val="0091FF"/>
            </a:solidFill>
            <a:prstDash val="solid"/>
          </a:ln>
          <a:effectLst>
            <a:outerShdw sx="100000" sy="100000" kx="0" ky="0" algn="bl" rotWithShape="0" blurRad="101600" dist="38100" dir="5400000">
              <a:srgbClr val="000000">
                <a:alpha val="14000"/>
              </a:srgbClr>
            </a:outerShdw>
          </a:effectLst>
        </p:spPr>
      </p:sp>
      <p:sp>
        <p:nvSpPr>
          <p:cNvPr id="23" name="Text 21"/>
          <p:cNvSpPr/>
          <p:nvPr/>
        </p:nvSpPr>
        <p:spPr>
          <a:xfrm>
            <a:off x="5705856" y="2674620"/>
            <a:ext cx="777240" cy="777240"/>
          </a:xfrm>
          <a:prstGeom prst="rect">
            <a:avLst/>
          </a:prstGeom>
          <a:noFill/>
          <a:ln/>
        </p:spPr>
        <p:txBody>
          <a:bodyPr wrap="square" lIns="0" tIns="0" rIns="0" bIns="0" rtlCol="0" anchor="ctr"/>
          <a:lstStyle/>
          <a:p>
            <a:pPr algn="ctr" indent="0" marL="0">
              <a:buNone/>
            </a:pPr>
            <a:r>
              <a:rPr lang="en-US" sz="2500" b="1" dirty="0">
                <a:solidFill>
                  <a:srgbClr val="0091FF"/>
                </a:solidFill>
                <a:latin typeface="Cambria" pitchFamily="34" charset="0"/>
                <a:ea typeface="Cambria" pitchFamily="34" charset="-122"/>
                <a:cs typeface="Cambria" pitchFamily="34" charset="-120"/>
              </a:rPr>
              <a:t>4</a:t>
            </a:r>
            <a:endParaRPr lang="en-US" sz="2500" dirty="0"/>
          </a:p>
        </p:txBody>
      </p:sp>
      <p:sp>
        <p:nvSpPr>
          <p:cNvPr id="24" name="Text 22"/>
          <p:cNvSpPr/>
          <p:nvPr/>
        </p:nvSpPr>
        <p:spPr>
          <a:xfrm>
            <a:off x="5375366" y="3589020"/>
            <a:ext cx="1438221" cy="868680"/>
          </a:xfrm>
          <a:prstGeom prst="rect">
            <a:avLst/>
          </a:prstGeom>
          <a:noFill/>
          <a:ln/>
        </p:spPr>
        <p:txBody>
          <a:bodyPr wrap="square" lIns="0" tIns="0" rIns="0" bIns="0" rtlCol="0" anchor="t"/>
          <a:lstStyle/>
          <a:p>
            <a:pPr algn="ctr" indent="0" marL="0">
              <a:lnSpc>
                <a:spcPct val="103000"/>
              </a:lnSpc>
              <a:buNone/>
            </a:pPr>
            <a:r>
              <a:rPr lang="en-US" sz="1100" dirty="0">
                <a:solidFill>
                  <a:srgbClr val="1B0E3D"/>
                </a:solidFill>
                <a:latin typeface="Cambria" pitchFamily="34" charset="0"/>
                <a:ea typeface="Cambria" pitchFamily="34" charset="-122"/>
                <a:cs typeface="Cambria" pitchFamily="34" charset="-120"/>
              </a:rPr>
              <a:t>Communities</a:t>
            </a:r>
            <a:endParaRPr lang="en-US" sz="1100" dirty="0"/>
          </a:p>
        </p:txBody>
      </p:sp>
      <p:sp>
        <p:nvSpPr>
          <p:cNvPr id="25" name="Shape 23"/>
          <p:cNvSpPr/>
          <p:nvPr/>
        </p:nvSpPr>
        <p:spPr>
          <a:xfrm>
            <a:off x="7290381" y="2674620"/>
            <a:ext cx="777240" cy="777240"/>
          </a:xfrm>
          <a:prstGeom prst="ellipse">
            <a:avLst/>
          </a:prstGeom>
          <a:solidFill>
            <a:srgbClr val="FFFFFF"/>
          </a:solidFill>
          <a:ln w="28575">
            <a:solidFill>
              <a:srgbClr val="FFB800"/>
            </a:solidFill>
            <a:prstDash val="solid"/>
          </a:ln>
          <a:effectLst>
            <a:outerShdw sx="100000" sy="100000" kx="0" ky="0" algn="bl" rotWithShape="0" blurRad="101600" dist="38100" dir="5400000">
              <a:srgbClr val="000000">
                <a:alpha val="14000"/>
              </a:srgbClr>
            </a:outerShdw>
          </a:effectLst>
        </p:spPr>
      </p:sp>
      <p:sp>
        <p:nvSpPr>
          <p:cNvPr id="26" name="Text 24"/>
          <p:cNvSpPr/>
          <p:nvPr/>
        </p:nvSpPr>
        <p:spPr>
          <a:xfrm>
            <a:off x="7290381" y="2674620"/>
            <a:ext cx="777240" cy="777240"/>
          </a:xfrm>
          <a:prstGeom prst="rect">
            <a:avLst/>
          </a:prstGeom>
          <a:noFill/>
          <a:ln/>
        </p:spPr>
        <p:txBody>
          <a:bodyPr wrap="square" lIns="0" tIns="0" rIns="0" bIns="0" rtlCol="0" anchor="ctr"/>
          <a:lstStyle/>
          <a:p>
            <a:pPr algn="ctr" indent="0" marL="0">
              <a:buNone/>
            </a:pPr>
            <a:r>
              <a:rPr lang="en-US" sz="2500" b="1" dirty="0">
                <a:solidFill>
                  <a:srgbClr val="FFB800"/>
                </a:solidFill>
                <a:latin typeface="Cambria" pitchFamily="34" charset="0"/>
                <a:ea typeface="Cambria" pitchFamily="34" charset="-122"/>
                <a:cs typeface="Cambria" pitchFamily="34" charset="-120"/>
              </a:rPr>
              <a:t>5</a:t>
            </a:r>
            <a:endParaRPr lang="en-US" sz="2500" dirty="0"/>
          </a:p>
        </p:txBody>
      </p:sp>
      <p:sp>
        <p:nvSpPr>
          <p:cNvPr id="27" name="Text 25"/>
          <p:cNvSpPr/>
          <p:nvPr/>
        </p:nvSpPr>
        <p:spPr>
          <a:xfrm>
            <a:off x="6959890" y="3589020"/>
            <a:ext cx="1438221" cy="868680"/>
          </a:xfrm>
          <a:prstGeom prst="rect">
            <a:avLst/>
          </a:prstGeom>
          <a:noFill/>
          <a:ln/>
        </p:spPr>
        <p:txBody>
          <a:bodyPr wrap="square" lIns="0" tIns="0" rIns="0" bIns="0" rtlCol="0" anchor="t"/>
          <a:lstStyle/>
          <a:p>
            <a:pPr algn="ctr" indent="0" marL="0">
              <a:lnSpc>
                <a:spcPct val="103000"/>
              </a:lnSpc>
              <a:buNone/>
            </a:pPr>
            <a:r>
              <a:rPr lang="en-US" sz="1100" dirty="0">
                <a:solidFill>
                  <a:srgbClr val="1B0E3D"/>
                </a:solidFill>
                <a:latin typeface="Cambria" pitchFamily="34" charset="0"/>
                <a:ea typeface="Cambria" pitchFamily="34" charset="-122"/>
                <a:cs typeface="Cambria" pitchFamily="34" charset="-120"/>
              </a:rPr>
              <a:t>vs. Null Models</a:t>
            </a:r>
            <a:endParaRPr lang="en-US" sz="1100" dirty="0"/>
          </a:p>
          <a:p>
            <a:pPr algn="ctr" indent="0" marL="0">
              <a:lnSpc>
                <a:spcPct val="103000"/>
              </a:lnSpc>
              <a:buNone/>
            </a:pPr>
            <a:r>
              <a:rPr lang="en-US" sz="1100" dirty="0">
                <a:solidFill>
                  <a:srgbClr val="1B0E3D"/>
                </a:solidFill>
                <a:latin typeface="Cambria" pitchFamily="34" charset="0"/>
                <a:ea typeface="Cambria" pitchFamily="34" charset="-122"/>
                <a:cs typeface="Cambria" pitchFamily="34" charset="-120"/>
              </a:rPr>
              <a:t>(ER · WS · BA · CM)</a:t>
            </a:r>
            <a:endParaRPr lang="en-US" sz="1100" dirty="0"/>
          </a:p>
        </p:txBody>
      </p:sp>
      <p:sp>
        <p:nvSpPr>
          <p:cNvPr id="28" name="Shape 26"/>
          <p:cNvSpPr/>
          <p:nvPr/>
        </p:nvSpPr>
        <p:spPr>
          <a:xfrm>
            <a:off x="8874905" y="2674620"/>
            <a:ext cx="777240" cy="777240"/>
          </a:xfrm>
          <a:prstGeom prst="ellipse">
            <a:avLst/>
          </a:prstGeom>
          <a:solidFill>
            <a:srgbClr val="FFFFFF"/>
          </a:solidFill>
          <a:ln w="28575">
            <a:solidFill>
              <a:srgbClr val="FF1F71"/>
            </a:solidFill>
            <a:prstDash val="solid"/>
          </a:ln>
          <a:effectLst>
            <a:outerShdw sx="100000" sy="100000" kx="0" ky="0" algn="bl" rotWithShape="0" blurRad="101600" dist="38100" dir="5400000">
              <a:srgbClr val="000000">
                <a:alpha val="14000"/>
              </a:srgbClr>
            </a:outerShdw>
          </a:effectLst>
        </p:spPr>
      </p:sp>
      <p:sp>
        <p:nvSpPr>
          <p:cNvPr id="29" name="Text 27"/>
          <p:cNvSpPr/>
          <p:nvPr/>
        </p:nvSpPr>
        <p:spPr>
          <a:xfrm>
            <a:off x="8874905" y="2674620"/>
            <a:ext cx="777240" cy="777240"/>
          </a:xfrm>
          <a:prstGeom prst="rect">
            <a:avLst/>
          </a:prstGeom>
          <a:noFill/>
          <a:ln/>
        </p:spPr>
        <p:txBody>
          <a:bodyPr wrap="square" lIns="0" tIns="0" rIns="0" bIns="0" rtlCol="0" anchor="ctr"/>
          <a:lstStyle/>
          <a:p>
            <a:pPr algn="ctr" indent="0" marL="0">
              <a:buNone/>
            </a:pPr>
            <a:r>
              <a:rPr lang="en-US" sz="2500" b="1" dirty="0">
                <a:solidFill>
                  <a:srgbClr val="FF1F71"/>
                </a:solidFill>
                <a:latin typeface="Cambria" pitchFamily="34" charset="0"/>
                <a:ea typeface="Cambria" pitchFamily="34" charset="-122"/>
                <a:cs typeface="Cambria" pitchFamily="34" charset="-120"/>
              </a:rPr>
              <a:t>6</a:t>
            </a:r>
            <a:endParaRPr lang="en-US" sz="2500" dirty="0"/>
          </a:p>
        </p:txBody>
      </p:sp>
      <p:sp>
        <p:nvSpPr>
          <p:cNvPr id="30" name="Text 28"/>
          <p:cNvSpPr/>
          <p:nvPr/>
        </p:nvSpPr>
        <p:spPr>
          <a:xfrm>
            <a:off x="8544415" y="3589020"/>
            <a:ext cx="1438221" cy="868680"/>
          </a:xfrm>
          <a:prstGeom prst="rect">
            <a:avLst/>
          </a:prstGeom>
          <a:noFill/>
          <a:ln/>
        </p:spPr>
        <p:txBody>
          <a:bodyPr wrap="square" lIns="0" tIns="0" rIns="0" bIns="0" rtlCol="0" anchor="t"/>
          <a:lstStyle/>
          <a:p>
            <a:pPr algn="ctr" indent="0" marL="0">
              <a:lnSpc>
                <a:spcPct val="103000"/>
              </a:lnSpc>
              <a:buNone/>
            </a:pPr>
            <a:r>
              <a:rPr lang="en-US" sz="1100" dirty="0">
                <a:solidFill>
                  <a:srgbClr val="1B0E3D"/>
                </a:solidFill>
                <a:latin typeface="Cambria" pitchFamily="34" charset="0"/>
                <a:ea typeface="Cambria" pitchFamily="34" charset="-122"/>
                <a:cs typeface="Cambria" pitchFamily="34" charset="-120"/>
              </a:rPr>
              <a:t>Robustness &amp;</a:t>
            </a:r>
            <a:endParaRPr lang="en-US" sz="1100" dirty="0"/>
          </a:p>
          <a:p>
            <a:pPr algn="ctr" indent="0" marL="0">
              <a:lnSpc>
                <a:spcPct val="103000"/>
              </a:lnSpc>
              <a:buNone/>
            </a:pPr>
            <a:r>
              <a:rPr lang="en-US" sz="1100" dirty="0">
                <a:solidFill>
                  <a:srgbClr val="1B0E3D"/>
                </a:solidFill>
                <a:latin typeface="Cambria" pitchFamily="34" charset="0"/>
                <a:ea typeface="Cambria" pitchFamily="34" charset="-122"/>
                <a:cs typeface="Cambria" pitchFamily="34" charset="-120"/>
              </a:rPr>
              <a:t>Attacks</a:t>
            </a:r>
            <a:endParaRPr lang="en-US" sz="1100" dirty="0"/>
          </a:p>
        </p:txBody>
      </p:sp>
      <p:sp>
        <p:nvSpPr>
          <p:cNvPr id="31" name="Shape 29"/>
          <p:cNvSpPr/>
          <p:nvPr/>
        </p:nvSpPr>
        <p:spPr>
          <a:xfrm>
            <a:off x="10459430" y="2674620"/>
            <a:ext cx="777240" cy="777240"/>
          </a:xfrm>
          <a:prstGeom prst="ellipse">
            <a:avLst/>
          </a:prstGeom>
          <a:solidFill>
            <a:srgbClr val="FFFFFF"/>
          </a:solidFill>
          <a:ln w="28575">
            <a:solidFill>
              <a:srgbClr val="0091FF"/>
            </a:solidFill>
            <a:prstDash val="solid"/>
          </a:ln>
          <a:effectLst>
            <a:outerShdw sx="100000" sy="100000" kx="0" ky="0" algn="bl" rotWithShape="0" blurRad="101600" dist="38100" dir="5400000">
              <a:srgbClr val="000000">
                <a:alpha val="14000"/>
              </a:srgbClr>
            </a:outerShdw>
          </a:effectLst>
        </p:spPr>
      </p:sp>
      <p:sp>
        <p:nvSpPr>
          <p:cNvPr id="32" name="Text 30"/>
          <p:cNvSpPr/>
          <p:nvPr/>
        </p:nvSpPr>
        <p:spPr>
          <a:xfrm>
            <a:off x="10459430" y="2674620"/>
            <a:ext cx="777240" cy="777240"/>
          </a:xfrm>
          <a:prstGeom prst="rect">
            <a:avLst/>
          </a:prstGeom>
          <a:noFill/>
          <a:ln/>
        </p:spPr>
        <p:txBody>
          <a:bodyPr wrap="square" lIns="0" tIns="0" rIns="0" bIns="0" rtlCol="0" anchor="ctr"/>
          <a:lstStyle/>
          <a:p>
            <a:pPr algn="ctr" indent="0" marL="0">
              <a:buNone/>
            </a:pPr>
            <a:r>
              <a:rPr lang="en-US" sz="2500" b="1" dirty="0">
                <a:solidFill>
                  <a:srgbClr val="0091FF"/>
                </a:solidFill>
                <a:latin typeface="Cambria" pitchFamily="34" charset="0"/>
                <a:ea typeface="Cambria" pitchFamily="34" charset="-122"/>
                <a:cs typeface="Cambria" pitchFamily="34" charset="-120"/>
              </a:rPr>
              <a:t>7</a:t>
            </a:r>
            <a:endParaRPr lang="en-US" sz="2500" dirty="0"/>
          </a:p>
        </p:txBody>
      </p:sp>
      <p:sp>
        <p:nvSpPr>
          <p:cNvPr id="33" name="Text 31"/>
          <p:cNvSpPr/>
          <p:nvPr/>
        </p:nvSpPr>
        <p:spPr>
          <a:xfrm>
            <a:off x="10128939" y="3589020"/>
            <a:ext cx="1438221" cy="868680"/>
          </a:xfrm>
          <a:prstGeom prst="rect">
            <a:avLst/>
          </a:prstGeom>
          <a:noFill/>
          <a:ln/>
        </p:spPr>
        <p:txBody>
          <a:bodyPr wrap="square" lIns="0" tIns="0" rIns="0" bIns="0" rtlCol="0" anchor="t"/>
          <a:lstStyle/>
          <a:p>
            <a:pPr algn="ctr" indent="0" marL="0">
              <a:lnSpc>
                <a:spcPct val="103000"/>
              </a:lnSpc>
              <a:buNone/>
            </a:pPr>
            <a:r>
              <a:rPr lang="en-US" sz="1100" dirty="0">
                <a:solidFill>
                  <a:srgbClr val="1B0E3D"/>
                </a:solidFill>
                <a:latin typeface="Cambria" pitchFamily="34" charset="0"/>
                <a:ea typeface="Cambria" pitchFamily="34" charset="-122"/>
                <a:cs typeface="Cambria" pitchFamily="34" charset="-120"/>
              </a:rPr>
              <a:t>Conclusions</a:t>
            </a:r>
            <a:endParaRPr lang="en-US" sz="1100" dirty="0"/>
          </a:p>
        </p:txBody>
      </p:sp>
      <p:sp>
        <p:nvSpPr>
          <p:cNvPr id="34" name="Text 32"/>
          <p:cNvSpPr/>
          <p:nvPr/>
        </p:nvSpPr>
        <p:spPr>
          <a:xfrm>
            <a:off x="548640" y="5257800"/>
            <a:ext cx="11091672"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mbria" pitchFamily="34" charset="0"/>
                <a:ea typeface="Cambria" pitchFamily="34" charset="-122"/>
                <a:cs typeface="Cambria" pitchFamily="34" charset="-120"/>
              </a:rPr>
              <a:t>Method: measure each index, compare it against the reference models, and draw a conclusion index by index — then a global one.</a:t>
            </a:r>
            <a:endParaRPr lang="en-US" sz="1300" dirty="0"/>
          </a:p>
        </p:txBody>
      </p:sp>
      <p:sp>
        <p:nvSpPr>
          <p:cNvPr id="35" name="Text 33"/>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B3AFC7"/>
                </a:solidFill>
                <a:latin typeface="Cambria" pitchFamily="34" charset="0"/>
                <a:ea typeface="Cambria" pitchFamily="34" charset="-122"/>
                <a:cs typeface="Cambria" pitchFamily="34" charset="-120"/>
              </a:rPr>
              <a:t>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50" b="1" spc="200" kern="0" dirty="0">
                <a:solidFill>
                  <a:srgbClr val="0091FF"/>
                </a:solidFill>
                <a:latin typeface="Cambria" pitchFamily="34" charset="0"/>
                <a:ea typeface="Cambria" pitchFamily="34" charset="-122"/>
                <a:cs typeface="Cambria" pitchFamily="34" charset="-120"/>
              </a:rPr>
              <a:t>PART 0-2</a:t>
            </a:r>
            <a:endParaRPr lang="en-US" sz="125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buNone/>
            </a:pPr>
            <a:r>
              <a:rPr lang="en-US" sz="3000" b="1" dirty="0">
                <a:solidFill>
                  <a:srgbClr val="1B0E3D"/>
                </a:solidFill>
                <a:latin typeface="Cambria" pitchFamily="34" charset="0"/>
                <a:ea typeface="Cambria" pitchFamily="34" charset="-122"/>
                <a:cs typeface="Cambria" pitchFamily="34" charset="-120"/>
              </a:rPr>
              <a:t>The Dataset &amp; Its Structure</a:t>
            </a:r>
            <a:endParaRPr lang="en-US" sz="3000" dirty="0"/>
          </a:p>
        </p:txBody>
      </p:sp>
      <p:sp>
        <p:nvSpPr>
          <p:cNvPr id="4" name="Shape 2"/>
          <p:cNvSpPr/>
          <p:nvPr/>
        </p:nvSpPr>
        <p:spPr>
          <a:xfrm>
            <a:off x="11034979" y="492862"/>
            <a:ext cx="310896" cy="279806"/>
          </a:xfrm>
          <a:prstGeom prst="line">
            <a:avLst/>
          </a:prstGeom>
          <a:noFill/>
          <a:ln w="12700">
            <a:solidFill>
              <a:srgbClr val="CFC9E4"/>
            </a:solidFill>
            <a:prstDash val="solid"/>
          </a:ln>
        </p:spPr>
      </p:sp>
      <p:sp>
        <p:nvSpPr>
          <p:cNvPr id="5" name="Shape 3"/>
          <p:cNvSpPr/>
          <p:nvPr/>
        </p:nvSpPr>
        <p:spPr>
          <a:xfrm flipV="1">
            <a:off x="11345875" y="461772"/>
            <a:ext cx="295351" cy="310896"/>
          </a:xfrm>
          <a:prstGeom prst="line">
            <a:avLst/>
          </a:prstGeom>
          <a:noFill/>
          <a:ln w="12700">
            <a:solidFill>
              <a:srgbClr val="CFC9E4"/>
            </a:solidFill>
            <a:prstDash val="solid"/>
          </a:ln>
        </p:spPr>
      </p:sp>
      <p:sp>
        <p:nvSpPr>
          <p:cNvPr id="6" name="Shape 4"/>
          <p:cNvSpPr/>
          <p:nvPr/>
        </p:nvSpPr>
        <p:spPr>
          <a:xfrm flipV="1">
            <a:off x="11019434" y="772668"/>
            <a:ext cx="326441" cy="295351"/>
          </a:xfrm>
          <a:prstGeom prst="line">
            <a:avLst/>
          </a:prstGeom>
          <a:noFill/>
          <a:ln w="12700">
            <a:solidFill>
              <a:srgbClr val="CFC9E4"/>
            </a:solidFill>
            <a:prstDash val="solid"/>
          </a:ln>
        </p:spPr>
      </p:sp>
      <p:sp>
        <p:nvSpPr>
          <p:cNvPr id="7" name="Shape 5"/>
          <p:cNvSpPr/>
          <p:nvPr/>
        </p:nvSpPr>
        <p:spPr>
          <a:xfrm>
            <a:off x="11345875" y="772668"/>
            <a:ext cx="310896" cy="279806"/>
          </a:xfrm>
          <a:prstGeom prst="line">
            <a:avLst/>
          </a:prstGeom>
          <a:noFill/>
          <a:ln w="12700">
            <a:solidFill>
              <a:srgbClr val="CFC9E4"/>
            </a:solidFill>
            <a:prstDash val="solid"/>
          </a:ln>
        </p:spPr>
      </p:sp>
      <p:sp>
        <p:nvSpPr>
          <p:cNvPr id="8" name="Shape 6"/>
          <p:cNvSpPr/>
          <p:nvPr/>
        </p:nvSpPr>
        <p:spPr>
          <a:xfrm>
            <a:off x="10974354" y="432237"/>
            <a:ext cx="121249" cy="121249"/>
          </a:xfrm>
          <a:prstGeom prst="ellipse">
            <a:avLst/>
          </a:prstGeom>
          <a:solidFill>
            <a:srgbClr val="0091FF"/>
          </a:solidFill>
          <a:ln/>
        </p:spPr>
      </p:sp>
      <p:sp>
        <p:nvSpPr>
          <p:cNvPr id="9" name="Shape 7"/>
          <p:cNvSpPr/>
          <p:nvPr/>
        </p:nvSpPr>
        <p:spPr>
          <a:xfrm>
            <a:off x="11594592" y="415138"/>
            <a:ext cx="93269" cy="93269"/>
          </a:xfrm>
          <a:prstGeom prst="ellipse">
            <a:avLst/>
          </a:prstGeom>
          <a:solidFill>
            <a:srgbClr val="FFB800"/>
          </a:solidFill>
          <a:ln/>
        </p:spPr>
      </p:sp>
      <p:sp>
        <p:nvSpPr>
          <p:cNvPr id="10" name="Shape 8"/>
          <p:cNvSpPr/>
          <p:nvPr/>
        </p:nvSpPr>
        <p:spPr>
          <a:xfrm>
            <a:off x="10972800" y="1021385"/>
            <a:ext cx="93269" cy="93269"/>
          </a:xfrm>
          <a:prstGeom prst="ellipse">
            <a:avLst/>
          </a:prstGeom>
          <a:solidFill>
            <a:srgbClr val="FF1F71"/>
          </a:solidFill>
          <a:ln/>
        </p:spPr>
      </p:sp>
      <p:sp>
        <p:nvSpPr>
          <p:cNvPr id="11" name="Shape 9"/>
          <p:cNvSpPr/>
          <p:nvPr/>
        </p:nvSpPr>
        <p:spPr>
          <a:xfrm>
            <a:off x="11596146" y="991850"/>
            <a:ext cx="121249" cy="121249"/>
          </a:xfrm>
          <a:prstGeom prst="ellipse">
            <a:avLst/>
          </a:prstGeom>
          <a:solidFill>
            <a:srgbClr val="0091FF"/>
          </a:solidFill>
          <a:ln/>
        </p:spPr>
      </p:sp>
      <p:sp>
        <p:nvSpPr>
          <p:cNvPr id="12" name="Shape 10"/>
          <p:cNvSpPr/>
          <p:nvPr/>
        </p:nvSpPr>
        <p:spPr>
          <a:xfrm>
            <a:off x="11256493" y="683285"/>
            <a:ext cx="178765" cy="178765"/>
          </a:xfrm>
          <a:prstGeom prst="ellipse">
            <a:avLst/>
          </a:prstGeom>
          <a:solidFill>
            <a:srgbClr val="1B0E3D"/>
          </a:solidFill>
          <a:ln w="19050">
            <a:solidFill>
              <a:srgbClr val="FFFFFF"/>
            </a:solidFill>
            <a:prstDash val="solid"/>
          </a:ln>
        </p:spPr>
      </p:sp>
      <p:sp>
        <p:nvSpPr>
          <p:cNvPr id="13" name="Shape 11"/>
          <p:cNvSpPr/>
          <p:nvPr/>
        </p:nvSpPr>
        <p:spPr>
          <a:xfrm>
            <a:off x="548640" y="1600200"/>
            <a:ext cx="3520440" cy="1234440"/>
          </a:xfrm>
          <a:prstGeom prst="roundRect">
            <a:avLst>
              <a:gd name="adj" fmla="val 6667"/>
            </a:avLst>
          </a:prstGeom>
          <a:solidFill>
            <a:srgbClr val="FFFFFF"/>
          </a:solidFill>
          <a:ln w="12700">
            <a:solidFill>
              <a:srgbClr val="E5E1F0"/>
            </a:solidFill>
            <a:prstDash val="solid"/>
          </a:ln>
          <a:effectLst>
            <a:outerShdw sx="100000" sy="100000" kx="0" ky="0" algn="bl" rotWithShape="0" blurRad="101600" dist="38100" dir="5400000">
              <a:srgbClr val="000000">
                <a:alpha val="14000"/>
              </a:srgbClr>
            </a:outerShdw>
          </a:effectLst>
        </p:spPr>
      </p:sp>
      <p:sp>
        <p:nvSpPr>
          <p:cNvPr id="14" name="Text 12"/>
          <p:cNvSpPr/>
          <p:nvPr/>
        </p:nvSpPr>
        <p:spPr>
          <a:xfrm>
            <a:off x="713232" y="1709928"/>
            <a:ext cx="3191256" cy="691286"/>
          </a:xfrm>
          <a:prstGeom prst="rect">
            <a:avLst/>
          </a:prstGeom>
          <a:noFill/>
          <a:ln/>
        </p:spPr>
        <p:txBody>
          <a:bodyPr wrap="square" lIns="0" tIns="0" rIns="0" bIns="0" rtlCol="0" anchor="b"/>
          <a:lstStyle/>
          <a:p>
            <a:pPr algn="l" indent="0" marL="0">
              <a:buNone/>
            </a:pPr>
            <a:r>
              <a:rPr lang="en-US" sz="2600" b="1" dirty="0">
                <a:solidFill>
                  <a:srgbClr val="0091FF"/>
                </a:solidFill>
                <a:latin typeface="Cambria" pitchFamily="34" charset="0"/>
                <a:ea typeface="Cambria" pitchFamily="34" charset="-122"/>
                <a:cs typeface="Cambria" pitchFamily="34" charset="-120"/>
              </a:rPr>
              <a:t>36,692</a:t>
            </a:r>
            <a:endParaRPr lang="en-US" sz="2600" dirty="0"/>
          </a:p>
        </p:txBody>
      </p:sp>
      <p:sp>
        <p:nvSpPr>
          <p:cNvPr id="15" name="Text 13"/>
          <p:cNvSpPr/>
          <p:nvPr/>
        </p:nvSpPr>
        <p:spPr>
          <a:xfrm>
            <a:off x="713232" y="2340864"/>
            <a:ext cx="3191256" cy="444398"/>
          </a:xfrm>
          <a:prstGeom prst="rect">
            <a:avLst/>
          </a:prstGeom>
          <a:noFill/>
          <a:ln/>
        </p:spPr>
        <p:txBody>
          <a:bodyPr wrap="square" lIns="0" tIns="0" rIns="0" bIns="0" rtlCol="0" anchor="t"/>
          <a:lstStyle/>
          <a:p>
            <a:pPr algn="l" indent="0" marL="0">
              <a:buNone/>
            </a:pPr>
            <a:r>
              <a:rPr lang="en-US" sz="1150" dirty="0">
                <a:solidFill>
                  <a:srgbClr val="6B7280"/>
                </a:solidFill>
                <a:latin typeface="Cambria" pitchFamily="34" charset="0"/>
                <a:ea typeface="Cambria" pitchFamily="34" charset="-122"/>
                <a:cs typeface="Cambria" pitchFamily="34" charset="-120"/>
              </a:rPr>
              <a:t>total nodes (email addresses)</a:t>
            </a:r>
            <a:endParaRPr lang="en-US" sz="1150" dirty="0"/>
          </a:p>
        </p:txBody>
      </p:sp>
      <p:sp>
        <p:nvSpPr>
          <p:cNvPr id="16" name="Shape 14"/>
          <p:cNvSpPr/>
          <p:nvPr/>
        </p:nvSpPr>
        <p:spPr>
          <a:xfrm>
            <a:off x="4206240" y="1600200"/>
            <a:ext cx="3520440" cy="1234440"/>
          </a:xfrm>
          <a:prstGeom prst="roundRect">
            <a:avLst>
              <a:gd name="adj" fmla="val 6667"/>
            </a:avLst>
          </a:prstGeom>
          <a:solidFill>
            <a:srgbClr val="FFFFFF"/>
          </a:solidFill>
          <a:ln w="12700">
            <a:solidFill>
              <a:srgbClr val="E5E1F0"/>
            </a:solidFill>
            <a:prstDash val="solid"/>
          </a:ln>
          <a:effectLst>
            <a:outerShdw sx="100000" sy="100000" kx="0" ky="0" algn="bl" rotWithShape="0" blurRad="101600" dist="38100" dir="5400000">
              <a:srgbClr val="000000">
                <a:alpha val="14000"/>
              </a:srgbClr>
            </a:outerShdw>
          </a:effectLst>
        </p:spPr>
      </p:sp>
      <p:sp>
        <p:nvSpPr>
          <p:cNvPr id="17" name="Text 15"/>
          <p:cNvSpPr/>
          <p:nvPr/>
        </p:nvSpPr>
        <p:spPr>
          <a:xfrm>
            <a:off x="4370832" y="1709928"/>
            <a:ext cx="3191256" cy="691286"/>
          </a:xfrm>
          <a:prstGeom prst="rect">
            <a:avLst/>
          </a:prstGeom>
          <a:noFill/>
          <a:ln/>
        </p:spPr>
        <p:txBody>
          <a:bodyPr wrap="square" lIns="0" tIns="0" rIns="0" bIns="0" rtlCol="0" anchor="b"/>
          <a:lstStyle/>
          <a:p>
            <a:pPr algn="l" indent="0" marL="0">
              <a:buNone/>
            </a:pPr>
            <a:r>
              <a:rPr lang="en-US" sz="2600" b="1" dirty="0">
                <a:solidFill>
                  <a:srgbClr val="FFB800"/>
                </a:solidFill>
                <a:latin typeface="Cambria" pitchFamily="34" charset="0"/>
                <a:ea typeface="Cambria" pitchFamily="34" charset="-122"/>
                <a:cs typeface="Cambria" pitchFamily="34" charset="-120"/>
              </a:rPr>
              <a:t>183,831</a:t>
            </a:r>
            <a:endParaRPr lang="en-US" sz="2600" dirty="0"/>
          </a:p>
        </p:txBody>
      </p:sp>
      <p:sp>
        <p:nvSpPr>
          <p:cNvPr id="18" name="Text 16"/>
          <p:cNvSpPr/>
          <p:nvPr/>
        </p:nvSpPr>
        <p:spPr>
          <a:xfrm>
            <a:off x="4370832" y="2340864"/>
            <a:ext cx="3191256" cy="444398"/>
          </a:xfrm>
          <a:prstGeom prst="rect">
            <a:avLst/>
          </a:prstGeom>
          <a:noFill/>
          <a:ln/>
        </p:spPr>
        <p:txBody>
          <a:bodyPr wrap="square" lIns="0" tIns="0" rIns="0" bIns="0" rtlCol="0" anchor="t"/>
          <a:lstStyle/>
          <a:p>
            <a:pPr algn="l" indent="0" marL="0">
              <a:buNone/>
            </a:pPr>
            <a:r>
              <a:rPr lang="en-US" sz="1150" dirty="0">
                <a:solidFill>
                  <a:srgbClr val="6B7280"/>
                </a:solidFill>
                <a:latin typeface="Cambria" pitchFamily="34" charset="0"/>
                <a:ea typeface="Cambria" pitchFamily="34" charset="-122"/>
                <a:cs typeface="Cambria" pitchFamily="34" charset="-120"/>
              </a:rPr>
              <a:t>unique undirected edges</a:t>
            </a:r>
            <a:endParaRPr lang="en-US" sz="1150" dirty="0"/>
          </a:p>
        </p:txBody>
      </p:sp>
      <p:sp>
        <p:nvSpPr>
          <p:cNvPr id="19" name="Shape 17"/>
          <p:cNvSpPr/>
          <p:nvPr/>
        </p:nvSpPr>
        <p:spPr>
          <a:xfrm>
            <a:off x="7863840" y="1600200"/>
            <a:ext cx="3520440" cy="1234440"/>
          </a:xfrm>
          <a:prstGeom prst="roundRect">
            <a:avLst>
              <a:gd name="adj" fmla="val 6667"/>
            </a:avLst>
          </a:prstGeom>
          <a:solidFill>
            <a:srgbClr val="FFFFFF"/>
          </a:solidFill>
          <a:ln w="12700">
            <a:solidFill>
              <a:srgbClr val="E5E1F0"/>
            </a:solidFill>
            <a:prstDash val="solid"/>
          </a:ln>
          <a:effectLst>
            <a:outerShdw sx="100000" sy="100000" kx="0" ky="0" algn="bl" rotWithShape="0" blurRad="101600" dist="38100" dir="5400000">
              <a:srgbClr val="000000">
                <a:alpha val="14000"/>
              </a:srgbClr>
            </a:outerShdw>
          </a:effectLst>
        </p:spPr>
      </p:sp>
      <p:sp>
        <p:nvSpPr>
          <p:cNvPr id="20" name="Text 18"/>
          <p:cNvSpPr/>
          <p:nvPr/>
        </p:nvSpPr>
        <p:spPr>
          <a:xfrm>
            <a:off x="8028432" y="1709928"/>
            <a:ext cx="3191256" cy="691286"/>
          </a:xfrm>
          <a:prstGeom prst="rect">
            <a:avLst/>
          </a:prstGeom>
          <a:noFill/>
          <a:ln/>
        </p:spPr>
        <p:txBody>
          <a:bodyPr wrap="square" lIns="0" tIns="0" rIns="0" bIns="0" rtlCol="0" anchor="b"/>
          <a:lstStyle/>
          <a:p>
            <a:pPr algn="l" indent="0" marL="0">
              <a:buNone/>
            </a:pPr>
            <a:r>
              <a:rPr lang="en-US" sz="2600" b="1" dirty="0">
                <a:solidFill>
                  <a:srgbClr val="FF1F71"/>
                </a:solidFill>
                <a:latin typeface="Cambria" pitchFamily="34" charset="0"/>
                <a:ea typeface="Cambria" pitchFamily="34" charset="-122"/>
                <a:cs typeface="Cambria" pitchFamily="34" charset="-120"/>
              </a:rPr>
              <a:t>91.8%</a:t>
            </a:r>
            <a:endParaRPr lang="en-US" sz="2600" dirty="0"/>
          </a:p>
        </p:txBody>
      </p:sp>
      <p:sp>
        <p:nvSpPr>
          <p:cNvPr id="21" name="Text 19"/>
          <p:cNvSpPr/>
          <p:nvPr/>
        </p:nvSpPr>
        <p:spPr>
          <a:xfrm>
            <a:off x="8028432" y="2340864"/>
            <a:ext cx="3191256" cy="444398"/>
          </a:xfrm>
          <a:prstGeom prst="rect">
            <a:avLst/>
          </a:prstGeom>
          <a:noFill/>
          <a:ln/>
        </p:spPr>
        <p:txBody>
          <a:bodyPr wrap="square" lIns="0" tIns="0" rIns="0" bIns="0" rtlCol="0" anchor="t"/>
          <a:lstStyle/>
          <a:p>
            <a:pPr algn="l" indent="0" marL="0">
              <a:buNone/>
            </a:pPr>
            <a:r>
              <a:rPr lang="en-US" sz="1150" dirty="0">
                <a:solidFill>
                  <a:srgbClr val="6B7280"/>
                </a:solidFill>
                <a:latin typeface="Cambria" pitchFamily="34" charset="0"/>
                <a:ea typeface="Cambria" pitchFamily="34" charset="-122"/>
                <a:cs typeface="Cambria" pitchFamily="34" charset="-120"/>
              </a:rPr>
              <a:t>of nodes in the Giant Component</a:t>
            </a:r>
            <a:endParaRPr lang="en-US" sz="1150" dirty="0"/>
          </a:p>
        </p:txBody>
      </p:sp>
      <p:sp>
        <p:nvSpPr>
          <p:cNvPr id="22" name="Text 20"/>
          <p:cNvSpPr/>
          <p:nvPr/>
        </p:nvSpPr>
        <p:spPr>
          <a:xfrm>
            <a:off x="548640" y="3108960"/>
            <a:ext cx="5486400" cy="320040"/>
          </a:xfrm>
          <a:prstGeom prst="rect">
            <a:avLst/>
          </a:prstGeom>
          <a:noFill/>
          <a:ln/>
        </p:spPr>
        <p:txBody>
          <a:bodyPr wrap="square" lIns="0" tIns="0" rIns="0" bIns="0" rtlCol="0" anchor="ctr"/>
          <a:lstStyle/>
          <a:p>
            <a:pPr indent="0" marL="0">
              <a:buNone/>
            </a:pPr>
            <a:r>
              <a:rPr lang="en-US" sz="1500" b="1" dirty="0">
                <a:solidFill>
                  <a:srgbClr val="1B0E3D"/>
                </a:solidFill>
                <a:latin typeface="Cambria" pitchFamily="34" charset="0"/>
                <a:ea typeface="Cambria" pitchFamily="34" charset="-122"/>
                <a:cs typeface="Cambria" pitchFamily="34" charset="-120"/>
              </a:rPr>
              <a:t>Source &amp; Domain</a:t>
            </a:r>
            <a:endParaRPr lang="en-US" sz="1500" dirty="0"/>
          </a:p>
        </p:txBody>
      </p:sp>
      <p:sp>
        <p:nvSpPr>
          <p:cNvPr id="23" name="Text 21"/>
          <p:cNvSpPr/>
          <p:nvPr/>
        </p:nvSpPr>
        <p:spPr>
          <a:xfrm>
            <a:off x="548640" y="3474720"/>
            <a:ext cx="5486400" cy="1463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B0E3D"/>
                </a:solidFill>
                <a:latin typeface="Cambria" pitchFamily="34" charset="0"/>
                <a:ea typeface="Cambria" pitchFamily="34" charset="-122"/>
                <a:cs typeface="Cambria" pitchFamily="34" charset="-120"/>
              </a:rPr>
              <a:t>SNAP (Stanford) — email-Enron</a:t>
            </a:r>
            <a:endParaRPr lang="en-US" sz="1300" dirty="0"/>
          </a:p>
          <a:p>
            <a:pPr marL="342900" indent="-342900">
              <a:spcAft>
                <a:spcPts val="800"/>
              </a:spcAft>
              <a:buSzPct val="100000"/>
              <a:buChar char="•"/>
            </a:pPr>
            <a:r>
              <a:rPr lang="en-US" sz="1300" dirty="0">
                <a:solidFill>
                  <a:srgbClr val="1B0E3D"/>
                </a:solidFill>
                <a:latin typeface="Cambria" pitchFamily="34" charset="0"/>
                <a:ea typeface="Cambria" pitchFamily="34" charset="-122"/>
                <a:cs typeface="Cambria" pitchFamily="34" charset="-120"/>
              </a:rPr>
              <a:t>Corporate e-mail communication, released by the FERC investigation</a:t>
            </a:r>
            <a:endParaRPr lang="en-US" sz="1300" dirty="0"/>
          </a:p>
          <a:p>
            <a:pPr marL="342900" indent="-342900">
              <a:spcAft>
                <a:spcPts val="800"/>
              </a:spcAft>
              <a:buSzPct val="100000"/>
              <a:buChar char="•"/>
            </a:pPr>
            <a:r>
              <a:rPr lang="en-US" sz="1300" dirty="0">
                <a:solidFill>
                  <a:srgbClr val="1B0E3D"/>
                </a:solidFill>
                <a:latin typeface="Cambria" pitchFamily="34" charset="0"/>
                <a:ea typeface="Cambria" pitchFamily="34" charset="-122"/>
                <a:cs typeface="Cambria" pitchFamily="34" charset="-120"/>
              </a:rPr>
              <a:t>Undirected, unweighted graph</a:t>
            </a:r>
            <a:endParaRPr lang="en-US" sz="1300" dirty="0"/>
          </a:p>
        </p:txBody>
      </p:sp>
      <p:sp>
        <p:nvSpPr>
          <p:cNvPr id="24" name="Text 22"/>
          <p:cNvSpPr/>
          <p:nvPr/>
        </p:nvSpPr>
        <p:spPr>
          <a:xfrm>
            <a:off x="6309360" y="3108960"/>
            <a:ext cx="5303520" cy="320040"/>
          </a:xfrm>
          <a:prstGeom prst="rect">
            <a:avLst/>
          </a:prstGeom>
          <a:noFill/>
          <a:ln/>
        </p:spPr>
        <p:txBody>
          <a:bodyPr wrap="square" lIns="0" tIns="0" rIns="0" bIns="0" rtlCol="0" anchor="ctr"/>
          <a:lstStyle/>
          <a:p>
            <a:pPr indent="0" marL="0">
              <a:buNone/>
            </a:pPr>
            <a:r>
              <a:rPr lang="en-US" sz="1500" b="1" dirty="0">
                <a:solidFill>
                  <a:srgbClr val="1B0E3D"/>
                </a:solidFill>
                <a:latin typeface="Cambria" pitchFamily="34" charset="0"/>
                <a:ea typeface="Cambria" pitchFamily="34" charset="-122"/>
                <a:cs typeface="Cambria" pitchFamily="34" charset="-120"/>
              </a:rPr>
              <a:t>Giant Component</a:t>
            </a:r>
            <a:endParaRPr lang="en-US" sz="1500" dirty="0"/>
          </a:p>
        </p:txBody>
      </p:sp>
      <p:sp>
        <p:nvSpPr>
          <p:cNvPr id="25" name="Text 23"/>
          <p:cNvSpPr/>
          <p:nvPr/>
        </p:nvSpPr>
        <p:spPr>
          <a:xfrm>
            <a:off x="6309360" y="3474720"/>
            <a:ext cx="5303520" cy="1463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B0E3D"/>
                </a:solidFill>
                <a:latin typeface="Cambria" pitchFamily="34" charset="0"/>
                <a:ea typeface="Cambria" pitchFamily="34" charset="-122"/>
                <a:cs typeface="Cambria" pitchFamily="34" charset="-120"/>
              </a:rPr>
              <a:t>GC: 33,696 nodes · 180,811 edges</a:t>
            </a:r>
            <a:endParaRPr lang="en-US" sz="1300" dirty="0"/>
          </a:p>
          <a:p>
            <a:pPr marL="342900" indent="-342900">
              <a:spcAft>
                <a:spcPts val="800"/>
              </a:spcAft>
              <a:buSzPct val="100000"/>
              <a:buChar char="•"/>
            </a:pPr>
            <a:r>
              <a:rPr lang="en-US" sz="1300" dirty="0">
                <a:solidFill>
                  <a:srgbClr val="1B0E3D"/>
                </a:solidFill>
                <a:latin typeface="Cambria" pitchFamily="34" charset="0"/>
                <a:ea typeface="Cambria" pitchFamily="34" charset="-122"/>
                <a:cs typeface="Cambria" pitchFamily="34" charset="-120"/>
              </a:rPr>
              <a:t>1,065 components total — the rest are tiny (≤ 20 nodes)</a:t>
            </a:r>
            <a:endParaRPr lang="en-US" sz="1300" dirty="0"/>
          </a:p>
          <a:p>
            <a:pPr marL="342900" indent="-342900">
              <a:spcAft>
                <a:spcPts val="800"/>
              </a:spcAft>
              <a:buSzPct val="100000"/>
              <a:buChar char="•"/>
            </a:pPr>
            <a:r>
              <a:rPr lang="en-US" sz="1300" dirty="0">
                <a:solidFill>
                  <a:srgbClr val="1B0E3D"/>
                </a:solidFill>
                <a:latin typeface="Cambria" pitchFamily="34" charset="0"/>
                <a:ea typeface="Cambria" pitchFamily="34" charset="-122"/>
                <a:cs typeface="Cambria" pitchFamily="34" charset="-120"/>
              </a:rPr>
              <a:t>All following analysis uses the GC only</a:t>
            </a:r>
            <a:endParaRPr lang="en-US" sz="1300" dirty="0"/>
          </a:p>
        </p:txBody>
      </p:sp>
      <p:sp>
        <p:nvSpPr>
          <p:cNvPr id="26" name="Shape 24"/>
          <p:cNvSpPr/>
          <p:nvPr/>
        </p:nvSpPr>
        <p:spPr>
          <a:xfrm>
            <a:off x="548640" y="5257800"/>
            <a:ext cx="10835640" cy="1051560"/>
          </a:xfrm>
          <a:prstGeom prst="roundRect">
            <a:avLst>
              <a:gd name="adj" fmla="val 7826"/>
            </a:avLst>
          </a:prstGeom>
          <a:solidFill>
            <a:srgbClr val="FFEAF3"/>
          </a:solidFill>
          <a:ln/>
          <a:effectLst>
            <a:outerShdw sx="100000" sy="100000" kx="0" ky="0" algn="bl" rotWithShape="0" blurRad="76200" dist="25400" dir="5400000">
              <a:srgbClr val="000000">
                <a:alpha val="10000"/>
              </a:srgbClr>
            </a:outerShdw>
          </a:effectLst>
        </p:spPr>
      </p:sp>
      <p:sp>
        <p:nvSpPr>
          <p:cNvPr id="27" name="Shape 25"/>
          <p:cNvSpPr/>
          <p:nvPr/>
        </p:nvSpPr>
        <p:spPr>
          <a:xfrm>
            <a:off x="749808" y="5646420"/>
            <a:ext cx="274320" cy="274320"/>
          </a:xfrm>
          <a:prstGeom prst="ellipse">
            <a:avLst/>
          </a:prstGeom>
          <a:solidFill>
            <a:srgbClr val="FF1F71"/>
          </a:solidFill>
          <a:ln/>
        </p:spPr>
      </p:sp>
      <p:sp>
        <p:nvSpPr>
          <p:cNvPr id="28" name="Text 26"/>
          <p:cNvSpPr/>
          <p:nvPr/>
        </p:nvSpPr>
        <p:spPr>
          <a:xfrm>
            <a:off x="749808" y="56464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a:t>
            </a:r>
            <a:endParaRPr lang="en-US" sz="1200" dirty="0"/>
          </a:p>
        </p:txBody>
      </p:sp>
      <p:sp>
        <p:nvSpPr>
          <p:cNvPr id="29" name="Text 27"/>
          <p:cNvSpPr/>
          <p:nvPr/>
        </p:nvSpPr>
        <p:spPr>
          <a:xfrm>
            <a:off x="1115568" y="5349240"/>
            <a:ext cx="10012680" cy="868680"/>
          </a:xfrm>
          <a:prstGeom prst="rect">
            <a:avLst/>
          </a:prstGeom>
          <a:noFill/>
          <a:ln/>
        </p:spPr>
        <p:txBody>
          <a:bodyPr wrap="square" lIns="0" tIns="0" rIns="0" bIns="0" rtlCol="0" anchor="ctr"/>
          <a:lstStyle/>
          <a:p>
            <a:pPr algn="l" indent="0" marL="0">
              <a:lnSpc>
                <a:spcPct val="108000"/>
              </a:lnSpc>
              <a:buNone/>
            </a:pPr>
            <a:r>
              <a:rPr lang="en-US" sz="1150" b="1" dirty="0">
                <a:solidFill>
                  <a:srgbClr val="FF1F71"/>
                </a:solidFill>
                <a:latin typeface="Cambria" pitchFamily="34" charset="0"/>
                <a:ea typeface="Cambria" pitchFamily="34" charset="-122"/>
                <a:cs typeface="Cambria" pitchFamily="34" charset="-120"/>
              </a:rPr>
              <a:t>Q&amp;A-proof:  </a:t>
            </a:r>
            <a:pPr algn="l" indent="0" marL="0">
              <a:lnSpc>
                <a:spcPct val="108000"/>
              </a:lnSpc>
              <a:buNone/>
            </a:pPr>
            <a:r>
              <a:rPr lang="en-US" sz="1150" dirty="0">
                <a:solidFill>
                  <a:srgbClr val="1B0E3D"/>
                </a:solidFill>
                <a:latin typeface="Cambria" pitchFamily="34" charset="0"/>
                <a:ea typeface="Cambria" pitchFamily="34" charset="-122"/>
                <a:cs typeface="Cambria" pitchFamily="34" charset="-120"/>
              </a:rPr>
              <a:t>the raw file lists every edge twice (367,662 directed entries) — read as undirected they collapse to 183,831 unique edges. The graph is confirmed NOT bipartite (725,311 triangles in the GC), meeting the course requirement.</a:t>
            </a:r>
            <a:endParaRPr lang="en-US" sz="1150" dirty="0"/>
          </a:p>
        </p:txBody>
      </p:sp>
      <p:sp>
        <p:nvSpPr>
          <p:cNvPr id="30" name="Text 28"/>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B3AFC7"/>
                </a:solidFill>
                <a:latin typeface="Cambria" pitchFamily="34" charset="0"/>
                <a:ea typeface="Cambria" pitchFamily="34" charset="-122"/>
                <a:cs typeface="Cambria" pitchFamily="34" charset="-120"/>
              </a:rPr>
              <a:t>3 / 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50" b="1" spc="200" kern="0" dirty="0">
                <a:solidFill>
                  <a:srgbClr val="0091FF"/>
                </a:solidFill>
                <a:latin typeface="Cambria" pitchFamily="34" charset="0"/>
                <a:ea typeface="Cambria" pitchFamily="34" charset="-122"/>
                <a:cs typeface="Cambria" pitchFamily="34" charset="-120"/>
              </a:rPr>
              <a:t>PART 3</a:t>
            </a:r>
            <a:endParaRPr lang="en-US" sz="125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buNone/>
            </a:pPr>
            <a:r>
              <a:rPr lang="en-US" sz="3000" b="1" dirty="0">
                <a:solidFill>
                  <a:srgbClr val="1B0E3D"/>
                </a:solidFill>
                <a:latin typeface="Cambria" pitchFamily="34" charset="0"/>
                <a:ea typeface="Cambria" pitchFamily="34" charset="-122"/>
                <a:cs typeface="Cambria" pitchFamily="34" charset="-120"/>
              </a:rPr>
              <a:t>Degree Distribution: Do Hubs Exist?</a:t>
            </a:r>
            <a:endParaRPr lang="en-US" sz="3000" dirty="0"/>
          </a:p>
        </p:txBody>
      </p:sp>
      <p:sp>
        <p:nvSpPr>
          <p:cNvPr id="4" name="Shape 2"/>
          <p:cNvSpPr/>
          <p:nvPr/>
        </p:nvSpPr>
        <p:spPr>
          <a:xfrm>
            <a:off x="11034979" y="492862"/>
            <a:ext cx="310896" cy="279806"/>
          </a:xfrm>
          <a:prstGeom prst="line">
            <a:avLst/>
          </a:prstGeom>
          <a:noFill/>
          <a:ln w="12700">
            <a:solidFill>
              <a:srgbClr val="CFC9E4"/>
            </a:solidFill>
            <a:prstDash val="solid"/>
          </a:ln>
        </p:spPr>
      </p:sp>
      <p:sp>
        <p:nvSpPr>
          <p:cNvPr id="5" name="Shape 3"/>
          <p:cNvSpPr/>
          <p:nvPr/>
        </p:nvSpPr>
        <p:spPr>
          <a:xfrm flipV="1">
            <a:off x="11345875" y="461772"/>
            <a:ext cx="295351" cy="310896"/>
          </a:xfrm>
          <a:prstGeom prst="line">
            <a:avLst/>
          </a:prstGeom>
          <a:noFill/>
          <a:ln w="12700">
            <a:solidFill>
              <a:srgbClr val="CFC9E4"/>
            </a:solidFill>
            <a:prstDash val="solid"/>
          </a:ln>
        </p:spPr>
      </p:sp>
      <p:sp>
        <p:nvSpPr>
          <p:cNvPr id="6" name="Shape 4"/>
          <p:cNvSpPr/>
          <p:nvPr/>
        </p:nvSpPr>
        <p:spPr>
          <a:xfrm flipV="1">
            <a:off x="11019434" y="772668"/>
            <a:ext cx="326441" cy="295351"/>
          </a:xfrm>
          <a:prstGeom prst="line">
            <a:avLst/>
          </a:prstGeom>
          <a:noFill/>
          <a:ln w="12700">
            <a:solidFill>
              <a:srgbClr val="CFC9E4"/>
            </a:solidFill>
            <a:prstDash val="solid"/>
          </a:ln>
        </p:spPr>
      </p:sp>
      <p:sp>
        <p:nvSpPr>
          <p:cNvPr id="7" name="Shape 5"/>
          <p:cNvSpPr/>
          <p:nvPr/>
        </p:nvSpPr>
        <p:spPr>
          <a:xfrm>
            <a:off x="11345875" y="772668"/>
            <a:ext cx="310896" cy="279806"/>
          </a:xfrm>
          <a:prstGeom prst="line">
            <a:avLst/>
          </a:prstGeom>
          <a:noFill/>
          <a:ln w="12700">
            <a:solidFill>
              <a:srgbClr val="CFC9E4"/>
            </a:solidFill>
            <a:prstDash val="solid"/>
          </a:ln>
        </p:spPr>
      </p:sp>
      <p:sp>
        <p:nvSpPr>
          <p:cNvPr id="8" name="Shape 6"/>
          <p:cNvSpPr/>
          <p:nvPr/>
        </p:nvSpPr>
        <p:spPr>
          <a:xfrm>
            <a:off x="10974354" y="432237"/>
            <a:ext cx="121249" cy="121249"/>
          </a:xfrm>
          <a:prstGeom prst="ellipse">
            <a:avLst/>
          </a:prstGeom>
          <a:solidFill>
            <a:srgbClr val="0091FF"/>
          </a:solidFill>
          <a:ln/>
        </p:spPr>
      </p:sp>
      <p:sp>
        <p:nvSpPr>
          <p:cNvPr id="9" name="Shape 7"/>
          <p:cNvSpPr/>
          <p:nvPr/>
        </p:nvSpPr>
        <p:spPr>
          <a:xfrm>
            <a:off x="11594592" y="415138"/>
            <a:ext cx="93269" cy="93269"/>
          </a:xfrm>
          <a:prstGeom prst="ellipse">
            <a:avLst/>
          </a:prstGeom>
          <a:solidFill>
            <a:srgbClr val="FFB800"/>
          </a:solidFill>
          <a:ln/>
        </p:spPr>
      </p:sp>
      <p:sp>
        <p:nvSpPr>
          <p:cNvPr id="10" name="Shape 8"/>
          <p:cNvSpPr/>
          <p:nvPr/>
        </p:nvSpPr>
        <p:spPr>
          <a:xfrm>
            <a:off x="10972800" y="1021385"/>
            <a:ext cx="93269" cy="93269"/>
          </a:xfrm>
          <a:prstGeom prst="ellipse">
            <a:avLst/>
          </a:prstGeom>
          <a:solidFill>
            <a:srgbClr val="FF1F71"/>
          </a:solidFill>
          <a:ln/>
        </p:spPr>
      </p:sp>
      <p:sp>
        <p:nvSpPr>
          <p:cNvPr id="11" name="Shape 9"/>
          <p:cNvSpPr/>
          <p:nvPr/>
        </p:nvSpPr>
        <p:spPr>
          <a:xfrm>
            <a:off x="11596146" y="991850"/>
            <a:ext cx="121249" cy="121249"/>
          </a:xfrm>
          <a:prstGeom prst="ellipse">
            <a:avLst/>
          </a:prstGeom>
          <a:solidFill>
            <a:srgbClr val="0091FF"/>
          </a:solidFill>
          <a:ln/>
        </p:spPr>
      </p:sp>
      <p:sp>
        <p:nvSpPr>
          <p:cNvPr id="12" name="Shape 10"/>
          <p:cNvSpPr/>
          <p:nvPr/>
        </p:nvSpPr>
        <p:spPr>
          <a:xfrm>
            <a:off x="11256493" y="683285"/>
            <a:ext cx="178765" cy="178765"/>
          </a:xfrm>
          <a:prstGeom prst="ellipse">
            <a:avLst/>
          </a:prstGeom>
          <a:solidFill>
            <a:srgbClr val="1B0E3D"/>
          </a:solidFill>
          <a:ln w="19050">
            <a:solidFill>
              <a:srgbClr val="FFFFFF"/>
            </a:solidFill>
            <a:prstDash val="solid"/>
          </a:ln>
        </p:spPr>
      </p:sp>
      <p:sp>
        <p:nvSpPr>
          <p:cNvPr id="13" name="Shape 11"/>
          <p:cNvSpPr/>
          <p:nvPr/>
        </p:nvSpPr>
        <p:spPr>
          <a:xfrm>
            <a:off x="548640" y="1600200"/>
            <a:ext cx="6035040" cy="4434840"/>
          </a:xfrm>
          <a:prstGeom prst="roundRect">
            <a:avLst>
              <a:gd name="adj" fmla="val 2062"/>
            </a:avLst>
          </a:prstGeom>
          <a:solidFill>
            <a:srgbClr val="F5F3FA"/>
          </a:solidFill>
          <a:ln w="15875">
            <a:solidFill>
              <a:srgbClr val="0091FF"/>
            </a:solidFill>
            <a:prstDash val="dash"/>
          </a:ln>
        </p:spPr>
      </p:sp>
      <p:sp>
        <p:nvSpPr>
          <p:cNvPr id="14" name="Text 12"/>
          <p:cNvSpPr/>
          <p:nvPr/>
        </p:nvSpPr>
        <p:spPr>
          <a:xfrm>
            <a:off x="777240" y="1783080"/>
            <a:ext cx="5577840" cy="320040"/>
          </a:xfrm>
          <a:prstGeom prst="rect">
            <a:avLst/>
          </a:prstGeom>
          <a:noFill/>
          <a:ln/>
        </p:spPr>
        <p:txBody>
          <a:bodyPr wrap="square" lIns="0" tIns="0" rIns="0" bIns="0" rtlCol="0" anchor="ctr"/>
          <a:lstStyle/>
          <a:p>
            <a:pPr algn="l" indent="0" marL="0">
              <a:buNone/>
            </a:pPr>
            <a:r>
              <a:rPr lang="en-US" sz="1200" b="1" dirty="0">
                <a:solidFill>
                  <a:srgbClr val="0091FF"/>
                </a:solidFill>
                <a:latin typeface="Cambria" pitchFamily="34" charset="0"/>
                <a:ea typeface="Cambria" pitchFamily="34" charset="-122"/>
                <a:cs typeface="Cambria" pitchFamily="34" charset="-120"/>
              </a:rPr>
              <a:t>FIGURE 1</a:t>
            </a:r>
            <a:endParaRPr lang="en-US" sz="1200" dirty="0"/>
          </a:p>
        </p:txBody>
      </p:sp>
      <p:sp>
        <p:nvSpPr>
          <p:cNvPr id="15" name="Text 13"/>
          <p:cNvSpPr/>
          <p:nvPr/>
        </p:nvSpPr>
        <p:spPr>
          <a:xfrm>
            <a:off x="548640" y="3462833"/>
            <a:ext cx="6035040" cy="365760"/>
          </a:xfrm>
          <a:prstGeom prst="rect">
            <a:avLst/>
          </a:prstGeom>
          <a:noFill/>
          <a:ln/>
        </p:spPr>
        <p:txBody>
          <a:bodyPr wrap="square" lIns="0" tIns="0" rIns="0" bIns="0" rtlCol="0" anchor="ctr"/>
          <a:lstStyle/>
          <a:p>
            <a:pPr algn="ctr" indent="0" marL="0">
              <a:buNone/>
            </a:pPr>
            <a:r>
              <a:rPr lang="en-US" sz="1400" b="1" i="1" dirty="0">
                <a:solidFill>
                  <a:srgbClr val="9B93B8"/>
                </a:solidFill>
                <a:latin typeface="Cambria" pitchFamily="34" charset="0"/>
                <a:ea typeface="Cambria" pitchFamily="34" charset="-122"/>
                <a:cs typeface="Cambria" pitchFamily="34" charset="-120"/>
              </a:rPr>
              <a:t>insert figure here</a:t>
            </a:r>
            <a:endParaRPr lang="en-US" sz="1400" dirty="0"/>
          </a:p>
        </p:txBody>
      </p:sp>
      <p:sp>
        <p:nvSpPr>
          <p:cNvPr id="16" name="Text 14"/>
          <p:cNvSpPr/>
          <p:nvPr/>
        </p:nvSpPr>
        <p:spPr>
          <a:xfrm>
            <a:off x="822960" y="5468112"/>
            <a:ext cx="5486400" cy="457200"/>
          </a:xfrm>
          <a:prstGeom prst="rect">
            <a:avLst/>
          </a:prstGeom>
          <a:noFill/>
          <a:ln/>
        </p:spPr>
        <p:txBody>
          <a:bodyPr wrap="square" lIns="0" tIns="0" rIns="0" bIns="0" rtlCol="0" anchor="t"/>
          <a:lstStyle/>
          <a:p>
            <a:pPr algn="l" indent="0" marL="0">
              <a:buNone/>
            </a:pPr>
            <a:r>
              <a:rPr lang="en-US" sz="1000" i="1" dirty="0">
                <a:solidFill>
                  <a:srgbClr val="6B7280"/>
                </a:solidFill>
                <a:latin typeface="Cambria" pitchFamily="34" charset="0"/>
                <a:ea typeface="Cambria" pitchFamily="34" charset="-122"/>
                <a:cs typeface="Cambria" pitchFamily="34" charset="-120"/>
              </a:rPr>
              <a:t>Degree histogram (lin-log) + CCDF (linear &amp; log-log scale) — Part 3</a:t>
            </a:r>
            <a:endParaRPr lang="en-US" sz="1000" dirty="0"/>
          </a:p>
        </p:txBody>
      </p:sp>
      <p:sp>
        <p:nvSpPr>
          <p:cNvPr id="17" name="Shape 15"/>
          <p:cNvSpPr/>
          <p:nvPr/>
        </p:nvSpPr>
        <p:spPr>
          <a:xfrm>
            <a:off x="6949440" y="1728216"/>
            <a:ext cx="137160" cy="137160"/>
          </a:xfrm>
          <a:prstGeom prst="ellipse">
            <a:avLst/>
          </a:prstGeom>
          <a:solidFill>
            <a:srgbClr val="0091FF"/>
          </a:solidFill>
          <a:ln/>
        </p:spPr>
      </p:sp>
      <p:sp>
        <p:nvSpPr>
          <p:cNvPr id="18" name="Text 16"/>
          <p:cNvSpPr/>
          <p:nvPr/>
        </p:nvSpPr>
        <p:spPr>
          <a:xfrm>
            <a:off x="7242048" y="1591056"/>
            <a:ext cx="4370832" cy="475488"/>
          </a:xfrm>
          <a:prstGeom prst="rect">
            <a:avLst/>
          </a:prstGeom>
          <a:noFill/>
          <a:ln/>
        </p:spPr>
        <p:txBody>
          <a:bodyPr wrap="square" lIns="0" tIns="0" rIns="0" bIns="0" rtlCol="0" anchor="ctr"/>
          <a:lstStyle/>
          <a:p>
            <a:pPr indent="0" marL="0">
              <a:lnSpc>
                <a:spcPct val="102000"/>
              </a:lnSpc>
              <a:buNone/>
            </a:pPr>
            <a:r>
              <a:rPr lang="en-US" sz="1500" b="1" dirty="0">
                <a:solidFill>
                  <a:srgbClr val="0091FF"/>
                </a:solidFill>
                <a:latin typeface="Cambria" pitchFamily="34" charset="0"/>
                <a:ea typeface="Cambria" pitchFamily="34" charset="-122"/>
                <a:cs typeface="Cambria" pitchFamily="34" charset="-120"/>
              </a:rPr>
              <a:t>10.73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average degree ⟨k⟩</a:t>
            </a:r>
            <a:endParaRPr lang="en-US" sz="1500" dirty="0"/>
          </a:p>
        </p:txBody>
      </p:sp>
      <p:sp>
        <p:nvSpPr>
          <p:cNvPr id="19" name="Shape 17"/>
          <p:cNvSpPr/>
          <p:nvPr/>
        </p:nvSpPr>
        <p:spPr>
          <a:xfrm>
            <a:off x="6949440" y="2203704"/>
            <a:ext cx="137160" cy="137160"/>
          </a:xfrm>
          <a:prstGeom prst="ellipse">
            <a:avLst/>
          </a:prstGeom>
          <a:solidFill>
            <a:srgbClr val="FF1F71"/>
          </a:solidFill>
          <a:ln/>
        </p:spPr>
      </p:sp>
      <p:sp>
        <p:nvSpPr>
          <p:cNvPr id="20" name="Text 18"/>
          <p:cNvSpPr/>
          <p:nvPr/>
        </p:nvSpPr>
        <p:spPr>
          <a:xfrm>
            <a:off x="7242048" y="2066544"/>
            <a:ext cx="4370832" cy="475488"/>
          </a:xfrm>
          <a:prstGeom prst="rect">
            <a:avLst/>
          </a:prstGeom>
          <a:noFill/>
          <a:ln/>
        </p:spPr>
        <p:txBody>
          <a:bodyPr wrap="square" lIns="0" tIns="0" rIns="0" bIns="0" rtlCol="0" anchor="ctr"/>
          <a:lstStyle/>
          <a:p>
            <a:pPr indent="0" marL="0">
              <a:lnSpc>
                <a:spcPct val="102000"/>
              </a:lnSpc>
              <a:buNone/>
            </a:pPr>
            <a:r>
              <a:rPr lang="en-US" sz="1500" b="1" dirty="0">
                <a:solidFill>
                  <a:srgbClr val="FF1F71"/>
                </a:solidFill>
                <a:latin typeface="Cambria" pitchFamily="34" charset="0"/>
                <a:ea typeface="Cambria" pitchFamily="34" charset="-122"/>
                <a:cs typeface="Cambria" pitchFamily="34" charset="-120"/>
              </a:rPr>
              <a:t>1,383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maximum degree (node 5038)</a:t>
            </a:r>
            <a:endParaRPr lang="en-US" sz="1500" dirty="0"/>
          </a:p>
        </p:txBody>
      </p:sp>
      <p:sp>
        <p:nvSpPr>
          <p:cNvPr id="21" name="Shape 19"/>
          <p:cNvSpPr/>
          <p:nvPr/>
        </p:nvSpPr>
        <p:spPr>
          <a:xfrm>
            <a:off x="6949440" y="2679192"/>
            <a:ext cx="137160" cy="137160"/>
          </a:xfrm>
          <a:prstGeom prst="ellipse">
            <a:avLst/>
          </a:prstGeom>
          <a:solidFill>
            <a:srgbClr val="FFB800"/>
          </a:solidFill>
          <a:ln/>
        </p:spPr>
      </p:sp>
      <p:sp>
        <p:nvSpPr>
          <p:cNvPr id="22" name="Text 20"/>
          <p:cNvSpPr/>
          <p:nvPr/>
        </p:nvSpPr>
        <p:spPr>
          <a:xfrm>
            <a:off x="7242048" y="2542032"/>
            <a:ext cx="4370832" cy="475488"/>
          </a:xfrm>
          <a:prstGeom prst="rect">
            <a:avLst/>
          </a:prstGeom>
          <a:noFill/>
          <a:ln/>
        </p:spPr>
        <p:txBody>
          <a:bodyPr wrap="square" lIns="0" tIns="0" rIns="0" bIns="0" rtlCol="0" anchor="ctr"/>
          <a:lstStyle/>
          <a:p>
            <a:pPr indent="0" marL="0">
              <a:lnSpc>
                <a:spcPct val="102000"/>
              </a:lnSpc>
              <a:buNone/>
            </a:pPr>
            <a:r>
              <a:rPr lang="en-US" sz="1500" b="1" dirty="0">
                <a:solidFill>
                  <a:srgbClr val="FFB800"/>
                </a:solidFill>
                <a:latin typeface="Cambria" pitchFamily="34" charset="0"/>
                <a:ea typeface="Cambria" pitchFamily="34" charset="-122"/>
                <a:cs typeface="Cambria" pitchFamily="34" charset="-120"/>
              </a:rPr>
              <a:t>1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minimum degree</a:t>
            </a:r>
            <a:endParaRPr lang="en-US" sz="1500" dirty="0"/>
          </a:p>
        </p:txBody>
      </p:sp>
      <p:sp>
        <p:nvSpPr>
          <p:cNvPr id="23" name="Text 21"/>
          <p:cNvSpPr/>
          <p:nvPr/>
        </p:nvSpPr>
        <p:spPr>
          <a:xfrm>
            <a:off x="6949440" y="3145536"/>
            <a:ext cx="4663440" cy="256032"/>
          </a:xfrm>
          <a:prstGeom prst="rect">
            <a:avLst/>
          </a:prstGeom>
          <a:noFill/>
          <a:ln/>
        </p:spPr>
        <p:txBody>
          <a:bodyPr wrap="square" lIns="0" tIns="0" rIns="0" bIns="0" rtlCol="0" anchor="ctr"/>
          <a:lstStyle/>
          <a:p>
            <a:pPr indent="0" marL="0">
              <a:buNone/>
            </a:pPr>
            <a:r>
              <a:rPr lang="en-US" sz="1400" b="1" dirty="0">
                <a:solidFill>
                  <a:srgbClr val="1B0E3D"/>
                </a:solidFill>
                <a:latin typeface="Cambria" pitchFamily="34" charset="0"/>
                <a:ea typeface="Cambria" pitchFamily="34" charset="-122"/>
                <a:cs typeface="Cambria" pitchFamily="34" charset="-120"/>
              </a:rPr>
              <a:t>Top Hubs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49440" y="3456432"/>
          <a:ext cx="4663440" cy="914400"/>
        </p:xfrm>
        <a:graphic>
          <a:graphicData uri="http://schemas.openxmlformats.org/drawingml/2006/table">
            <a:tbl>
              <a:tblPr/>
              <a:tblGrid>
                <a:gridCol w="2743200"/>
                <a:gridCol w="1920240"/>
              </a:tblGrid>
              <a:tr h="274320">
                <a:tc>
                  <a:txBody>
                    <a:bodyPr/>
                    <a:lstStyle/>
                    <a:p>
                      <a:pPr indent="0" marL="0">
                        <a:buNone/>
                      </a:pPr>
                      <a:r>
                        <a:rPr lang="en-US" sz="1050" b="1" dirty="0">
                          <a:solidFill>
                            <a:srgbClr val="FFFFFF"/>
                          </a:solidFill>
                          <a:latin typeface="Cambria" pitchFamily="34" charset="0"/>
                          <a:ea typeface="Cambria" pitchFamily="34" charset="-122"/>
                          <a:cs typeface="Cambria" pitchFamily="34" charset="-120"/>
                        </a:rPr>
                        <a:t>Node</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1B0E3D"/>
                    </a:solidFill>
                  </a:tcPr>
                </a:tc>
                <a:tc>
                  <a:txBody>
                    <a:bodyPr/>
                    <a:lstStyle/>
                    <a:p>
                      <a:pPr algn="r" indent="0" marL="0">
                        <a:buNone/>
                      </a:pPr>
                      <a:r>
                        <a:rPr lang="en-US" sz="1050" b="1" dirty="0">
                          <a:solidFill>
                            <a:srgbClr val="FFFFFF"/>
                          </a:solidFill>
                          <a:latin typeface="Cambria" pitchFamily="34" charset="0"/>
                          <a:ea typeface="Cambria" pitchFamily="34" charset="-122"/>
                          <a:cs typeface="Cambria" pitchFamily="34" charset="-120"/>
                        </a:rPr>
                        <a:t>Degree</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1B0E3D"/>
                    </a:solidFill>
                  </a:tcPr>
                </a:tc>
              </a:tr>
              <a:tr h="274320">
                <a:tc>
                  <a:txBody>
                    <a:bodyPr/>
                    <a:lstStyle/>
                    <a:p>
                      <a:pPr indent="0" marL="0">
                        <a:buNone/>
                      </a:pPr>
                      <a:r>
                        <a:rPr lang="en-US" sz="1050" dirty="0">
                          <a:solidFill>
                            <a:srgbClr val="000000"/>
                          </a:solidFill>
                          <a:latin typeface="Cambria" pitchFamily="34" charset="0"/>
                          <a:ea typeface="Cambria" pitchFamily="34" charset="-122"/>
                          <a:cs typeface="Cambria" pitchFamily="34" charset="-120"/>
                        </a:rPr>
                        <a:t>5038</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mbria" pitchFamily="34" charset="0"/>
                          <a:ea typeface="Cambria" pitchFamily="34" charset="-122"/>
                          <a:cs typeface="Cambria" pitchFamily="34" charset="-120"/>
                        </a:rPr>
                        <a:t>1,383</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000000"/>
                          </a:solidFill>
                          <a:latin typeface="Cambria" pitchFamily="34" charset="0"/>
                          <a:ea typeface="Cambria" pitchFamily="34" charset="-122"/>
                          <a:cs typeface="Cambria" pitchFamily="34" charset="-120"/>
                        </a:rPr>
                        <a:t>273</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mbria" pitchFamily="34" charset="0"/>
                          <a:ea typeface="Cambria" pitchFamily="34" charset="-122"/>
                          <a:cs typeface="Cambria" pitchFamily="34" charset="-120"/>
                        </a:rPr>
                        <a:t>1,367</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000000"/>
                          </a:solidFill>
                          <a:latin typeface="Cambria" pitchFamily="34" charset="0"/>
                          <a:ea typeface="Cambria" pitchFamily="34" charset="-122"/>
                          <a:cs typeface="Cambria" pitchFamily="34" charset="-120"/>
                        </a:rPr>
                        <a:t>458</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mbria" pitchFamily="34" charset="0"/>
                          <a:ea typeface="Cambria" pitchFamily="34" charset="-122"/>
                          <a:cs typeface="Cambria" pitchFamily="34" charset="-120"/>
                        </a:rPr>
                        <a:t>1,261</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000000"/>
                          </a:solidFill>
                          <a:latin typeface="Cambria" pitchFamily="34" charset="0"/>
                          <a:ea typeface="Cambria" pitchFamily="34" charset="-122"/>
                          <a:cs typeface="Cambria" pitchFamily="34" charset="-120"/>
                        </a:rPr>
                        <a:t>140</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mbria" pitchFamily="34" charset="0"/>
                          <a:ea typeface="Cambria" pitchFamily="34" charset="-122"/>
                          <a:cs typeface="Cambria" pitchFamily="34" charset="-120"/>
                        </a:rPr>
                        <a:t>1,245</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r>
            </a:tbl>
          </a:graphicData>
        </a:graphic>
      </p:graphicFrame>
      <p:sp>
        <p:nvSpPr>
          <p:cNvPr id="25" name="Shape 22"/>
          <p:cNvSpPr/>
          <p:nvPr/>
        </p:nvSpPr>
        <p:spPr>
          <a:xfrm>
            <a:off x="6949440" y="5532120"/>
            <a:ext cx="4663440" cy="868680"/>
          </a:xfrm>
          <a:prstGeom prst="roundRect">
            <a:avLst>
              <a:gd name="adj" fmla="val 9474"/>
            </a:avLst>
          </a:prstGeom>
          <a:solidFill>
            <a:srgbClr val="FFEAF3"/>
          </a:solidFill>
          <a:ln/>
          <a:effectLst>
            <a:outerShdw sx="100000" sy="100000" kx="0" ky="0" algn="bl" rotWithShape="0" blurRad="76200" dist="25400" dir="5400000">
              <a:srgbClr val="000000">
                <a:alpha val="10000"/>
              </a:srgbClr>
            </a:outerShdw>
          </a:effectLst>
        </p:spPr>
      </p:sp>
      <p:sp>
        <p:nvSpPr>
          <p:cNvPr id="26" name="Shape 23"/>
          <p:cNvSpPr/>
          <p:nvPr/>
        </p:nvSpPr>
        <p:spPr>
          <a:xfrm>
            <a:off x="7150608" y="5829300"/>
            <a:ext cx="274320" cy="274320"/>
          </a:xfrm>
          <a:prstGeom prst="ellipse">
            <a:avLst/>
          </a:prstGeom>
          <a:solidFill>
            <a:srgbClr val="0091FF"/>
          </a:solidFill>
          <a:ln/>
        </p:spPr>
      </p:sp>
      <p:sp>
        <p:nvSpPr>
          <p:cNvPr id="27" name="Text 24"/>
          <p:cNvSpPr/>
          <p:nvPr/>
        </p:nvSpPr>
        <p:spPr>
          <a:xfrm>
            <a:off x="7150608" y="582930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a:t>
            </a:r>
            <a:endParaRPr lang="en-US" sz="1200" dirty="0"/>
          </a:p>
        </p:txBody>
      </p:sp>
      <p:sp>
        <p:nvSpPr>
          <p:cNvPr id="28" name="Text 25"/>
          <p:cNvSpPr/>
          <p:nvPr/>
        </p:nvSpPr>
        <p:spPr>
          <a:xfrm>
            <a:off x="7516368" y="5623560"/>
            <a:ext cx="3840480" cy="685800"/>
          </a:xfrm>
          <a:prstGeom prst="rect">
            <a:avLst/>
          </a:prstGeom>
          <a:noFill/>
          <a:ln/>
        </p:spPr>
        <p:txBody>
          <a:bodyPr wrap="square" lIns="0" tIns="0" rIns="0" bIns="0" rtlCol="0" anchor="ctr"/>
          <a:lstStyle/>
          <a:p>
            <a:pPr algn="l" indent="0" marL="0">
              <a:lnSpc>
                <a:spcPct val="108000"/>
              </a:lnSpc>
              <a:buNone/>
            </a:pPr>
            <a:r>
              <a:rPr lang="en-US" sz="1150" b="1" dirty="0">
                <a:solidFill>
                  <a:srgbClr val="0091FF"/>
                </a:solidFill>
                <a:latin typeface="Cambria" pitchFamily="34" charset="0"/>
                <a:ea typeface="Cambria" pitchFamily="34" charset="-122"/>
                <a:cs typeface="Cambria" pitchFamily="34" charset="-120"/>
              </a:rPr>
              <a:t>Q&amp;A-proof:  </a:t>
            </a:r>
            <a:pPr algn="l" indent="0" marL="0">
              <a:lnSpc>
                <a:spcPct val="108000"/>
              </a:lnSpc>
              <a:buNone/>
            </a:pPr>
            <a:r>
              <a:rPr lang="en-US" sz="1150" dirty="0">
                <a:solidFill>
                  <a:srgbClr val="1B0E3D"/>
                </a:solidFill>
                <a:latin typeface="Cambria" pitchFamily="34" charset="0"/>
                <a:ea typeface="Cambria" pitchFamily="34" charset="-122"/>
                <a:cs typeface="Cambria" pitchFamily="34" charset="-120"/>
              </a:rPr>
              <a:t>two orders of magnitude separate the average and maximum degree — a strong signature of hubs.</a:t>
            </a:r>
            <a:endParaRPr lang="en-US" sz="1150" dirty="0"/>
          </a:p>
        </p:txBody>
      </p:sp>
      <p:sp>
        <p:nvSpPr>
          <p:cNvPr id="29" name="Text 26"/>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B3AFC7"/>
                </a:solidFill>
                <a:latin typeface="Cambria" pitchFamily="34" charset="0"/>
                <a:ea typeface="Cambria" pitchFamily="34" charset="-122"/>
                <a:cs typeface="Cambria" pitchFamily="34" charset="-120"/>
              </a:rPr>
              <a:t>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50" b="1" spc="200" kern="0" dirty="0">
                <a:solidFill>
                  <a:srgbClr val="0091FF"/>
                </a:solidFill>
                <a:latin typeface="Cambria" pitchFamily="34" charset="0"/>
                <a:ea typeface="Cambria" pitchFamily="34" charset="-122"/>
                <a:cs typeface="Cambria" pitchFamily="34" charset="-120"/>
              </a:rPr>
              <a:t>PART 3 — FITTING</a:t>
            </a:r>
            <a:endParaRPr lang="en-US" sz="125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buNone/>
            </a:pPr>
            <a:r>
              <a:rPr lang="en-US" sz="3000" b="1" dirty="0">
                <a:solidFill>
                  <a:srgbClr val="1B0E3D"/>
                </a:solidFill>
                <a:latin typeface="Cambria" pitchFamily="34" charset="0"/>
                <a:ea typeface="Cambria" pitchFamily="34" charset="-122"/>
                <a:cs typeface="Cambria" pitchFamily="34" charset="-120"/>
              </a:rPr>
              <a:t>Is It Really a Power Law?</a:t>
            </a:r>
            <a:endParaRPr lang="en-US" sz="3000" dirty="0"/>
          </a:p>
        </p:txBody>
      </p:sp>
      <p:sp>
        <p:nvSpPr>
          <p:cNvPr id="4" name="Shape 2"/>
          <p:cNvSpPr/>
          <p:nvPr/>
        </p:nvSpPr>
        <p:spPr>
          <a:xfrm>
            <a:off x="11034979" y="492862"/>
            <a:ext cx="310896" cy="279806"/>
          </a:xfrm>
          <a:prstGeom prst="line">
            <a:avLst/>
          </a:prstGeom>
          <a:noFill/>
          <a:ln w="12700">
            <a:solidFill>
              <a:srgbClr val="CFC9E4"/>
            </a:solidFill>
            <a:prstDash val="solid"/>
          </a:ln>
        </p:spPr>
      </p:sp>
      <p:sp>
        <p:nvSpPr>
          <p:cNvPr id="5" name="Shape 3"/>
          <p:cNvSpPr/>
          <p:nvPr/>
        </p:nvSpPr>
        <p:spPr>
          <a:xfrm flipV="1">
            <a:off x="11345875" y="461772"/>
            <a:ext cx="295351" cy="310896"/>
          </a:xfrm>
          <a:prstGeom prst="line">
            <a:avLst/>
          </a:prstGeom>
          <a:noFill/>
          <a:ln w="12700">
            <a:solidFill>
              <a:srgbClr val="CFC9E4"/>
            </a:solidFill>
            <a:prstDash val="solid"/>
          </a:ln>
        </p:spPr>
      </p:sp>
      <p:sp>
        <p:nvSpPr>
          <p:cNvPr id="6" name="Shape 4"/>
          <p:cNvSpPr/>
          <p:nvPr/>
        </p:nvSpPr>
        <p:spPr>
          <a:xfrm flipV="1">
            <a:off x="11019434" y="772668"/>
            <a:ext cx="326441" cy="295351"/>
          </a:xfrm>
          <a:prstGeom prst="line">
            <a:avLst/>
          </a:prstGeom>
          <a:noFill/>
          <a:ln w="12700">
            <a:solidFill>
              <a:srgbClr val="CFC9E4"/>
            </a:solidFill>
            <a:prstDash val="solid"/>
          </a:ln>
        </p:spPr>
      </p:sp>
      <p:sp>
        <p:nvSpPr>
          <p:cNvPr id="7" name="Shape 5"/>
          <p:cNvSpPr/>
          <p:nvPr/>
        </p:nvSpPr>
        <p:spPr>
          <a:xfrm>
            <a:off x="11345875" y="772668"/>
            <a:ext cx="310896" cy="279806"/>
          </a:xfrm>
          <a:prstGeom prst="line">
            <a:avLst/>
          </a:prstGeom>
          <a:noFill/>
          <a:ln w="12700">
            <a:solidFill>
              <a:srgbClr val="CFC9E4"/>
            </a:solidFill>
            <a:prstDash val="solid"/>
          </a:ln>
        </p:spPr>
      </p:sp>
      <p:sp>
        <p:nvSpPr>
          <p:cNvPr id="8" name="Shape 6"/>
          <p:cNvSpPr/>
          <p:nvPr/>
        </p:nvSpPr>
        <p:spPr>
          <a:xfrm>
            <a:off x="10974354" y="432237"/>
            <a:ext cx="121249" cy="121249"/>
          </a:xfrm>
          <a:prstGeom prst="ellipse">
            <a:avLst/>
          </a:prstGeom>
          <a:solidFill>
            <a:srgbClr val="0091FF"/>
          </a:solidFill>
          <a:ln/>
        </p:spPr>
      </p:sp>
      <p:sp>
        <p:nvSpPr>
          <p:cNvPr id="9" name="Shape 7"/>
          <p:cNvSpPr/>
          <p:nvPr/>
        </p:nvSpPr>
        <p:spPr>
          <a:xfrm>
            <a:off x="11594592" y="415138"/>
            <a:ext cx="93269" cy="93269"/>
          </a:xfrm>
          <a:prstGeom prst="ellipse">
            <a:avLst/>
          </a:prstGeom>
          <a:solidFill>
            <a:srgbClr val="FFB800"/>
          </a:solidFill>
          <a:ln/>
        </p:spPr>
      </p:sp>
      <p:sp>
        <p:nvSpPr>
          <p:cNvPr id="10" name="Shape 8"/>
          <p:cNvSpPr/>
          <p:nvPr/>
        </p:nvSpPr>
        <p:spPr>
          <a:xfrm>
            <a:off x="10972800" y="1021385"/>
            <a:ext cx="93269" cy="93269"/>
          </a:xfrm>
          <a:prstGeom prst="ellipse">
            <a:avLst/>
          </a:prstGeom>
          <a:solidFill>
            <a:srgbClr val="FF1F71"/>
          </a:solidFill>
          <a:ln/>
        </p:spPr>
      </p:sp>
      <p:sp>
        <p:nvSpPr>
          <p:cNvPr id="11" name="Shape 9"/>
          <p:cNvSpPr/>
          <p:nvPr/>
        </p:nvSpPr>
        <p:spPr>
          <a:xfrm>
            <a:off x="11596146" y="991850"/>
            <a:ext cx="121249" cy="121249"/>
          </a:xfrm>
          <a:prstGeom prst="ellipse">
            <a:avLst/>
          </a:prstGeom>
          <a:solidFill>
            <a:srgbClr val="0091FF"/>
          </a:solidFill>
          <a:ln/>
        </p:spPr>
      </p:sp>
      <p:sp>
        <p:nvSpPr>
          <p:cNvPr id="12" name="Shape 10"/>
          <p:cNvSpPr/>
          <p:nvPr/>
        </p:nvSpPr>
        <p:spPr>
          <a:xfrm>
            <a:off x="11256493" y="683285"/>
            <a:ext cx="178765" cy="178765"/>
          </a:xfrm>
          <a:prstGeom prst="ellipse">
            <a:avLst/>
          </a:prstGeom>
          <a:solidFill>
            <a:srgbClr val="1B0E3D"/>
          </a:solidFill>
          <a:ln w="19050">
            <a:solidFill>
              <a:srgbClr val="FFFFFF"/>
            </a:solidFill>
            <a:prstDash val="solid"/>
          </a:ln>
        </p:spPr>
      </p:sp>
      <p:sp>
        <p:nvSpPr>
          <p:cNvPr id="13" name="Shape 11"/>
          <p:cNvSpPr/>
          <p:nvPr/>
        </p:nvSpPr>
        <p:spPr>
          <a:xfrm>
            <a:off x="548640" y="1600200"/>
            <a:ext cx="6035040" cy="2880360"/>
          </a:xfrm>
          <a:prstGeom prst="roundRect">
            <a:avLst>
              <a:gd name="adj" fmla="val 3175"/>
            </a:avLst>
          </a:prstGeom>
          <a:solidFill>
            <a:srgbClr val="F5F3FA"/>
          </a:solidFill>
          <a:ln w="15875">
            <a:solidFill>
              <a:srgbClr val="0091FF"/>
            </a:solidFill>
            <a:prstDash val="dash"/>
          </a:ln>
        </p:spPr>
      </p:sp>
      <p:sp>
        <p:nvSpPr>
          <p:cNvPr id="14" name="Text 12"/>
          <p:cNvSpPr/>
          <p:nvPr/>
        </p:nvSpPr>
        <p:spPr>
          <a:xfrm>
            <a:off x="777240" y="1783080"/>
            <a:ext cx="5577840" cy="320040"/>
          </a:xfrm>
          <a:prstGeom prst="rect">
            <a:avLst/>
          </a:prstGeom>
          <a:noFill/>
          <a:ln/>
        </p:spPr>
        <p:txBody>
          <a:bodyPr wrap="square" lIns="0" tIns="0" rIns="0" bIns="0" rtlCol="0" anchor="ctr"/>
          <a:lstStyle/>
          <a:p>
            <a:pPr algn="l" indent="0" marL="0">
              <a:buNone/>
            </a:pPr>
            <a:r>
              <a:rPr lang="en-US" sz="1200" b="1" dirty="0">
                <a:solidFill>
                  <a:srgbClr val="0091FF"/>
                </a:solidFill>
                <a:latin typeface="Cambria" pitchFamily="34" charset="0"/>
                <a:ea typeface="Cambria" pitchFamily="34" charset="-122"/>
                <a:cs typeface="Cambria" pitchFamily="34" charset="-120"/>
              </a:rPr>
              <a:t>FIGURE 2</a:t>
            </a:r>
            <a:endParaRPr lang="en-US" sz="1200" dirty="0"/>
          </a:p>
        </p:txBody>
      </p:sp>
      <p:sp>
        <p:nvSpPr>
          <p:cNvPr id="15" name="Text 13"/>
          <p:cNvSpPr/>
          <p:nvPr/>
        </p:nvSpPr>
        <p:spPr>
          <a:xfrm>
            <a:off x="548640" y="2809951"/>
            <a:ext cx="6035040" cy="365760"/>
          </a:xfrm>
          <a:prstGeom prst="rect">
            <a:avLst/>
          </a:prstGeom>
          <a:noFill/>
          <a:ln/>
        </p:spPr>
        <p:txBody>
          <a:bodyPr wrap="square" lIns="0" tIns="0" rIns="0" bIns="0" rtlCol="0" anchor="ctr"/>
          <a:lstStyle/>
          <a:p>
            <a:pPr algn="ctr" indent="0" marL="0">
              <a:buNone/>
            </a:pPr>
            <a:r>
              <a:rPr lang="en-US" sz="1400" b="1" i="1" dirty="0">
                <a:solidFill>
                  <a:srgbClr val="9B93B8"/>
                </a:solidFill>
                <a:latin typeface="Cambria" pitchFamily="34" charset="0"/>
                <a:ea typeface="Cambria" pitchFamily="34" charset="-122"/>
                <a:cs typeface="Cambria" pitchFamily="34" charset="-120"/>
              </a:rPr>
              <a:t>insert figure here</a:t>
            </a:r>
            <a:endParaRPr lang="en-US" sz="1400" dirty="0"/>
          </a:p>
        </p:txBody>
      </p:sp>
      <p:sp>
        <p:nvSpPr>
          <p:cNvPr id="16" name="Text 14"/>
          <p:cNvSpPr/>
          <p:nvPr/>
        </p:nvSpPr>
        <p:spPr>
          <a:xfrm>
            <a:off x="822960" y="3913632"/>
            <a:ext cx="5486400" cy="457200"/>
          </a:xfrm>
          <a:prstGeom prst="rect">
            <a:avLst/>
          </a:prstGeom>
          <a:noFill/>
          <a:ln/>
        </p:spPr>
        <p:txBody>
          <a:bodyPr wrap="square" lIns="0" tIns="0" rIns="0" bIns="0" rtlCol="0" anchor="t"/>
          <a:lstStyle/>
          <a:p>
            <a:pPr algn="l" indent="0" marL="0">
              <a:buNone/>
            </a:pPr>
            <a:r>
              <a:rPr lang="en-US" sz="1000" i="1" dirty="0">
                <a:solidFill>
                  <a:srgbClr val="6B7280"/>
                </a:solidFill>
                <a:latin typeface="Cambria" pitchFamily="34" charset="0"/>
                <a:ea typeface="Cambria" pitchFamily="34" charset="-122"/>
                <a:cs typeface="Cambria" pitchFamily="34" charset="-120"/>
              </a:rPr>
              <a:t>Empirical CCDF with power-law fit overlay (γ = 1.98, xmin = 5) — Part 3</a:t>
            </a:r>
            <a:endParaRPr lang="en-US" sz="1000" dirty="0"/>
          </a:p>
        </p:txBody>
      </p:sp>
      <p:sp>
        <p:nvSpPr>
          <p:cNvPr id="17" name="Text 15"/>
          <p:cNvSpPr/>
          <p:nvPr/>
        </p:nvSpPr>
        <p:spPr>
          <a:xfrm>
            <a:off x="548640" y="4553712"/>
            <a:ext cx="6035040" cy="256032"/>
          </a:xfrm>
          <a:prstGeom prst="rect">
            <a:avLst/>
          </a:prstGeom>
          <a:noFill/>
          <a:ln/>
        </p:spPr>
        <p:txBody>
          <a:bodyPr wrap="square" lIns="0" tIns="0" rIns="0" bIns="0" rtlCol="0" anchor="ctr"/>
          <a:lstStyle/>
          <a:p>
            <a:pPr indent="0" marL="0">
              <a:buNone/>
            </a:pPr>
            <a:r>
              <a:rPr lang="en-US" sz="1000" i="1" dirty="0">
                <a:solidFill>
                  <a:srgbClr val="6B7280"/>
                </a:solidFill>
                <a:latin typeface="Cambria" pitchFamily="34" charset="0"/>
                <a:ea typeface="Cambria" pitchFamily="34" charset="-122"/>
                <a:cs typeface="Cambria" pitchFamily="34" charset="-120"/>
              </a:rPr>
              <a:t>all comparisons vs. power law are significant (p &lt; 0.001)</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864608"/>
          <a:ext cx="6035040" cy="914400"/>
        </p:xfrm>
        <a:graphic>
          <a:graphicData uri="http://schemas.openxmlformats.org/drawingml/2006/table">
            <a:tbl>
              <a:tblPr/>
              <a:tblGrid>
                <a:gridCol w="2560320"/>
                <a:gridCol w="1737360"/>
                <a:gridCol w="1737360"/>
              </a:tblGrid>
              <a:tr h="329184">
                <a:tc>
                  <a:txBody>
                    <a:bodyPr/>
                    <a:lstStyle/>
                    <a:p>
                      <a:pPr indent="0" marL="0">
                        <a:buNone/>
                      </a:pPr>
                      <a:r>
                        <a:rPr lang="en-US" sz="1050" b="1" dirty="0">
                          <a:solidFill>
                            <a:srgbClr val="FFFFFF"/>
                          </a:solidFill>
                          <a:latin typeface="Cambria" pitchFamily="34" charset="0"/>
                          <a:ea typeface="Cambria" pitchFamily="34" charset="-122"/>
                          <a:cs typeface="Cambria" pitchFamily="34" charset="-120"/>
                        </a:rPr>
                        <a:t>Rival distribution</a:t>
                      </a:r>
                      <a:endParaRPr lang="en-US" sz="1050" dirty="0">
                        <a:latin typeface="Cambria" charset="0"/>
                        <a:ea typeface="Cambria" charset="0"/>
                        <a:cs typeface="Cambria" charset="0"/>
                      </a:endParaRPr>
                    </a:p>
                  </a:txBody>
                  <a:tcPr marL="38100" marR="38100" marT="38100" marB="381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1B0E3D"/>
                    </a:solidFill>
                  </a:tcPr>
                </a:tc>
                <a:tc>
                  <a:txBody>
                    <a:bodyPr/>
                    <a:lstStyle/>
                    <a:p>
                      <a:pPr algn="ctr" indent="0" marL="0">
                        <a:buNone/>
                      </a:pPr>
                      <a:r>
                        <a:rPr lang="en-US" sz="1050" b="1" dirty="0">
                          <a:solidFill>
                            <a:srgbClr val="FFFFFF"/>
                          </a:solidFill>
                          <a:latin typeface="Cambria" pitchFamily="34" charset="0"/>
                          <a:ea typeface="Cambria" pitchFamily="34" charset="-122"/>
                          <a:cs typeface="Cambria" pitchFamily="34" charset="-120"/>
                        </a:rPr>
                        <a:t>vs. Power Law</a:t>
                      </a:r>
                      <a:endParaRPr lang="en-US" sz="1050" dirty="0">
                        <a:latin typeface="Cambria" charset="0"/>
                        <a:ea typeface="Cambria" charset="0"/>
                        <a:cs typeface="Cambria" charset="0"/>
                      </a:endParaRPr>
                    </a:p>
                  </a:txBody>
                  <a:tcPr marL="38100" marR="38100" marT="38100" marB="381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1B0E3D"/>
                    </a:solidFill>
                  </a:tcPr>
                </a:tc>
                <a:tc>
                  <a:txBody>
                    <a:bodyPr/>
                    <a:lstStyle/>
                    <a:p>
                      <a:pPr algn="ctr" indent="0" marL="0">
                        <a:buNone/>
                      </a:pPr>
                      <a:r>
                        <a:rPr lang="en-US" sz="1050" b="1" dirty="0">
                          <a:solidFill>
                            <a:srgbClr val="FFFFFF"/>
                          </a:solidFill>
                          <a:latin typeface="Cambria" pitchFamily="34" charset="0"/>
                          <a:ea typeface="Cambria" pitchFamily="34" charset="-122"/>
                          <a:cs typeface="Cambria" pitchFamily="34" charset="-120"/>
                        </a:rPr>
                        <a:t>Verdict</a:t>
                      </a:r>
                      <a:endParaRPr lang="en-US" sz="1050" dirty="0">
                        <a:latin typeface="Cambria" charset="0"/>
                        <a:ea typeface="Cambria" charset="0"/>
                        <a:cs typeface="Cambria" charset="0"/>
                      </a:endParaRPr>
                    </a:p>
                  </a:txBody>
                  <a:tcPr marL="38100" marR="38100" marT="38100" marB="381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1B0E3D"/>
                    </a:solidFill>
                  </a:tcPr>
                </a:tc>
              </a:tr>
              <a:tr h="329184">
                <a:tc>
                  <a:txBody>
                    <a:bodyPr/>
                    <a:lstStyle/>
                    <a:p>
                      <a:pPr indent="0" marL="0">
                        <a:buNone/>
                      </a:pPr>
                      <a:r>
                        <a:rPr lang="en-US" sz="1050" dirty="0">
                          <a:solidFill>
                            <a:srgbClr val="000000"/>
                          </a:solidFill>
                          <a:latin typeface="Cambria" pitchFamily="34" charset="0"/>
                          <a:ea typeface="Cambria" pitchFamily="34" charset="-122"/>
                          <a:cs typeface="Cambria" pitchFamily="34" charset="-120"/>
                        </a:rPr>
                        <a:t>Exponential</a:t>
                      </a:r>
                      <a:endParaRPr lang="en-US" sz="1050" dirty="0">
                        <a:latin typeface="Cambria" charset="0"/>
                        <a:ea typeface="Cambria" charset="0"/>
                        <a:cs typeface="Cambria" charset="0"/>
                      </a:endParaRPr>
                    </a:p>
                  </a:txBody>
                  <a:tcPr marL="38100" marR="38100" marT="38100" marB="381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Cambria" pitchFamily="34" charset="0"/>
                          <a:ea typeface="Cambria" pitchFamily="34" charset="-122"/>
                          <a:cs typeface="Cambria" pitchFamily="34" charset="-120"/>
                        </a:rPr>
                        <a:t>R = +5,745</a:t>
                      </a:r>
                      <a:endParaRPr lang="en-US" sz="1050" dirty="0">
                        <a:latin typeface="Cambria" charset="0"/>
                        <a:ea typeface="Cambria" charset="0"/>
                        <a:cs typeface="Cambria" charset="0"/>
                      </a:endParaRPr>
                    </a:p>
                  </a:txBody>
                  <a:tcPr marL="38100" marR="38100" marT="38100" marB="381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7D32"/>
                          </a:solidFill>
                          <a:latin typeface="Cambria" pitchFamily="34" charset="0"/>
                          <a:ea typeface="Cambria" pitchFamily="34" charset="-122"/>
                          <a:cs typeface="Cambria" pitchFamily="34" charset="-120"/>
                        </a:rPr>
                        <a:t>PL wins</a:t>
                      </a:r>
                      <a:endParaRPr lang="en-US" sz="1050" dirty="0">
                        <a:latin typeface="Cambria" charset="0"/>
                        <a:ea typeface="Cambria" charset="0"/>
                        <a:cs typeface="Cambria" charset="0"/>
                      </a:endParaRPr>
                    </a:p>
                  </a:txBody>
                  <a:tcPr marL="38100" marR="38100" marT="38100" marB="381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000000"/>
                          </a:solidFill>
                          <a:latin typeface="Cambria" pitchFamily="34" charset="0"/>
                          <a:ea typeface="Cambria" pitchFamily="34" charset="-122"/>
                          <a:cs typeface="Cambria" pitchFamily="34" charset="-120"/>
                        </a:rPr>
                        <a:t>Lognormal</a:t>
                      </a:r>
                      <a:endParaRPr lang="en-US" sz="1050" dirty="0">
                        <a:latin typeface="Cambria" charset="0"/>
                        <a:ea typeface="Cambria" charset="0"/>
                        <a:cs typeface="Cambria" charset="0"/>
                      </a:endParaRPr>
                    </a:p>
                  </a:txBody>
                  <a:tcPr marL="38100" marR="38100" marT="38100" marB="381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Cambria" pitchFamily="34" charset="0"/>
                          <a:ea typeface="Cambria" pitchFamily="34" charset="-122"/>
                          <a:cs typeface="Cambria" pitchFamily="34" charset="-120"/>
                        </a:rPr>
                        <a:t>R = -42.9</a:t>
                      </a:r>
                      <a:endParaRPr lang="en-US" sz="1050" dirty="0">
                        <a:latin typeface="Cambria" charset="0"/>
                        <a:ea typeface="Cambria" charset="0"/>
                        <a:cs typeface="Cambria" charset="0"/>
                      </a:endParaRPr>
                    </a:p>
                  </a:txBody>
                  <a:tcPr marL="38100" marR="38100" marT="38100" marB="381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FF1F71"/>
                          </a:solidFill>
                          <a:latin typeface="Cambria" pitchFamily="34" charset="0"/>
                          <a:ea typeface="Cambria" pitchFamily="34" charset="-122"/>
                          <a:cs typeface="Cambria" pitchFamily="34" charset="-120"/>
                        </a:rPr>
                        <a:t>Lognormal wins</a:t>
                      </a:r>
                      <a:endParaRPr lang="en-US" sz="1050" dirty="0">
                        <a:latin typeface="Cambria" charset="0"/>
                        <a:ea typeface="Cambria" charset="0"/>
                        <a:cs typeface="Cambria" charset="0"/>
                      </a:endParaRPr>
                    </a:p>
                  </a:txBody>
                  <a:tcPr marL="38100" marR="38100" marT="38100" marB="381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000000"/>
                          </a:solidFill>
                          <a:latin typeface="Cambria" pitchFamily="34" charset="0"/>
                          <a:ea typeface="Cambria" pitchFamily="34" charset="-122"/>
                          <a:cs typeface="Cambria" pitchFamily="34" charset="-120"/>
                        </a:rPr>
                        <a:t>Truncated power law</a:t>
                      </a:r>
                      <a:endParaRPr lang="en-US" sz="1050" dirty="0">
                        <a:latin typeface="Cambria" charset="0"/>
                        <a:ea typeface="Cambria" charset="0"/>
                        <a:cs typeface="Cambria" charset="0"/>
                      </a:endParaRPr>
                    </a:p>
                  </a:txBody>
                  <a:tcPr marL="38100" marR="38100" marT="38100" marB="381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EAF3"/>
                    </a:solidFill>
                  </a:tcPr>
                </a:tc>
                <a:tc>
                  <a:txBody>
                    <a:bodyPr/>
                    <a:lstStyle/>
                    <a:p>
                      <a:pPr algn="ctr" indent="0" marL="0">
                        <a:buNone/>
                      </a:pPr>
                      <a:r>
                        <a:rPr lang="en-US" sz="1050" b="1" dirty="0">
                          <a:solidFill>
                            <a:srgbClr val="000000"/>
                          </a:solidFill>
                          <a:latin typeface="Cambria" pitchFamily="34" charset="0"/>
                          <a:ea typeface="Cambria" pitchFamily="34" charset="-122"/>
                          <a:cs typeface="Cambria" pitchFamily="34" charset="-120"/>
                        </a:rPr>
                        <a:t>R = -81.8</a:t>
                      </a:r>
                      <a:endParaRPr lang="en-US" sz="1050" dirty="0">
                        <a:latin typeface="Cambria" charset="0"/>
                        <a:ea typeface="Cambria" charset="0"/>
                        <a:cs typeface="Cambria" charset="0"/>
                      </a:endParaRPr>
                    </a:p>
                  </a:txBody>
                  <a:tcPr marL="38100" marR="38100" marT="38100" marB="381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EAF3"/>
                    </a:solidFill>
                  </a:tcPr>
                </a:tc>
                <a:tc>
                  <a:txBody>
                    <a:bodyPr/>
                    <a:lstStyle/>
                    <a:p>
                      <a:pPr algn="ctr" indent="0" marL="0">
                        <a:buNone/>
                      </a:pPr>
                      <a:r>
                        <a:rPr lang="en-US" sz="1050" b="1" dirty="0">
                          <a:solidFill>
                            <a:srgbClr val="FF1F71"/>
                          </a:solidFill>
                          <a:latin typeface="Cambria" pitchFamily="34" charset="0"/>
                          <a:ea typeface="Cambria" pitchFamily="34" charset="-122"/>
                          <a:cs typeface="Cambria" pitchFamily="34" charset="-120"/>
                        </a:rPr>
                        <a:t>TPL wins</a:t>
                      </a:r>
                      <a:endParaRPr lang="en-US" sz="1050" dirty="0">
                        <a:latin typeface="Cambria" charset="0"/>
                        <a:ea typeface="Cambria" charset="0"/>
                        <a:cs typeface="Cambria" charset="0"/>
                      </a:endParaRPr>
                    </a:p>
                  </a:txBody>
                  <a:tcPr marL="38100" marR="38100" marT="38100" marB="381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EAF3"/>
                    </a:solidFill>
                  </a:tcPr>
                </a:tc>
              </a:tr>
            </a:tbl>
          </a:graphicData>
        </a:graphic>
      </p:graphicFrame>
      <p:sp>
        <p:nvSpPr>
          <p:cNvPr id="19" name="Shape 16"/>
          <p:cNvSpPr/>
          <p:nvPr/>
        </p:nvSpPr>
        <p:spPr>
          <a:xfrm>
            <a:off x="6949440" y="1600200"/>
            <a:ext cx="4663440" cy="1371600"/>
          </a:xfrm>
          <a:prstGeom prst="roundRect">
            <a:avLst>
              <a:gd name="adj" fmla="val 6000"/>
            </a:avLst>
          </a:prstGeom>
          <a:solidFill>
            <a:srgbClr val="FFF6DF"/>
          </a:solidFill>
          <a:ln/>
          <a:effectLst>
            <a:outerShdw sx="100000" sy="100000" kx="0" ky="0" algn="bl" rotWithShape="0" blurRad="101600" dist="38100" dir="5400000">
              <a:srgbClr val="000000">
                <a:alpha val="14000"/>
              </a:srgbClr>
            </a:outerShdw>
          </a:effectLst>
        </p:spPr>
      </p:sp>
      <p:sp>
        <p:nvSpPr>
          <p:cNvPr id="20" name="Text 17"/>
          <p:cNvSpPr/>
          <p:nvPr/>
        </p:nvSpPr>
        <p:spPr>
          <a:xfrm>
            <a:off x="7178040" y="1755648"/>
            <a:ext cx="4206240" cy="274320"/>
          </a:xfrm>
          <a:prstGeom prst="rect">
            <a:avLst/>
          </a:prstGeom>
          <a:noFill/>
          <a:ln/>
        </p:spPr>
        <p:txBody>
          <a:bodyPr wrap="square" lIns="0" tIns="0" rIns="0" bIns="0" rtlCol="0" anchor="ctr"/>
          <a:lstStyle/>
          <a:p>
            <a:pPr indent="0" marL="0">
              <a:buNone/>
            </a:pPr>
            <a:r>
              <a:rPr lang="en-US" sz="1150" b="1" spc="100" kern="0" dirty="0">
                <a:solidFill>
                  <a:srgbClr val="8A5A00"/>
                </a:solidFill>
                <a:latin typeface="Cambria" pitchFamily="34" charset="0"/>
                <a:ea typeface="Cambria" pitchFamily="34" charset="-122"/>
                <a:cs typeface="Cambria" pitchFamily="34" charset="-120"/>
              </a:rPr>
              <a:t>BEST FIT: TRUNCATED POWER LAW</a:t>
            </a:r>
            <a:endParaRPr lang="en-US" sz="1150" dirty="0"/>
          </a:p>
        </p:txBody>
      </p:sp>
      <p:sp>
        <p:nvSpPr>
          <p:cNvPr id="21" name="Text 18"/>
          <p:cNvSpPr/>
          <p:nvPr/>
        </p:nvSpPr>
        <p:spPr>
          <a:xfrm>
            <a:off x="7178040" y="2057400"/>
            <a:ext cx="4206240" cy="548640"/>
          </a:xfrm>
          <a:prstGeom prst="rect">
            <a:avLst/>
          </a:prstGeom>
          <a:noFill/>
          <a:ln/>
        </p:spPr>
        <p:txBody>
          <a:bodyPr wrap="square" lIns="0" tIns="0" rIns="0" bIns="0" rtlCol="0" anchor="ctr"/>
          <a:lstStyle/>
          <a:p>
            <a:pPr indent="0" marL="0">
              <a:buNone/>
            </a:pPr>
            <a:r>
              <a:rPr lang="en-US" sz="2200" b="1" dirty="0">
                <a:solidFill>
                  <a:srgbClr val="1B0E3D"/>
                </a:solidFill>
                <a:latin typeface="Cambria" pitchFamily="34" charset="0"/>
                <a:ea typeface="Cambria" pitchFamily="34" charset="-122"/>
                <a:cs typeface="Cambria" pitchFamily="34" charset="-120"/>
              </a:rPr>
              <a:t>α = 1.87</a:t>
            </a:r>
            <a:pPr indent="0" marL="0">
              <a:buNone/>
            </a:pPr>
            <a:r>
              <a:rPr lang="en-US" sz="1600" dirty="0">
                <a:solidFill>
                  <a:srgbClr val="6B7280"/>
                </a:solidFill>
                <a:latin typeface="Cambria" pitchFamily="34" charset="0"/>
                <a:ea typeface="Cambria" pitchFamily="34" charset="-122"/>
                <a:cs typeface="Cambria" pitchFamily="34" charset="-120"/>
              </a:rPr>
              <a:t>   cutoff ≈ 590</a:t>
            </a:r>
            <a:endParaRPr lang="en-US" sz="2200" dirty="0"/>
          </a:p>
        </p:txBody>
      </p:sp>
      <p:sp>
        <p:nvSpPr>
          <p:cNvPr id="22" name="Text 19"/>
          <p:cNvSpPr/>
          <p:nvPr/>
        </p:nvSpPr>
        <p:spPr>
          <a:xfrm>
            <a:off x="7178040" y="2606040"/>
            <a:ext cx="4206240" cy="320040"/>
          </a:xfrm>
          <a:prstGeom prst="rect">
            <a:avLst/>
          </a:prstGeom>
          <a:noFill/>
          <a:ln/>
        </p:spPr>
        <p:txBody>
          <a:bodyPr wrap="square" lIns="0" tIns="0" rIns="0" bIns="0" rtlCol="0" anchor="ctr"/>
          <a:lstStyle/>
          <a:p>
            <a:pPr indent="0" marL="0">
              <a:buNone/>
            </a:pPr>
            <a:r>
              <a:rPr lang="en-US" sz="1050" i="1" dirty="0">
                <a:solidFill>
                  <a:srgbClr val="6B7280"/>
                </a:solidFill>
                <a:latin typeface="Cambria" pitchFamily="34" charset="0"/>
                <a:ea typeface="Cambria" pitchFamily="34" charset="-122"/>
                <a:cs typeface="Cambria" pitchFamily="34" charset="-120"/>
              </a:rPr>
              <a:t>power law up to a finite-size cutoff (of the order of the largest hub)</a:t>
            </a:r>
            <a:endParaRPr lang="en-US" sz="1050" dirty="0"/>
          </a:p>
        </p:txBody>
      </p:sp>
      <p:sp>
        <p:nvSpPr>
          <p:cNvPr id="23" name="Shape 20"/>
          <p:cNvSpPr/>
          <p:nvPr/>
        </p:nvSpPr>
        <p:spPr>
          <a:xfrm>
            <a:off x="6949440" y="3246120"/>
            <a:ext cx="4663440" cy="2606040"/>
          </a:xfrm>
          <a:prstGeom prst="roundRect">
            <a:avLst>
              <a:gd name="adj" fmla="val 3158"/>
            </a:avLst>
          </a:prstGeom>
          <a:solidFill>
            <a:srgbClr val="FFEAF3"/>
          </a:solidFill>
          <a:ln/>
          <a:effectLst>
            <a:outerShdw sx="100000" sy="100000" kx="0" ky="0" algn="bl" rotWithShape="0" blurRad="76200" dist="25400" dir="5400000">
              <a:srgbClr val="000000">
                <a:alpha val="10000"/>
              </a:srgbClr>
            </a:outerShdw>
          </a:effectLst>
        </p:spPr>
      </p:sp>
      <p:sp>
        <p:nvSpPr>
          <p:cNvPr id="24" name="Shape 21"/>
          <p:cNvSpPr/>
          <p:nvPr/>
        </p:nvSpPr>
        <p:spPr>
          <a:xfrm>
            <a:off x="7150608" y="4411980"/>
            <a:ext cx="274320" cy="274320"/>
          </a:xfrm>
          <a:prstGeom prst="ellipse">
            <a:avLst/>
          </a:prstGeom>
          <a:solidFill>
            <a:srgbClr val="FF1F71"/>
          </a:solidFill>
          <a:ln/>
        </p:spPr>
      </p:sp>
      <p:sp>
        <p:nvSpPr>
          <p:cNvPr id="25" name="Text 22"/>
          <p:cNvSpPr/>
          <p:nvPr/>
        </p:nvSpPr>
        <p:spPr>
          <a:xfrm>
            <a:off x="7150608" y="44119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a:t>
            </a:r>
            <a:endParaRPr lang="en-US" sz="1200" dirty="0"/>
          </a:p>
        </p:txBody>
      </p:sp>
      <p:sp>
        <p:nvSpPr>
          <p:cNvPr id="26" name="Text 23"/>
          <p:cNvSpPr/>
          <p:nvPr/>
        </p:nvSpPr>
        <p:spPr>
          <a:xfrm>
            <a:off x="7516368" y="3337560"/>
            <a:ext cx="3840480" cy="2423160"/>
          </a:xfrm>
          <a:prstGeom prst="rect">
            <a:avLst/>
          </a:prstGeom>
          <a:noFill/>
          <a:ln/>
        </p:spPr>
        <p:txBody>
          <a:bodyPr wrap="square" lIns="0" tIns="0" rIns="0" bIns="0" rtlCol="0" anchor="ctr"/>
          <a:lstStyle/>
          <a:p>
            <a:pPr algn="l" indent="0" marL="0">
              <a:lnSpc>
                <a:spcPct val="108000"/>
              </a:lnSpc>
              <a:buNone/>
            </a:pPr>
            <a:r>
              <a:rPr lang="en-US" sz="1150" b="1" dirty="0">
                <a:solidFill>
                  <a:srgbClr val="FF1F71"/>
                </a:solidFill>
                <a:latin typeface="Cambria" pitchFamily="34" charset="0"/>
                <a:ea typeface="Cambria" pitchFamily="34" charset="-122"/>
                <a:cs typeface="Cambria" pitchFamily="34" charset="-120"/>
              </a:rPr>
              <a:t>Q&amp;A-proof:  </a:t>
            </a:r>
            <a:pPr algn="l" indent="0" marL="0">
              <a:lnSpc>
                <a:spcPct val="108000"/>
              </a:lnSpc>
              <a:buNone/>
            </a:pPr>
            <a:r>
              <a:rPr lang="en-US" sz="1150" dirty="0">
                <a:solidFill>
                  <a:srgbClr val="1B0E3D"/>
                </a:solidFill>
                <a:latin typeface="Cambria" pitchFamily="34" charset="0"/>
                <a:ea typeface="Cambria" pitchFamily="34" charset="-122"/>
                <a:cs typeface="Cambria" pitchFamily="34" charset="-120"/>
              </a:rPr>
              <a:t>not a clean power law — say “heavy-tailed with a finite cutoff”, not “scale-free”. A heavy tail alone does not prove a scale-free generative mechanism (the SF-vs-HOT caveat from the robustness lectures): xmin = 5 means the law only describes the tail, not the whole distribution.</a:t>
            </a:r>
            <a:endParaRPr lang="en-US" sz="1150" dirty="0"/>
          </a:p>
        </p:txBody>
      </p:sp>
      <p:sp>
        <p:nvSpPr>
          <p:cNvPr id="27" name="Text 24"/>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B3AFC7"/>
                </a:solidFill>
                <a:latin typeface="Cambria" pitchFamily="34" charset="0"/>
                <a:ea typeface="Cambria" pitchFamily="34" charset="-122"/>
                <a:cs typeface="Cambria" pitchFamily="34" charset="-120"/>
              </a:rPr>
              <a:t>5 / 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50" b="1" spc="200" kern="0" dirty="0">
                <a:solidFill>
                  <a:srgbClr val="0091FF"/>
                </a:solidFill>
                <a:latin typeface="Cambria" pitchFamily="34" charset="0"/>
                <a:ea typeface="Cambria" pitchFamily="34" charset="-122"/>
                <a:cs typeface="Cambria" pitchFamily="34" charset="-120"/>
              </a:rPr>
              <a:t>PART 4A-4B</a:t>
            </a:r>
            <a:endParaRPr lang="en-US" sz="125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buNone/>
            </a:pPr>
            <a:r>
              <a:rPr lang="en-US" sz="3000" b="1" dirty="0">
                <a:solidFill>
                  <a:srgbClr val="1B0E3D"/>
                </a:solidFill>
                <a:latin typeface="Cambria" pitchFamily="34" charset="0"/>
                <a:ea typeface="Cambria" pitchFamily="34" charset="-122"/>
                <a:cs typeface="Cambria" pitchFamily="34" charset="-120"/>
              </a:rPr>
              <a:t>Clustering &amp; Small-World Paths</a:t>
            </a:r>
            <a:endParaRPr lang="en-US" sz="3000" dirty="0"/>
          </a:p>
        </p:txBody>
      </p:sp>
      <p:sp>
        <p:nvSpPr>
          <p:cNvPr id="4" name="Shape 2"/>
          <p:cNvSpPr/>
          <p:nvPr/>
        </p:nvSpPr>
        <p:spPr>
          <a:xfrm>
            <a:off x="11034979" y="492862"/>
            <a:ext cx="310896" cy="279806"/>
          </a:xfrm>
          <a:prstGeom prst="line">
            <a:avLst/>
          </a:prstGeom>
          <a:noFill/>
          <a:ln w="12700">
            <a:solidFill>
              <a:srgbClr val="CFC9E4"/>
            </a:solidFill>
            <a:prstDash val="solid"/>
          </a:ln>
        </p:spPr>
      </p:sp>
      <p:sp>
        <p:nvSpPr>
          <p:cNvPr id="5" name="Shape 3"/>
          <p:cNvSpPr/>
          <p:nvPr/>
        </p:nvSpPr>
        <p:spPr>
          <a:xfrm flipV="1">
            <a:off x="11345875" y="461772"/>
            <a:ext cx="295351" cy="310896"/>
          </a:xfrm>
          <a:prstGeom prst="line">
            <a:avLst/>
          </a:prstGeom>
          <a:noFill/>
          <a:ln w="12700">
            <a:solidFill>
              <a:srgbClr val="CFC9E4"/>
            </a:solidFill>
            <a:prstDash val="solid"/>
          </a:ln>
        </p:spPr>
      </p:sp>
      <p:sp>
        <p:nvSpPr>
          <p:cNvPr id="6" name="Shape 4"/>
          <p:cNvSpPr/>
          <p:nvPr/>
        </p:nvSpPr>
        <p:spPr>
          <a:xfrm flipV="1">
            <a:off x="11019434" y="772668"/>
            <a:ext cx="326441" cy="295351"/>
          </a:xfrm>
          <a:prstGeom prst="line">
            <a:avLst/>
          </a:prstGeom>
          <a:noFill/>
          <a:ln w="12700">
            <a:solidFill>
              <a:srgbClr val="CFC9E4"/>
            </a:solidFill>
            <a:prstDash val="solid"/>
          </a:ln>
        </p:spPr>
      </p:sp>
      <p:sp>
        <p:nvSpPr>
          <p:cNvPr id="7" name="Shape 5"/>
          <p:cNvSpPr/>
          <p:nvPr/>
        </p:nvSpPr>
        <p:spPr>
          <a:xfrm>
            <a:off x="11345875" y="772668"/>
            <a:ext cx="310896" cy="279806"/>
          </a:xfrm>
          <a:prstGeom prst="line">
            <a:avLst/>
          </a:prstGeom>
          <a:noFill/>
          <a:ln w="12700">
            <a:solidFill>
              <a:srgbClr val="CFC9E4"/>
            </a:solidFill>
            <a:prstDash val="solid"/>
          </a:ln>
        </p:spPr>
      </p:sp>
      <p:sp>
        <p:nvSpPr>
          <p:cNvPr id="8" name="Shape 6"/>
          <p:cNvSpPr/>
          <p:nvPr/>
        </p:nvSpPr>
        <p:spPr>
          <a:xfrm>
            <a:off x="10974354" y="432237"/>
            <a:ext cx="121249" cy="121249"/>
          </a:xfrm>
          <a:prstGeom prst="ellipse">
            <a:avLst/>
          </a:prstGeom>
          <a:solidFill>
            <a:srgbClr val="0091FF"/>
          </a:solidFill>
          <a:ln/>
        </p:spPr>
      </p:sp>
      <p:sp>
        <p:nvSpPr>
          <p:cNvPr id="9" name="Shape 7"/>
          <p:cNvSpPr/>
          <p:nvPr/>
        </p:nvSpPr>
        <p:spPr>
          <a:xfrm>
            <a:off x="11594592" y="415138"/>
            <a:ext cx="93269" cy="93269"/>
          </a:xfrm>
          <a:prstGeom prst="ellipse">
            <a:avLst/>
          </a:prstGeom>
          <a:solidFill>
            <a:srgbClr val="FFB800"/>
          </a:solidFill>
          <a:ln/>
        </p:spPr>
      </p:sp>
      <p:sp>
        <p:nvSpPr>
          <p:cNvPr id="10" name="Shape 8"/>
          <p:cNvSpPr/>
          <p:nvPr/>
        </p:nvSpPr>
        <p:spPr>
          <a:xfrm>
            <a:off x="10972800" y="1021385"/>
            <a:ext cx="93269" cy="93269"/>
          </a:xfrm>
          <a:prstGeom prst="ellipse">
            <a:avLst/>
          </a:prstGeom>
          <a:solidFill>
            <a:srgbClr val="FF1F71"/>
          </a:solidFill>
          <a:ln/>
        </p:spPr>
      </p:sp>
      <p:sp>
        <p:nvSpPr>
          <p:cNvPr id="11" name="Shape 9"/>
          <p:cNvSpPr/>
          <p:nvPr/>
        </p:nvSpPr>
        <p:spPr>
          <a:xfrm>
            <a:off x="11596146" y="991850"/>
            <a:ext cx="121249" cy="121249"/>
          </a:xfrm>
          <a:prstGeom prst="ellipse">
            <a:avLst/>
          </a:prstGeom>
          <a:solidFill>
            <a:srgbClr val="0091FF"/>
          </a:solidFill>
          <a:ln/>
        </p:spPr>
      </p:sp>
      <p:sp>
        <p:nvSpPr>
          <p:cNvPr id="12" name="Shape 10"/>
          <p:cNvSpPr/>
          <p:nvPr/>
        </p:nvSpPr>
        <p:spPr>
          <a:xfrm>
            <a:off x="11256493" y="683285"/>
            <a:ext cx="178765" cy="178765"/>
          </a:xfrm>
          <a:prstGeom prst="ellipse">
            <a:avLst/>
          </a:prstGeom>
          <a:solidFill>
            <a:srgbClr val="1B0E3D"/>
          </a:solidFill>
          <a:ln w="19050">
            <a:solidFill>
              <a:srgbClr val="FFFFFF"/>
            </a:solidFill>
            <a:prstDash val="solid"/>
          </a:ln>
        </p:spPr>
      </p:sp>
      <p:sp>
        <p:nvSpPr>
          <p:cNvPr id="13" name="Shape 11"/>
          <p:cNvSpPr/>
          <p:nvPr/>
        </p:nvSpPr>
        <p:spPr>
          <a:xfrm>
            <a:off x="548640" y="1600200"/>
            <a:ext cx="6035040" cy="4434840"/>
          </a:xfrm>
          <a:prstGeom prst="roundRect">
            <a:avLst>
              <a:gd name="adj" fmla="val 2062"/>
            </a:avLst>
          </a:prstGeom>
          <a:solidFill>
            <a:srgbClr val="F5F3FA"/>
          </a:solidFill>
          <a:ln w="15875">
            <a:solidFill>
              <a:srgbClr val="0091FF"/>
            </a:solidFill>
            <a:prstDash val="dash"/>
          </a:ln>
        </p:spPr>
      </p:sp>
      <p:sp>
        <p:nvSpPr>
          <p:cNvPr id="14" name="Text 12"/>
          <p:cNvSpPr/>
          <p:nvPr/>
        </p:nvSpPr>
        <p:spPr>
          <a:xfrm>
            <a:off x="777240" y="1783080"/>
            <a:ext cx="5577840" cy="320040"/>
          </a:xfrm>
          <a:prstGeom prst="rect">
            <a:avLst/>
          </a:prstGeom>
          <a:noFill/>
          <a:ln/>
        </p:spPr>
        <p:txBody>
          <a:bodyPr wrap="square" lIns="0" tIns="0" rIns="0" bIns="0" rtlCol="0" anchor="ctr"/>
          <a:lstStyle/>
          <a:p>
            <a:pPr algn="l" indent="0" marL="0">
              <a:buNone/>
            </a:pPr>
            <a:r>
              <a:rPr lang="en-US" sz="1200" b="1" dirty="0">
                <a:solidFill>
                  <a:srgbClr val="0091FF"/>
                </a:solidFill>
                <a:latin typeface="Cambria" pitchFamily="34" charset="0"/>
                <a:ea typeface="Cambria" pitchFamily="34" charset="-122"/>
                <a:cs typeface="Cambria" pitchFamily="34" charset="-120"/>
              </a:rPr>
              <a:t>FIGURE 3</a:t>
            </a:r>
            <a:endParaRPr lang="en-US" sz="1200" dirty="0"/>
          </a:p>
        </p:txBody>
      </p:sp>
      <p:sp>
        <p:nvSpPr>
          <p:cNvPr id="15" name="Text 13"/>
          <p:cNvSpPr/>
          <p:nvPr/>
        </p:nvSpPr>
        <p:spPr>
          <a:xfrm>
            <a:off x="548640" y="3462833"/>
            <a:ext cx="6035040" cy="365760"/>
          </a:xfrm>
          <a:prstGeom prst="rect">
            <a:avLst/>
          </a:prstGeom>
          <a:noFill/>
          <a:ln/>
        </p:spPr>
        <p:txBody>
          <a:bodyPr wrap="square" lIns="0" tIns="0" rIns="0" bIns="0" rtlCol="0" anchor="ctr"/>
          <a:lstStyle/>
          <a:p>
            <a:pPr algn="ctr" indent="0" marL="0">
              <a:buNone/>
            </a:pPr>
            <a:r>
              <a:rPr lang="en-US" sz="1400" b="1" i="1" dirty="0">
                <a:solidFill>
                  <a:srgbClr val="9B93B8"/>
                </a:solidFill>
                <a:latin typeface="Cambria" pitchFamily="34" charset="0"/>
                <a:ea typeface="Cambria" pitchFamily="34" charset="-122"/>
                <a:cs typeface="Cambria" pitchFamily="34" charset="-120"/>
              </a:rPr>
              <a:t>insert figure here</a:t>
            </a:r>
            <a:endParaRPr lang="en-US" sz="1400" dirty="0"/>
          </a:p>
        </p:txBody>
      </p:sp>
      <p:sp>
        <p:nvSpPr>
          <p:cNvPr id="16" name="Text 14"/>
          <p:cNvSpPr/>
          <p:nvPr/>
        </p:nvSpPr>
        <p:spPr>
          <a:xfrm>
            <a:off x="822960" y="5468112"/>
            <a:ext cx="5486400" cy="457200"/>
          </a:xfrm>
          <a:prstGeom prst="rect">
            <a:avLst/>
          </a:prstGeom>
          <a:noFill/>
          <a:ln/>
        </p:spPr>
        <p:txBody>
          <a:bodyPr wrap="square" lIns="0" tIns="0" rIns="0" bIns="0" rtlCol="0" anchor="t"/>
          <a:lstStyle/>
          <a:p>
            <a:pPr algn="l" indent="0" marL="0">
              <a:buNone/>
            </a:pPr>
            <a:r>
              <a:rPr lang="en-US" sz="1000" i="1" dirty="0">
                <a:solidFill>
                  <a:srgbClr val="6B7280"/>
                </a:solidFill>
                <a:latin typeface="Cambria" pitchFamily="34" charset="0"/>
                <a:ea typeface="Cambria" pitchFamily="34" charset="-122"/>
                <a:cs typeface="Cambria" pitchFamily="34" charset="-120"/>
              </a:rPr>
              <a:t>Average local clustering C(k) vs. degree k, log-log scale — Part 4a</a:t>
            </a:r>
            <a:endParaRPr lang="en-US" sz="1000" dirty="0"/>
          </a:p>
        </p:txBody>
      </p:sp>
      <p:sp>
        <p:nvSpPr>
          <p:cNvPr id="17" name="Text 15"/>
          <p:cNvSpPr/>
          <p:nvPr/>
        </p:nvSpPr>
        <p:spPr>
          <a:xfrm>
            <a:off x="6949440" y="1627632"/>
            <a:ext cx="4663440" cy="256032"/>
          </a:xfrm>
          <a:prstGeom prst="rect">
            <a:avLst/>
          </a:prstGeom>
          <a:noFill/>
          <a:ln/>
        </p:spPr>
        <p:txBody>
          <a:bodyPr wrap="square" lIns="0" tIns="0" rIns="0" bIns="0" rtlCol="0" anchor="ctr"/>
          <a:lstStyle/>
          <a:p>
            <a:pPr indent="0" marL="0">
              <a:buNone/>
            </a:pPr>
            <a:r>
              <a:rPr lang="en-US" sz="1450" b="1" dirty="0">
                <a:solidFill>
                  <a:srgbClr val="1B0E3D"/>
                </a:solidFill>
                <a:latin typeface="Cambria" pitchFamily="34" charset="0"/>
                <a:ea typeface="Cambria" pitchFamily="34" charset="-122"/>
                <a:cs typeface="Cambria" pitchFamily="34" charset="-120"/>
              </a:rPr>
              <a:t>Clustering</a:t>
            </a:r>
            <a:endParaRPr lang="en-US" sz="1450" dirty="0"/>
          </a:p>
        </p:txBody>
      </p:sp>
      <p:sp>
        <p:nvSpPr>
          <p:cNvPr id="18" name="Shape 16"/>
          <p:cNvSpPr/>
          <p:nvPr/>
        </p:nvSpPr>
        <p:spPr>
          <a:xfrm>
            <a:off x="6949440" y="1965960"/>
            <a:ext cx="137160" cy="137160"/>
          </a:xfrm>
          <a:prstGeom prst="ellipse">
            <a:avLst/>
          </a:prstGeom>
          <a:solidFill>
            <a:srgbClr val="0091FF"/>
          </a:solidFill>
          <a:ln/>
        </p:spPr>
      </p:sp>
      <p:sp>
        <p:nvSpPr>
          <p:cNvPr id="19" name="Text 17"/>
          <p:cNvSpPr/>
          <p:nvPr/>
        </p:nvSpPr>
        <p:spPr>
          <a:xfrm>
            <a:off x="7242048" y="1828800"/>
            <a:ext cx="4370832" cy="420624"/>
          </a:xfrm>
          <a:prstGeom prst="rect">
            <a:avLst/>
          </a:prstGeom>
          <a:noFill/>
          <a:ln/>
        </p:spPr>
        <p:txBody>
          <a:bodyPr wrap="square" lIns="0" tIns="0" rIns="0" bIns="0" rtlCol="0" anchor="ctr"/>
          <a:lstStyle/>
          <a:p>
            <a:pPr indent="0" marL="0">
              <a:lnSpc>
                <a:spcPct val="102000"/>
              </a:lnSpc>
              <a:buNone/>
            </a:pPr>
            <a:r>
              <a:rPr lang="en-US" sz="1500" b="1" dirty="0">
                <a:solidFill>
                  <a:srgbClr val="0091FF"/>
                </a:solidFill>
                <a:latin typeface="Cambria" pitchFamily="34" charset="0"/>
                <a:ea typeface="Cambria" pitchFamily="34" charset="-122"/>
                <a:cs typeface="Cambria" pitchFamily="34" charset="-120"/>
              </a:rPr>
              <a:t>0.085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global clustering C₁ (transitivity)</a:t>
            </a:r>
            <a:endParaRPr lang="en-US" sz="1500" dirty="0"/>
          </a:p>
        </p:txBody>
      </p:sp>
      <p:sp>
        <p:nvSpPr>
          <p:cNvPr id="20" name="Shape 18"/>
          <p:cNvSpPr/>
          <p:nvPr/>
        </p:nvSpPr>
        <p:spPr>
          <a:xfrm>
            <a:off x="6949440" y="2386584"/>
            <a:ext cx="137160" cy="137160"/>
          </a:xfrm>
          <a:prstGeom prst="ellipse">
            <a:avLst/>
          </a:prstGeom>
          <a:solidFill>
            <a:srgbClr val="FFB800"/>
          </a:solidFill>
          <a:ln/>
        </p:spPr>
      </p:sp>
      <p:sp>
        <p:nvSpPr>
          <p:cNvPr id="21" name="Text 19"/>
          <p:cNvSpPr/>
          <p:nvPr/>
        </p:nvSpPr>
        <p:spPr>
          <a:xfrm>
            <a:off x="7242048" y="2249424"/>
            <a:ext cx="4370832" cy="420624"/>
          </a:xfrm>
          <a:prstGeom prst="rect">
            <a:avLst/>
          </a:prstGeom>
          <a:noFill/>
          <a:ln/>
        </p:spPr>
        <p:txBody>
          <a:bodyPr wrap="square" lIns="0" tIns="0" rIns="0" bIns="0" rtlCol="0" anchor="ctr"/>
          <a:lstStyle/>
          <a:p>
            <a:pPr indent="0" marL="0">
              <a:lnSpc>
                <a:spcPct val="102000"/>
              </a:lnSpc>
              <a:buNone/>
            </a:pPr>
            <a:r>
              <a:rPr lang="en-US" sz="1500" b="1" dirty="0">
                <a:solidFill>
                  <a:srgbClr val="FFB800"/>
                </a:solidFill>
                <a:latin typeface="Cambria" pitchFamily="34" charset="0"/>
                <a:ea typeface="Cambria" pitchFamily="34" charset="-122"/>
                <a:cs typeface="Cambria" pitchFamily="34" charset="-120"/>
              </a:rPr>
              <a:t>0.509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average local clustering C₂</a:t>
            </a:r>
            <a:endParaRPr lang="en-US" sz="1500" dirty="0"/>
          </a:p>
        </p:txBody>
      </p:sp>
      <p:sp>
        <p:nvSpPr>
          <p:cNvPr id="22" name="Shape 20"/>
          <p:cNvSpPr/>
          <p:nvPr/>
        </p:nvSpPr>
        <p:spPr>
          <a:xfrm>
            <a:off x="6949440" y="2807208"/>
            <a:ext cx="137160" cy="137160"/>
          </a:xfrm>
          <a:prstGeom prst="ellipse">
            <a:avLst/>
          </a:prstGeom>
          <a:solidFill>
            <a:srgbClr val="FF1F71"/>
          </a:solidFill>
          <a:ln/>
        </p:spPr>
      </p:sp>
      <p:sp>
        <p:nvSpPr>
          <p:cNvPr id="23" name="Text 21"/>
          <p:cNvSpPr/>
          <p:nvPr/>
        </p:nvSpPr>
        <p:spPr>
          <a:xfrm>
            <a:off x="7242048" y="2670048"/>
            <a:ext cx="4370832" cy="420624"/>
          </a:xfrm>
          <a:prstGeom prst="rect">
            <a:avLst/>
          </a:prstGeom>
          <a:noFill/>
          <a:ln/>
        </p:spPr>
        <p:txBody>
          <a:bodyPr wrap="square" lIns="0" tIns="0" rIns="0" bIns="0" rtlCol="0" anchor="ctr"/>
          <a:lstStyle/>
          <a:p>
            <a:pPr indent="0" marL="0">
              <a:lnSpc>
                <a:spcPct val="102000"/>
              </a:lnSpc>
              <a:buNone/>
            </a:pPr>
            <a:r>
              <a:rPr lang="en-US" sz="1500" b="1" dirty="0">
                <a:solidFill>
                  <a:srgbClr val="FF1F71"/>
                </a:solidFill>
                <a:latin typeface="Cambria" pitchFamily="34" charset="0"/>
                <a:ea typeface="Cambria" pitchFamily="34" charset="-122"/>
                <a:cs typeface="Cambria" pitchFamily="34" charset="-120"/>
              </a:rPr>
              <a:t>1,599×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higher than the equivalent ER graph</a:t>
            </a:r>
            <a:endParaRPr lang="en-US" sz="1500" dirty="0"/>
          </a:p>
        </p:txBody>
      </p:sp>
      <p:sp>
        <p:nvSpPr>
          <p:cNvPr id="24" name="Text 22"/>
          <p:cNvSpPr/>
          <p:nvPr/>
        </p:nvSpPr>
        <p:spPr>
          <a:xfrm>
            <a:off x="6949440" y="3255264"/>
            <a:ext cx="4663440" cy="256032"/>
          </a:xfrm>
          <a:prstGeom prst="rect">
            <a:avLst/>
          </a:prstGeom>
          <a:noFill/>
          <a:ln/>
        </p:spPr>
        <p:txBody>
          <a:bodyPr wrap="square" lIns="0" tIns="0" rIns="0" bIns="0" rtlCol="0" anchor="ctr"/>
          <a:lstStyle/>
          <a:p>
            <a:pPr indent="0" marL="0">
              <a:buNone/>
            </a:pPr>
            <a:r>
              <a:rPr lang="en-US" sz="1450" b="1" dirty="0">
                <a:solidFill>
                  <a:srgbClr val="1B0E3D"/>
                </a:solidFill>
                <a:latin typeface="Cambria" pitchFamily="34" charset="0"/>
                <a:ea typeface="Cambria" pitchFamily="34" charset="-122"/>
                <a:cs typeface="Cambria" pitchFamily="34" charset="-120"/>
              </a:rPr>
              <a:t>Paths</a:t>
            </a:r>
            <a:endParaRPr lang="en-US" sz="1450" dirty="0"/>
          </a:p>
        </p:txBody>
      </p:sp>
      <p:sp>
        <p:nvSpPr>
          <p:cNvPr id="25" name="Shape 23"/>
          <p:cNvSpPr/>
          <p:nvPr/>
        </p:nvSpPr>
        <p:spPr>
          <a:xfrm>
            <a:off x="6949440" y="3593592"/>
            <a:ext cx="137160" cy="137160"/>
          </a:xfrm>
          <a:prstGeom prst="ellipse">
            <a:avLst/>
          </a:prstGeom>
          <a:solidFill>
            <a:srgbClr val="0091FF"/>
          </a:solidFill>
          <a:ln/>
        </p:spPr>
      </p:sp>
      <p:sp>
        <p:nvSpPr>
          <p:cNvPr id="26" name="Text 24"/>
          <p:cNvSpPr/>
          <p:nvPr/>
        </p:nvSpPr>
        <p:spPr>
          <a:xfrm>
            <a:off x="7242048" y="3456432"/>
            <a:ext cx="4370832" cy="402336"/>
          </a:xfrm>
          <a:prstGeom prst="rect">
            <a:avLst/>
          </a:prstGeom>
          <a:noFill/>
          <a:ln/>
        </p:spPr>
        <p:txBody>
          <a:bodyPr wrap="square" lIns="0" tIns="0" rIns="0" bIns="0" rtlCol="0" anchor="ctr"/>
          <a:lstStyle/>
          <a:p>
            <a:pPr indent="0" marL="0">
              <a:lnSpc>
                <a:spcPct val="102000"/>
              </a:lnSpc>
              <a:buNone/>
            </a:pPr>
            <a:r>
              <a:rPr lang="en-US" sz="1500" b="1" dirty="0">
                <a:solidFill>
                  <a:srgbClr val="0091FF"/>
                </a:solidFill>
                <a:latin typeface="Cambria" pitchFamily="34" charset="0"/>
                <a:ea typeface="Cambria" pitchFamily="34" charset="-122"/>
                <a:cs typeface="Cambria" pitchFamily="34" charset="-120"/>
              </a:rPr>
              <a:t>3.96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average path length ⟨d⟩ (sampled)</a:t>
            </a:r>
            <a:endParaRPr lang="en-US" sz="1500" dirty="0"/>
          </a:p>
        </p:txBody>
      </p:sp>
      <p:sp>
        <p:nvSpPr>
          <p:cNvPr id="27" name="Shape 25"/>
          <p:cNvSpPr/>
          <p:nvPr/>
        </p:nvSpPr>
        <p:spPr>
          <a:xfrm>
            <a:off x="6949440" y="3995928"/>
            <a:ext cx="137160" cy="137160"/>
          </a:xfrm>
          <a:prstGeom prst="ellipse">
            <a:avLst/>
          </a:prstGeom>
          <a:solidFill>
            <a:srgbClr val="FFB800"/>
          </a:solidFill>
          <a:ln/>
        </p:spPr>
      </p:sp>
      <p:sp>
        <p:nvSpPr>
          <p:cNvPr id="28" name="Text 26"/>
          <p:cNvSpPr/>
          <p:nvPr/>
        </p:nvSpPr>
        <p:spPr>
          <a:xfrm>
            <a:off x="7242048" y="3858768"/>
            <a:ext cx="4370832" cy="402336"/>
          </a:xfrm>
          <a:prstGeom prst="rect">
            <a:avLst/>
          </a:prstGeom>
          <a:noFill/>
          <a:ln/>
        </p:spPr>
        <p:txBody>
          <a:bodyPr wrap="square" lIns="0" tIns="0" rIns="0" bIns="0" rtlCol="0" anchor="ctr"/>
          <a:lstStyle/>
          <a:p>
            <a:pPr indent="0" marL="0">
              <a:lnSpc>
                <a:spcPct val="102000"/>
              </a:lnSpc>
              <a:buNone/>
            </a:pPr>
            <a:r>
              <a:rPr lang="en-US" sz="1500" b="1" dirty="0">
                <a:solidFill>
                  <a:srgbClr val="FFB800"/>
                </a:solidFill>
                <a:latin typeface="Cambria" pitchFamily="34" charset="0"/>
                <a:ea typeface="Cambria" pitchFamily="34" charset="-122"/>
                <a:cs typeface="Cambria" pitchFamily="34" charset="-120"/>
              </a:rPr>
              <a:t>4.39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small-world benchmark ln N / ln⟨k⟩</a:t>
            </a:r>
            <a:endParaRPr lang="en-US" sz="1500" dirty="0"/>
          </a:p>
        </p:txBody>
      </p:sp>
      <p:sp>
        <p:nvSpPr>
          <p:cNvPr id="29" name="Shape 27"/>
          <p:cNvSpPr/>
          <p:nvPr/>
        </p:nvSpPr>
        <p:spPr>
          <a:xfrm>
            <a:off x="6949440" y="4398264"/>
            <a:ext cx="137160" cy="137160"/>
          </a:xfrm>
          <a:prstGeom prst="ellipse">
            <a:avLst/>
          </a:prstGeom>
          <a:solidFill>
            <a:srgbClr val="FF1F71"/>
          </a:solidFill>
          <a:ln/>
        </p:spPr>
      </p:sp>
      <p:sp>
        <p:nvSpPr>
          <p:cNvPr id="30" name="Text 28"/>
          <p:cNvSpPr/>
          <p:nvPr/>
        </p:nvSpPr>
        <p:spPr>
          <a:xfrm>
            <a:off x="7242048" y="4261104"/>
            <a:ext cx="4370832" cy="402336"/>
          </a:xfrm>
          <a:prstGeom prst="rect">
            <a:avLst/>
          </a:prstGeom>
          <a:noFill/>
          <a:ln/>
        </p:spPr>
        <p:txBody>
          <a:bodyPr wrap="square" lIns="0" tIns="0" rIns="0" bIns="0" rtlCol="0" anchor="ctr"/>
          <a:lstStyle/>
          <a:p>
            <a:pPr indent="0" marL="0">
              <a:lnSpc>
                <a:spcPct val="102000"/>
              </a:lnSpc>
              <a:buNone/>
            </a:pPr>
            <a:r>
              <a:rPr lang="en-US" sz="1500" b="1" dirty="0">
                <a:solidFill>
                  <a:srgbClr val="FF1F71"/>
                </a:solidFill>
                <a:latin typeface="Cambria" pitchFamily="34" charset="0"/>
                <a:ea typeface="Cambria" pitchFamily="34" charset="-122"/>
                <a:cs typeface="Cambria" pitchFamily="34" charset="-120"/>
              </a:rPr>
              <a:t>13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diameter (lower-bound estimate)</a:t>
            </a:r>
            <a:endParaRPr lang="en-US" sz="1500" dirty="0"/>
          </a:p>
        </p:txBody>
      </p:sp>
      <p:sp>
        <p:nvSpPr>
          <p:cNvPr id="31" name="Shape 29"/>
          <p:cNvSpPr/>
          <p:nvPr/>
        </p:nvSpPr>
        <p:spPr>
          <a:xfrm>
            <a:off x="6949440" y="4864608"/>
            <a:ext cx="4663440" cy="749808"/>
          </a:xfrm>
          <a:prstGeom prst="roundRect">
            <a:avLst>
              <a:gd name="adj" fmla="val 10976"/>
            </a:avLst>
          </a:prstGeom>
          <a:solidFill>
            <a:srgbClr val="FFEAF3"/>
          </a:solidFill>
          <a:ln/>
          <a:effectLst>
            <a:outerShdw sx="100000" sy="100000" kx="0" ky="0" algn="bl" rotWithShape="0" blurRad="76200" dist="25400" dir="5400000">
              <a:srgbClr val="000000">
                <a:alpha val="10000"/>
              </a:srgbClr>
            </a:outerShdw>
          </a:effectLst>
        </p:spPr>
      </p:sp>
      <p:sp>
        <p:nvSpPr>
          <p:cNvPr id="32" name="Shape 30"/>
          <p:cNvSpPr/>
          <p:nvPr/>
        </p:nvSpPr>
        <p:spPr>
          <a:xfrm>
            <a:off x="7150608" y="5102352"/>
            <a:ext cx="274320" cy="274320"/>
          </a:xfrm>
          <a:prstGeom prst="ellipse">
            <a:avLst/>
          </a:prstGeom>
          <a:solidFill>
            <a:srgbClr val="FFB800"/>
          </a:solidFill>
          <a:ln/>
        </p:spPr>
      </p:sp>
      <p:sp>
        <p:nvSpPr>
          <p:cNvPr id="33" name="Text 31"/>
          <p:cNvSpPr/>
          <p:nvPr/>
        </p:nvSpPr>
        <p:spPr>
          <a:xfrm>
            <a:off x="7150608" y="51023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a:t>
            </a:r>
            <a:endParaRPr lang="en-US" sz="1200" dirty="0"/>
          </a:p>
        </p:txBody>
      </p:sp>
      <p:sp>
        <p:nvSpPr>
          <p:cNvPr id="34" name="Text 32"/>
          <p:cNvSpPr/>
          <p:nvPr/>
        </p:nvSpPr>
        <p:spPr>
          <a:xfrm>
            <a:off x="7516368" y="4956048"/>
            <a:ext cx="3840480" cy="566928"/>
          </a:xfrm>
          <a:prstGeom prst="rect">
            <a:avLst/>
          </a:prstGeom>
          <a:noFill/>
          <a:ln/>
        </p:spPr>
        <p:txBody>
          <a:bodyPr wrap="square" lIns="0" tIns="0" rIns="0" bIns="0" rtlCol="0" anchor="ctr"/>
          <a:lstStyle/>
          <a:p>
            <a:pPr algn="l" indent="0" marL="0">
              <a:lnSpc>
                <a:spcPct val="108000"/>
              </a:lnSpc>
              <a:buNone/>
            </a:pPr>
            <a:r>
              <a:rPr lang="en-US" sz="1150" b="1" dirty="0">
                <a:solidFill>
                  <a:srgbClr val="FFB800"/>
                </a:solidFill>
                <a:latin typeface="Cambria" pitchFamily="34" charset="0"/>
                <a:ea typeface="Cambria" pitchFamily="34" charset="-122"/>
                <a:cs typeface="Cambria" pitchFamily="34" charset="-120"/>
              </a:rPr>
              <a:t>Reading:  </a:t>
            </a:r>
            <a:pPr algn="l" indent="0" marL="0">
              <a:lnSpc>
                <a:spcPct val="108000"/>
              </a:lnSpc>
              <a:buNone/>
            </a:pPr>
            <a:r>
              <a:rPr lang="en-US" sz="1150" dirty="0">
                <a:solidFill>
                  <a:srgbClr val="1B0E3D"/>
                </a:solidFill>
                <a:latin typeface="Cambria" pitchFamily="34" charset="0"/>
                <a:ea typeface="Cambria" pitchFamily="34" charset="-122"/>
                <a:cs typeface="Cambria" pitchFamily="34" charset="-120"/>
              </a:rPr>
              <a:t>hubs act as shortcuts connecting distant parts of the network — the mechanism behind small-world behaviour in heavy-tailed graphs.</a:t>
            </a:r>
            <a:endParaRPr lang="en-US" sz="1150" dirty="0"/>
          </a:p>
        </p:txBody>
      </p:sp>
      <p:sp>
        <p:nvSpPr>
          <p:cNvPr id="35" name="Shape 33"/>
          <p:cNvSpPr/>
          <p:nvPr/>
        </p:nvSpPr>
        <p:spPr>
          <a:xfrm>
            <a:off x="6949440" y="5705856"/>
            <a:ext cx="4663440" cy="749808"/>
          </a:xfrm>
          <a:prstGeom prst="roundRect">
            <a:avLst>
              <a:gd name="adj" fmla="val 10976"/>
            </a:avLst>
          </a:prstGeom>
          <a:solidFill>
            <a:srgbClr val="FFEAF3"/>
          </a:solidFill>
          <a:ln/>
          <a:effectLst>
            <a:outerShdw sx="100000" sy="100000" kx="0" ky="0" algn="bl" rotWithShape="0" blurRad="76200" dist="25400" dir="5400000">
              <a:srgbClr val="000000">
                <a:alpha val="10000"/>
              </a:srgbClr>
            </a:outerShdw>
          </a:effectLst>
        </p:spPr>
      </p:sp>
      <p:sp>
        <p:nvSpPr>
          <p:cNvPr id="36" name="Shape 34"/>
          <p:cNvSpPr/>
          <p:nvPr/>
        </p:nvSpPr>
        <p:spPr>
          <a:xfrm>
            <a:off x="7150608" y="5943600"/>
            <a:ext cx="274320" cy="274320"/>
          </a:xfrm>
          <a:prstGeom prst="ellipse">
            <a:avLst/>
          </a:prstGeom>
          <a:solidFill>
            <a:srgbClr val="0091FF"/>
          </a:solidFill>
          <a:ln/>
        </p:spPr>
      </p:sp>
      <p:sp>
        <p:nvSpPr>
          <p:cNvPr id="37" name="Text 35"/>
          <p:cNvSpPr/>
          <p:nvPr/>
        </p:nvSpPr>
        <p:spPr>
          <a:xfrm>
            <a:off x="7150608" y="594360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a:t>
            </a:r>
            <a:endParaRPr lang="en-US" sz="1200" dirty="0"/>
          </a:p>
        </p:txBody>
      </p:sp>
      <p:sp>
        <p:nvSpPr>
          <p:cNvPr id="38" name="Text 36"/>
          <p:cNvSpPr/>
          <p:nvPr/>
        </p:nvSpPr>
        <p:spPr>
          <a:xfrm>
            <a:off x="7516368" y="5797296"/>
            <a:ext cx="3840480" cy="566928"/>
          </a:xfrm>
          <a:prstGeom prst="rect">
            <a:avLst/>
          </a:prstGeom>
          <a:noFill/>
          <a:ln/>
        </p:spPr>
        <p:txBody>
          <a:bodyPr wrap="square" lIns="0" tIns="0" rIns="0" bIns="0" rtlCol="0" anchor="ctr"/>
          <a:lstStyle/>
          <a:p>
            <a:pPr algn="l" indent="0" marL="0">
              <a:lnSpc>
                <a:spcPct val="108000"/>
              </a:lnSpc>
              <a:buNone/>
            </a:pPr>
            <a:r>
              <a:rPr lang="en-US" sz="1150" b="1" dirty="0">
                <a:solidFill>
                  <a:srgbClr val="0091FF"/>
                </a:solidFill>
                <a:latin typeface="Cambria" pitchFamily="34" charset="0"/>
                <a:ea typeface="Cambria" pitchFamily="34" charset="-122"/>
                <a:cs typeface="Cambria" pitchFamily="34" charset="-120"/>
              </a:rPr>
              <a:t>Q&amp;A-proof:  </a:t>
            </a:r>
            <a:pPr algn="l" indent="0" marL="0">
              <a:lnSpc>
                <a:spcPct val="108000"/>
              </a:lnSpc>
              <a:buNone/>
            </a:pPr>
            <a:r>
              <a:rPr lang="en-US" sz="1150" dirty="0">
                <a:solidFill>
                  <a:srgbClr val="1B0E3D"/>
                </a:solidFill>
                <a:latin typeface="Cambria" pitchFamily="34" charset="0"/>
                <a:ea typeface="Cambria" pitchFamily="34" charset="-122"/>
                <a:cs typeface="Cambria" pitchFamily="34" charset="-120"/>
              </a:rPr>
              <a:t>benchmark is ln N / ln⟨k⟩ ≈ 4.4 — NOT ln N ≈ 10.4. High clustering is not automatic in a scale-free network — here it comes from real triadic closure.</a:t>
            </a:r>
            <a:endParaRPr lang="en-US" sz="1150" dirty="0"/>
          </a:p>
        </p:txBody>
      </p:sp>
      <p:sp>
        <p:nvSpPr>
          <p:cNvPr id="39" name="Text 37"/>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B3AFC7"/>
                </a:solidFill>
                <a:latin typeface="Cambria" pitchFamily="34" charset="0"/>
                <a:ea typeface="Cambria" pitchFamily="34" charset="-122"/>
                <a:cs typeface="Cambria" pitchFamily="34" charset="-120"/>
              </a:rPr>
              <a:t>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50" b="1" spc="200" kern="0" dirty="0">
                <a:solidFill>
                  <a:srgbClr val="0091FF"/>
                </a:solidFill>
                <a:latin typeface="Cambria" pitchFamily="34" charset="0"/>
                <a:ea typeface="Cambria" pitchFamily="34" charset="-122"/>
                <a:cs typeface="Cambria" pitchFamily="34" charset="-120"/>
              </a:rPr>
              <a:t>PART 4C-4D</a:t>
            </a:r>
            <a:endParaRPr lang="en-US" sz="125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buNone/>
            </a:pPr>
            <a:r>
              <a:rPr lang="en-US" sz="3000" b="1" dirty="0">
                <a:solidFill>
                  <a:srgbClr val="1B0E3D"/>
                </a:solidFill>
                <a:latin typeface="Cambria" pitchFamily="34" charset="0"/>
                <a:ea typeface="Cambria" pitchFamily="34" charset="-122"/>
                <a:cs typeface="Cambria" pitchFamily="34" charset="-120"/>
              </a:rPr>
              <a:t>Assortativity &amp; Centrality</a:t>
            </a:r>
            <a:endParaRPr lang="en-US" sz="3000" dirty="0"/>
          </a:p>
        </p:txBody>
      </p:sp>
      <p:sp>
        <p:nvSpPr>
          <p:cNvPr id="4" name="Shape 2"/>
          <p:cNvSpPr/>
          <p:nvPr/>
        </p:nvSpPr>
        <p:spPr>
          <a:xfrm>
            <a:off x="11034979" y="492862"/>
            <a:ext cx="310896" cy="279806"/>
          </a:xfrm>
          <a:prstGeom prst="line">
            <a:avLst/>
          </a:prstGeom>
          <a:noFill/>
          <a:ln w="12700">
            <a:solidFill>
              <a:srgbClr val="CFC9E4"/>
            </a:solidFill>
            <a:prstDash val="solid"/>
          </a:ln>
        </p:spPr>
      </p:sp>
      <p:sp>
        <p:nvSpPr>
          <p:cNvPr id="5" name="Shape 3"/>
          <p:cNvSpPr/>
          <p:nvPr/>
        </p:nvSpPr>
        <p:spPr>
          <a:xfrm flipV="1">
            <a:off x="11345875" y="461772"/>
            <a:ext cx="295351" cy="310896"/>
          </a:xfrm>
          <a:prstGeom prst="line">
            <a:avLst/>
          </a:prstGeom>
          <a:noFill/>
          <a:ln w="12700">
            <a:solidFill>
              <a:srgbClr val="CFC9E4"/>
            </a:solidFill>
            <a:prstDash val="solid"/>
          </a:ln>
        </p:spPr>
      </p:sp>
      <p:sp>
        <p:nvSpPr>
          <p:cNvPr id="6" name="Shape 4"/>
          <p:cNvSpPr/>
          <p:nvPr/>
        </p:nvSpPr>
        <p:spPr>
          <a:xfrm flipV="1">
            <a:off x="11019434" y="772668"/>
            <a:ext cx="326441" cy="295351"/>
          </a:xfrm>
          <a:prstGeom prst="line">
            <a:avLst/>
          </a:prstGeom>
          <a:noFill/>
          <a:ln w="12700">
            <a:solidFill>
              <a:srgbClr val="CFC9E4"/>
            </a:solidFill>
            <a:prstDash val="solid"/>
          </a:ln>
        </p:spPr>
      </p:sp>
      <p:sp>
        <p:nvSpPr>
          <p:cNvPr id="7" name="Shape 5"/>
          <p:cNvSpPr/>
          <p:nvPr/>
        </p:nvSpPr>
        <p:spPr>
          <a:xfrm>
            <a:off x="11345875" y="772668"/>
            <a:ext cx="310896" cy="279806"/>
          </a:xfrm>
          <a:prstGeom prst="line">
            <a:avLst/>
          </a:prstGeom>
          <a:noFill/>
          <a:ln w="12700">
            <a:solidFill>
              <a:srgbClr val="CFC9E4"/>
            </a:solidFill>
            <a:prstDash val="solid"/>
          </a:ln>
        </p:spPr>
      </p:sp>
      <p:sp>
        <p:nvSpPr>
          <p:cNvPr id="8" name="Shape 6"/>
          <p:cNvSpPr/>
          <p:nvPr/>
        </p:nvSpPr>
        <p:spPr>
          <a:xfrm>
            <a:off x="10974354" y="432237"/>
            <a:ext cx="121249" cy="121249"/>
          </a:xfrm>
          <a:prstGeom prst="ellipse">
            <a:avLst/>
          </a:prstGeom>
          <a:solidFill>
            <a:srgbClr val="0091FF"/>
          </a:solidFill>
          <a:ln/>
        </p:spPr>
      </p:sp>
      <p:sp>
        <p:nvSpPr>
          <p:cNvPr id="9" name="Shape 7"/>
          <p:cNvSpPr/>
          <p:nvPr/>
        </p:nvSpPr>
        <p:spPr>
          <a:xfrm>
            <a:off x="11594592" y="415138"/>
            <a:ext cx="93269" cy="93269"/>
          </a:xfrm>
          <a:prstGeom prst="ellipse">
            <a:avLst/>
          </a:prstGeom>
          <a:solidFill>
            <a:srgbClr val="FFB800"/>
          </a:solidFill>
          <a:ln/>
        </p:spPr>
      </p:sp>
      <p:sp>
        <p:nvSpPr>
          <p:cNvPr id="10" name="Shape 8"/>
          <p:cNvSpPr/>
          <p:nvPr/>
        </p:nvSpPr>
        <p:spPr>
          <a:xfrm>
            <a:off x="10972800" y="1021385"/>
            <a:ext cx="93269" cy="93269"/>
          </a:xfrm>
          <a:prstGeom prst="ellipse">
            <a:avLst/>
          </a:prstGeom>
          <a:solidFill>
            <a:srgbClr val="FF1F71"/>
          </a:solidFill>
          <a:ln/>
        </p:spPr>
      </p:sp>
      <p:sp>
        <p:nvSpPr>
          <p:cNvPr id="11" name="Shape 9"/>
          <p:cNvSpPr/>
          <p:nvPr/>
        </p:nvSpPr>
        <p:spPr>
          <a:xfrm>
            <a:off x="11596146" y="991850"/>
            <a:ext cx="121249" cy="121249"/>
          </a:xfrm>
          <a:prstGeom prst="ellipse">
            <a:avLst/>
          </a:prstGeom>
          <a:solidFill>
            <a:srgbClr val="0091FF"/>
          </a:solidFill>
          <a:ln/>
        </p:spPr>
      </p:sp>
      <p:sp>
        <p:nvSpPr>
          <p:cNvPr id="12" name="Shape 10"/>
          <p:cNvSpPr/>
          <p:nvPr/>
        </p:nvSpPr>
        <p:spPr>
          <a:xfrm>
            <a:off x="11256493" y="683285"/>
            <a:ext cx="178765" cy="178765"/>
          </a:xfrm>
          <a:prstGeom prst="ellipse">
            <a:avLst/>
          </a:prstGeom>
          <a:solidFill>
            <a:srgbClr val="1B0E3D"/>
          </a:solidFill>
          <a:ln w="19050">
            <a:solidFill>
              <a:srgbClr val="FFFFFF"/>
            </a:solidFill>
            <a:prstDash val="solid"/>
          </a:ln>
        </p:spPr>
      </p:sp>
      <p:sp>
        <p:nvSpPr>
          <p:cNvPr id="13" name="Shape 11"/>
          <p:cNvSpPr/>
          <p:nvPr/>
        </p:nvSpPr>
        <p:spPr>
          <a:xfrm>
            <a:off x="548640" y="1600200"/>
            <a:ext cx="6035040" cy="4434840"/>
          </a:xfrm>
          <a:prstGeom prst="roundRect">
            <a:avLst>
              <a:gd name="adj" fmla="val 2062"/>
            </a:avLst>
          </a:prstGeom>
          <a:solidFill>
            <a:srgbClr val="F5F3FA"/>
          </a:solidFill>
          <a:ln w="15875">
            <a:solidFill>
              <a:srgbClr val="0091FF"/>
            </a:solidFill>
            <a:prstDash val="dash"/>
          </a:ln>
        </p:spPr>
      </p:sp>
      <p:sp>
        <p:nvSpPr>
          <p:cNvPr id="14" name="Text 12"/>
          <p:cNvSpPr/>
          <p:nvPr/>
        </p:nvSpPr>
        <p:spPr>
          <a:xfrm>
            <a:off x="777240" y="1783080"/>
            <a:ext cx="5577840" cy="320040"/>
          </a:xfrm>
          <a:prstGeom prst="rect">
            <a:avLst/>
          </a:prstGeom>
          <a:noFill/>
          <a:ln/>
        </p:spPr>
        <p:txBody>
          <a:bodyPr wrap="square" lIns="0" tIns="0" rIns="0" bIns="0" rtlCol="0" anchor="ctr"/>
          <a:lstStyle/>
          <a:p>
            <a:pPr algn="l" indent="0" marL="0">
              <a:buNone/>
            </a:pPr>
            <a:r>
              <a:rPr lang="en-US" sz="1200" b="1" dirty="0">
                <a:solidFill>
                  <a:srgbClr val="0091FF"/>
                </a:solidFill>
                <a:latin typeface="Cambria" pitchFamily="34" charset="0"/>
                <a:ea typeface="Cambria" pitchFamily="34" charset="-122"/>
                <a:cs typeface="Cambria" pitchFamily="34" charset="-120"/>
              </a:rPr>
              <a:t>FIGURE 4</a:t>
            </a:r>
            <a:endParaRPr lang="en-US" sz="1200" dirty="0"/>
          </a:p>
        </p:txBody>
      </p:sp>
      <p:sp>
        <p:nvSpPr>
          <p:cNvPr id="15" name="Text 13"/>
          <p:cNvSpPr/>
          <p:nvPr/>
        </p:nvSpPr>
        <p:spPr>
          <a:xfrm>
            <a:off x="548640" y="3462833"/>
            <a:ext cx="6035040" cy="365760"/>
          </a:xfrm>
          <a:prstGeom prst="rect">
            <a:avLst/>
          </a:prstGeom>
          <a:noFill/>
          <a:ln/>
        </p:spPr>
        <p:txBody>
          <a:bodyPr wrap="square" lIns="0" tIns="0" rIns="0" bIns="0" rtlCol="0" anchor="ctr"/>
          <a:lstStyle/>
          <a:p>
            <a:pPr algn="ctr" indent="0" marL="0">
              <a:buNone/>
            </a:pPr>
            <a:r>
              <a:rPr lang="en-US" sz="1400" b="1" i="1" dirty="0">
                <a:solidFill>
                  <a:srgbClr val="9B93B8"/>
                </a:solidFill>
                <a:latin typeface="Cambria" pitchFamily="34" charset="0"/>
                <a:ea typeface="Cambria" pitchFamily="34" charset="-122"/>
                <a:cs typeface="Cambria" pitchFamily="34" charset="-120"/>
              </a:rPr>
              <a:t>insert figure here</a:t>
            </a:r>
            <a:endParaRPr lang="en-US" sz="1400" dirty="0"/>
          </a:p>
        </p:txBody>
      </p:sp>
      <p:sp>
        <p:nvSpPr>
          <p:cNvPr id="16" name="Text 14"/>
          <p:cNvSpPr/>
          <p:nvPr/>
        </p:nvSpPr>
        <p:spPr>
          <a:xfrm>
            <a:off x="822960" y="5468112"/>
            <a:ext cx="5486400" cy="457200"/>
          </a:xfrm>
          <a:prstGeom prst="rect">
            <a:avLst/>
          </a:prstGeom>
          <a:noFill/>
          <a:ln/>
        </p:spPr>
        <p:txBody>
          <a:bodyPr wrap="square" lIns="0" tIns="0" rIns="0" bIns="0" rtlCol="0" anchor="t"/>
          <a:lstStyle/>
          <a:p>
            <a:pPr algn="l" indent="0" marL="0">
              <a:buNone/>
            </a:pPr>
            <a:r>
              <a:rPr lang="en-US" sz="1000" i="1" dirty="0">
                <a:solidFill>
                  <a:srgbClr val="6B7280"/>
                </a:solidFill>
                <a:latin typeface="Cambria" pitchFamily="34" charset="0"/>
                <a:ea typeface="Cambria" pitchFamily="34" charset="-122"/>
                <a:cs typeface="Cambria" pitchFamily="34" charset="-120"/>
              </a:rPr>
              <a:t>knn(k) vs. degree k, and degree vs. betweenness scatter — Part 4c / 4d</a:t>
            </a:r>
            <a:endParaRPr lang="en-US" sz="1000" dirty="0"/>
          </a:p>
        </p:txBody>
      </p:sp>
      <p:sp>
        <p:nvSpPr>
          <p:cNvPr id="17" name="Text 15"/>
          <p:cNvSpPr/>
          <p:nvPr/>
        </p:nvSpPr>
        <p:spPr>
          <a:xfrm>
            <a:off x="6949440" y="1645920"/>
            <a:ext cx="4663440" cy="292608"/>
          </a:xfrm>
          <a:prstGeom prst="rect">
            <a:avLst/>
          </a:prstGeom>
          <a:noFill/>
          <a:ln/>
        </p:spPr>
        <p:txBody>
          <a:bodyPr wrap="square" lIns="0" tIns="0" rIns="0" bIns="0" rtlCol="0" anchor="ctr"/>
          <a:lstStyle/>
          <a:p>
            <a:pPr indent="0" marL="0">
              <a:buNone/>
            </a:pPr>
            <a:r>
              <a:rPr lang="en-US" sz="1500" b="1" dirty="0">
                <a:solidFill>
                  <a:srgbClr val="1B0E3D"/>
                </a:solidFill>
                <a:latin typeface="Cambria" pitchFamily="34" charset="0"/>
                <a:ea typeface="Cambria" pitchFamily="34" charset="-122"/>
                <a:cs typeface="Cambria" pitchFamily="34" charset="-120"/>
              </a:rPr>
              <a:t>Assortativity</a:t>
            </a:r>
            <a:endParaRPr lang="en-US" sz="1500" dirty="0"/>
          </a:p>
        </p:txBody>
      </p:sp>
      <p:sp>
        <p:nvSpPr>
          <p:cNvPr id="18" name="Shape 16"/>
          <p:cNvSpPr/>
          <p:nvPr/>
        </p:nvSpPr>
        <p:spPr>
          <a:xfrm>
            <a:off x="6949440" y="2093976"/>
            <a:ext cx="137160" cy="137160"/>
          </a:xfrm>
          <a:prstGeom prst="ellipse">
            <a:avLst/>
          </a:prstGeom>
          <a:solidFill>
            <a:srgbClr val="FF1F71"/>
          </a:solidFill>
          <a:ln/>
        </p:spPr>
      </p:sp>
      <p:sp>
        <p:nvSpPr>
          <p:cNvPr id="19" name="Text 17"/>
          <p:cNvSpPr/>
          <p:nvPr/>
        </p:nvSpPr>
        <p:spPr>
          <a:xfrm>
            <a:off x="7242048" y="1956816"/>
            <a:ext cx="4370832" cy="530352"/>
          </a:xfrm>
          <a:prstGeom prst="rect">
            <a:avLst/>
          </a:prstGeom>
          <a:noFill/>
          <a:ln/>
        </p:spPr>
        <p:txBody>
          <a:bodyPr wrap="square" lIns="0" tIns="0" rIns="0" bIns="0" rtlCol="0" anchor="ctr"/>
          <a:lstStyle/>
          <a:p>
            <a:pPr indent="0" marL="0">
              <a:lnSpc>
                <a:spcPct val="102000"/>
              </a:lnSpc>
              <a:buNone/>
            </a:pPr>
            <a:r>
              <a:rPr lang="en-US" sz="1500" b="1" dirty="0">
                <a:solidFill>
                  <a:srgbClr val="FF1F71"/>
                </a:solidFill>
                <a:latin typeface="Cambria" pitchFamily="34" charset="0"/>
                <a:ea typeface="Cambria" pitchFamily="34" charset="-122"/>
                <a:cs typeface="Cambria" pitchFamily="34" charset="-120"/>
              </a:rPr>
              <a:t>-0.117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degree assortativity r (disassortative)</a:t>
            </a:r>
            <a:endParaRPr lang="en-US" sz="1500" dirty="0"/>
          </a:p>
        </p:txBody>
      </p:sp>
      <p:sp>
        <p:nvSpPr>
          <p:cNvPr id="20" name="Shape 18"/>
          <p:cNvSpPr/>
          <p:nvPr/>
        </p:nvSpPr>
        <p:spPr>
          <a:xfrm>
            <a:off x="6949440" y="2624328"/>
            <a:ext cx="137160" cy="137160"/>
          </a:xfrm>
          <a:prstGeom prst="ellipse">
            <a:avLst/>
          </a:prstGeom>
          <a:solidFill>
            <a:srgbClr val="0091FF"/>
          </a:solidFill>
          <a:ln/>
        </p:spPr>
      </p:sp>
      <p:sp>
        <p:nvSpPr>
          <p:cNvPr id="21" name="Text 19"/>
          <p:cNvSpPr/>
          <p:nvPr/>
        </p:nvSpPr>
        <p:spPr>
          <a:xfrm>
            <a:off x="7242048" y="2487168"/>
            <a:ext cx="4370832" cy="530352"/>
          </a:xfrm>
          <a:prstGeom prst="rect">
            <a:avLst/>
          </a:prstGeom>
          <a:noFill/>
          <a:ln/>
        </p:spPr>
        <p:txBody>
          <a:bodyPr wrap="square" lIns="0" tIns="0" rIns="0" bIns="0" rtlCol="0" anchor="ctr"/>
          <a:lstStyle/>
          <a:p>
            <a:pPr indent="0" marL="0">
              <a:lnSpc>
                <a:spcPct val="102000"/>
              </a:lnSpc>
              <a:buNone/>
            </a:pPr>
            <a:r>
              <a:rPr lang="en-US" sz="1500" b="1" dirty="0">
                <a:solidFill>
                  <a:srgbClr val="0091FF"/>
                </a:solidFill>
                <a:latin typeface="Cambria" pitchFamily="34" charset="0"/>
                <a:ea typeface="Cambria" pitchFamily="34" charset="-122"/>
                <a:cs typeface="Cambria" pitchFamily="34" charset="-120"/>
              </a:rPr>
              <a:t>257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mean knn — far above ⟨k⟩ = 10.7</a:t>
            </a:r>
            <a:endParaRPr lang="en-US" sz="1500" dirty="0"/>
          </a:p>
        </p:txBody>
      </p:sp>
      <p:sp>
        <p:nvSpPr>
          <p:cNvPr id="22" name="Text 20"/>
          <p:cNvSpPr/>
          <p:nvPr/>
        </p:nvSpPr>
        <p:spPr>
          <a:xfrm>
            <a:off x="6949440" y="3246120"/>
            <a:ext cx="4663440" cy="292608"/>
          </a:xfrm>
          <a:prstGeom prst="rect">
            <a:avLst/>
          </a:prstGeom>
          <a:noFill/>
          <a:ln/>
        </p:spPr>
        <p:txBody>
          <a:bodyPr wrap="square" lIns="0" tIns="0" rIns="0" bIns="0" rtlCol="0" anchor="ctr"/>
          <a:lstStyle/>
          <a:p>
            <a:pPr indent="0" marL="0">
              <a:buNone/>
            </a:pPr>
            <a:r>
              <a:rPr lang="en-US" sz="1500" b="1" dirty="0">
                <a:solidFill>
                  <a:srgbClr val="1B0E3D"/>
                </a:solidFill>
                <a:latin typeface="Cambria" pitchFamily="34" charset="0"/>
                <a:ea typeface="Cambria" pitchFamily="34" charset="-122"/>
                <a:cs typeface="Cambria" pitchFamily="34" charset="-120"/>
              </a:rPr>
              <a:t>Centrality</a:t>
            </a:r>
            <a:endParaRPr lang="en-US" sz="1500" dirty="0"/>
          </a:p>
        </p:txBody>
      </p:sp>
      <p:sp>
        <p:nvSpPr>
          <p:cNvPr id="23" name="Shape 21"/>
          <p:cNvSpPr/>
          <p:nvPr/>
        </p:nvSpPr>
        <p:spPr>
          <a:xfrm>
            <a:off x="6949440" y="3694176"/>
            <a:ext cx="137160" cy="137160"/>
          </a:xfrm>
          <a:prstGeom prst="ellipse">
            <a:avLst/>
          </a:prstGeom>
          <a:solidFill>
            <a:srgbClr val="FFB800"/>
          </a:solidFill>
          <a:ln/>
        </p:spPr>
      </p:sp>
      <p:sp>
        <p:nvSpPr>
          <p:cNvPr id="24" name="Text 22"/>
          <p:cNvSpPr/>
          <p:nvPr/>
        </p:nvSpPr>
        <p:spPr>
          <a:xfrm>
            <a:off x="7242048" y="3557016"/>
            <a:ext cx="4370832" cy="530352"/>
          </a:xfrm>
          <a:prstGeom prst="rect">
            <a:avLst/>
          </a:prstGeom>
          <a:noFill/>
          <a:ln/>
        </p:spPr>
        <p:txBody>
          <a:bodyPr wrap="square" lIns="0" tIns="0" rIns="0" bIns="0" rtlCol="0" anchor="ctr"/>
          <a:lstStyle/>
          <a:p>
            <a:pPr indent="0" marL="0">
              <a:lnSpc>
                <a:spcPct val="102000"/>
              </a:lnSpc>
              <a:buNone/>
            </a:pPr>
            <a:r>
              <a:rPr lang="en-US" sz="1500" b="1" dirty="0">
                <a:solidFill>
                  <a:srgbClr val="FFB800"/>
                </a:solidFill>
                <a:latin typeface="Cambria" pitchFamily="34" charset="0"/>
                <a:ea typeface="Cambria" pitchFamily="34" charset="-122"/>
                <a:cs typeface="Cambria" pitchFamily="34" charset="-120"/>
              </a:rPr>
              <a:t>0.79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correlation degree ↔ betweenness</a:t>
            </a:r>
            <a:endParaRPr lang="en-US" sz="1500" dirty="0"/>
          </a:p>
        </p:txBody>
      </p:sp>
      <p:sp>
        <p:nvSpPr>
          <p:cNvPr id="25" name="Shape 23"/>
          <p:cNvSpPr/>
          <p:nvPr/>
        </p:nvSpPr>
        <p:spPr>
          <a:xfrm>
            <a:off x="6949440" y="4343400"/>
            <a:ext cx="4663440" cy="1051560"/>
          </a:xfrm>
          <a:prstGeom prst="roundRect">
            <a:avLst>
              <a:gd name="adj" fmla="val 7826"/>
            </a:avLst>
          </a:prstGeom>
          <a:solidFill>
            <a:srgbClr val="FFEAF3"/>
          </a:solidFill>
          <a:ln/>
          <a:effectLst>
            <a:outerShdw sx="100000" sy="100000" kx="0" ky="0" algn="bl" rotWithShape="0" blurRad="76200" dist="25400" dir="5400000">
              <a:srgbClr val="000000">
                <a:alpha val="10000"/>
              </a:srgbClr>
            </a:outerShdw>
          </a:effectLst>
        </p:spPr>
      </p:sp>
      <p:sp>
        <p:nvSpPr>
          <p:cNvPr id="26" name="Shape 24"/>
          <p:cNvSpPr/>
          <p:nvPr/>
        </p:nvSpPr>
        <p:spPr>
          <a:xfrm>
            <a:off x="7150608" y="4732020"/>
            <a:ext cx="274320" cy="274320"/>
          </a:xfrm>
          <a:prstGeom prst="ellipse">
            <a:avLst/>
          </a:prstGeom>
          <a:solidFill>
            <a:srgbClr val="FFB800"/>
          </a:solidFill>
          <a:ln/>
        </p:spPr>
      </p:sp>
      <p:sp>
        <p:nvSpPr>
          <p:cNvPr id="27" name="Text 25"/>
          <p:cNvSpPr/>
          <p:nvPr/>
        </p:nvSpPr>
        <p:spPr>
          <a:xfrm>
            <a:off x="7150608" y="47320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a:t>
            </a:r>
            <a:endParaRPr lang="en-US" sz="1200" dirty="0"/>
          </a:p>
        </p:txBody>
      </p:sp>
      <p:sp>
        <p:nvSpPr>
          <p:cNvPr id="28" name="Text 26"/>
          <p:cNvSpPr/>
          <p:nvPr/>
        </p:nvSpPr>
        <p:spPr>
          <a:xfrm>
            <a:off x="7516368" y="4434840"/>
            <a:ext cx="3840480" cy="868680"/>
          </a:xfrm>
          <a:prstGeom prst="rect">
            <a:avLst/>
          </a:prstGeom>
          <a:noFill/>
          <a:ln/>
        </p:spPr>
        <p:txBody>
          <a:bodyPr wrap="square" lIns="0" tIns="0" rIns="0" bIns="0" rtlCol="0" anchor="ctr"/>
          <a:lstStyle/>
          <a:p>
            <a:pPr algn="l" indent="0" marL="0">
              <a:lnSpc>
                <a:spcPct val="108000"/>
              </a:lnSpc>
              <a:buNone/>
            </a:pPr>
            <a:r>
              <a:rPr lang="en-US" sz="1150" b="1" dirty="0">
                <a:solidFill>
                  <a:srgbClr val="FFB800"/>
                </a:solidFill>
                <a:latin typeface="Cambria" pitchFamily="34" charset="0"/>
                <a:ea typeface="Cambria" pitchFamily="34" charset="-122"/>
                <a:cs typeface="Cambria" pitchFamily="34" charset="-120"/>
              </a:rPr>
              <a:t>Reading:  </a:t>
            </a:r>
            <a:pPr algn="l" indent="0" marL="0">
              <a:lnSpc>
                <a:spcPct val="108000"/>
              </a:lnSpc>
              <a:buNone/>
            </a:pPr>
            <a:r>
              <a:rPr lang="en-US" sz="1150" dirty="0">
                <a:solidFill>
                  <a:srgbClr val="1B0E3D"/>
                </a:solidFill>
                <a:latin typeface="Cambria" pitchFamily="34" charset="0"/>
                <a:ea typeface="Cambria" pitchFamily="34" charset="-122"/>
                <a:cs typeface="Cambria" pitchFamily="34" charset="-120"/>
              </a:rPr>
              <a:t>hubs are also the main bridges — the unambiguous critical nodes of the network (used later to design attacks).</a:t>
            </a:r>
            <a:endParaRPr lang="en-US" sz="1150" dirty="0"/>
          </a:p>
        </p:txBody>
      </p:sp>
      <p:sp>
        <p:nvSpPr>
          <p:cNvPr id="29" name="Shape 27"/>
          <p:cNvSpPr/>
          <p:nvPr/>
        </p:nvSpPr>
        <p:spPr>
          <a:xfrm>
            <a:off x="6949440" y="5486400"/>
            <a:ext cx="4663440" cy="1051560"/>
          </a:xfrm>
          <a:prstGeom prst="roundRect">
            <a:avLst>
              <a:gd name="adj" fmla="val 7826"/>
            </a:avLst>
          </a:prstGeom>
          <a:solidFill>
            <a:srgbClr val="FFEAF3"/>
          </a:solidFill>
          <a:ln/>
          <a:effectLst>
            <a:outerShdw sx="100000" sy="100000" kx="0" ky="0" algn="bl" rotWithShape="0" blurRad="76200" dist="25400" dir="5400000">
              <a:srgbClr val="000000">
                <a:alpha val="10000"/>
              </a:srgbClr>
            </a:outerShdw>
          </a:effectLst>
        </p:spPr>
      </p:sp>
      <p:sp>
        <p:nvSpPr>
          <p:cNvPr id="30" name="Shape 28"/>
          <p:cNvSpPr/>
          <p:nvPr/>
        </p:nvSpPr>
        <p:spPr>
          <a:xfrm>
            <a:off x="7150608" y="5875020"/>
            <a:ext cx="274320" cy="274320"/>
          </a:xfrm>
          <a:prstGeom prst="ellipse">
            <a:avLst/>
          </a:prstGeom>
          <a:solidFill>
            <a:srgbClr val="FF1F71"/>
          </a:solidFill>
          <a:ln/>
        </p:spPr>
      </p:sp>
      <p:sp>
        <p:nvSpPr>
          <p:cNvPr id="31" name="Text 29"/>
          <p:cNvSpPr/>
          <p:nvPr/>
        </p:nvSpPr>
        <p:spPr>
          <a:xfrm>
            <a:off x="7150608" y="58750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a:t>
            </a:r>
            <a:endParaRPr lang="en-US" sz="1200" dirty="0"/>
          </a:p>
        </p:txBody>
      </p:sp>
      <p:sp>
        <p:nvSpPr>
          <p:cNvPr id="32" name="Text 30"/>
          <p:cNvSpPr/>
          <p:nvPr/>
        </p:nvSpPr>
        <p:spPr>
          <a:xfrm>
            <a:off x="7516368" y="5577840"/>
            <a:ext cx="3840480" cy="868680"/>
          </a:xfrm>
          <a:prstGeom prst="rect">
            <a:avLst/>
          </a:prstGeom>
          <a:noFill/>
          <a:ln/>
        </p:spPr>
        <p:txBody>
          <a:bodyPr wrap="square" lIns="0" tIns="0" rIns="0" bIns="0" rtlCol="0" anchor="ctr"/>
          <a:lstStyle/>
          <a:p>
            <a:pPr algn="l" indent="0" marL="0">
              <a:lnSpc>
                <a:spcPct val="108000"/>
              </a:lnSpc>
              <a:buNone/>
            </a:pPr>
            <a:r>
              <a:rPr lang="en-US" sz="1150" b="1" dirty="0">
                <a:solidFill>
                  <a:srgbClr val="FF1F71"/>
                </a:solidFill>
                <a:latin typeface="Cambria" pitchFamily="34" charset="0"/>
                <a:ea typeface="Cambria" pitchFamily="34" charset="-122"/>
                <a:cs typeface="Cambria" pitchFamily="34" charset="-120"/>
              </a:rPr>
              <a:t>Q&amp;A-proof:  </a:t>
            </a:r>
            <a:pPr algn="l" indent="0" marL="0">
              <a:lnSpc>
                <a:spcPct val="108000"/>
              </a:lnSpc>
              <a:buNone/>
            </a:pPr>
            <a:r>
              <a:rPr lang="en-US" sz="1150" dirty="0">
                <a:solidFill>
                  <a:srgbClr val="1B0E3D"/>
                </a:solidFill>
                <a:latin typeface="Cambria" pitchFamily="34" charset="0"/>
                <a:ea typeface="Cambria" pitchFamily="34" charset="-122"/>
                <a:cs typeface="Cambria" pitchFamily="34" charset="-120"/>
              </a:rPr>
              <a:t>disassortative → no cohesive hub-to-hub core → more fragile to targeted attacks. High knn despite low ⟨k⟩ is the friendship paradox — not an error.</a:t>
            </a:r>
            <a:endParaRPr lang="en-US" sz="1150" dirty="0"/>
          </a:p>
        </p:txBody>
      </p:sp>
      <p:sp>
        <p:nvSpPr>
          <p:cNvPr id="33" name="Text 31"/>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B3AFC7"/>
                </a:solidFill>
                <a:latin typeface="Cambria" pitchFamily="34" charset="0"/>
                <a:ea typeface="Cambria" pitchFamily="34" charset="-122"/>
                <a:cs typeface="Cambria" pitchFamily="34" charset="-120"/>
              </a:rPr>
              <a:t>7 / 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50" b="1" spc="200" kern="0" dirty="0">
                <a:solidFill>
                  <a:srgbClr val="0091FF"/>
                </a:solidFill>
                <a:latin typeface="Cambria" pitchFamily="34" charset="0"/>
                <a:ea typeface="Cambria" pitchFamily="34" charset="-122"/>
                <a:cs typeface="Cambria" pitchFamily="34" charset="-120"/>
              </a:rPr>
              <a:t>EXTENSION E1</a:t>
            </a:r>
            <a:endParaRPr lang="en-US" sz="125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buNone/>
            </a:pPr>
            <a:r>
              <a:rPr lang="en-US" sz="3000" b="1" dirty="0">
                <a:solidFill>
                  <a:srgbClr val="1B0E3D"/>
                </a:solidFill>
                <a:latin typeface="Cambria" pitchFamily="34" charset="0"/>
                <a:ea typeface="Cambria" pitchFamily="34" charset="-122"/>
                <a:cs typeface="Cambria" pitchFamily="34" charset="-120"/>
              </a:rPr>
              <a:t>Community Detection: Finding the Departments</a:t>
            </a:r>
            <a:endParaRPr lang="en-US" sz="3000" dirty="0"/>
          </a:p>
        </p:txBody>
      </p:sp>
      <p:sp>
        <p:nvSpPr>
          <p:cNvPr id="4" name="Shape 2"/>
          <p:cNvSpPr/>
          <p:nvPr/>
        </p:nvSpPr>
        <p:spPr>
          <a:xfrm>
            <a:off x="11034979" y="492862"/>
            <a:ext cx="310896" cy="279806"/>
          </a:xfrm>
          <a:prstGeom prst="line">
            <a:avLst/>
          </a:prstGeom>
          <a:noFill/>
          <a:ln w="12700">
            <a:solidFill>
              <a:srgbClr val="CFC9E4"/>
            </a:solidFill>
            <a:prstDash val="solid"/>
          </a:ln>
        </p:spPr>
      </p:sp>
      <p:sp>
        <p:nvSpPr>
          <p:cNvPr id="5" name="Shape 3"/>
          <p:cNvSpPr/>
          <p:nvPr/>
        </p:nvSpPr>
        <p:spPr>
          <a:xfrm flipV="1">
            <a:off x="11345875" y="461772"/>
            <a:ext cx="295351" cy="310896"/>
          </a:xfrm>
          <a:prstGeom prst="line">
            <a:avLst/>
          </a:prstGeom>
          <a:noFill/>
          <a:ln w="12700">
            <a:solidFill>
              <a:srgbClr val="CFC9E4"/>
            </a:solidFill>
            <a:prstDash val="solid"/>
          </a:ln>
        </p:spPr>
      </p:sp>
      <p:sp>
        <p:nvSpPr>
          <p:cNvPr id="6" name="Shape 4"/>
          <p:cNvSpPr/>
          <p:nvPr/>
        </p:nvSpPr>
        <p:spPr>
          <a:xfrm flipV="1">
            <a:off x="11019434" y="772668"/>
            <a:ext cx="326441" cy="295351"/>
          </a:xfrm>
          <a:prstGeom prst="line">
            <a:avLst/>
          </a:prstGeom>
          <a:noFill/>
          <a:ln w="12700">
            <a:solidFill>
              <a:srgbClr val="CFC9E4"/>
            </a:solidFill>
            <a:prstDash val="solid"/>
          </a:ln>
        </p:spPr>
      </p:sp>
      <p:sp>
        <p:nvSpPr>
          <p:cNvPr id="7" name="Shape 5"/>
          <p:cNvSpPr/>
          <p:nvPr/>
        </p:nvSpPr>
        <p:spPr>
          <a:xfrm>
            <a:off x="11345875" y="772668"/>
            <a:ext cx="310896" cy="279806"/>
          </a:xfrm>
          <a:prstGeom prst="line">
            <a:avLst/>
          </a:prstGeom>
          <a:noFill/>
          <a:ln w="12700">
            <a:solidFill>
              <a:srgbClr val="CFC9E4"/>
            </a:solidFill>
            <a:prstDash val="solid"/>
          </a:ln>
        </p:spPr>
      </p:sp>
      <p:sp>
        <p:nvSpPr>
          <p:cNvPr id="8" name="Shape 6"/>
          <p:cNvSpPr/>
          <p:nvPr/>
        </p:nvSpPr>
        <p:spPr>
          <a:xfrm>
            <a:off x="10974354" y="432237"/>
            <a:ext cx="121249" cy="121249"/>
          </a:xfrm>
          <a:prstGeom prst="ellipse">
            <a:avLst/>
          </a:prstGeom>
          <a:solidFill>
            <a:srgbClr val="0091FF"/>
          </a:solidFill>
          <a:ln/>
        </p:spPr>
      </p:sp>
      <p:sp>
        <p:nvSpPr>
          <p:cNvPr id="9" name="Shape 7"/>
          <p:cNvSpPr/>
          <p:nvPr/>
        </p:nvSpPr>
        <p:spPr>
          <a:xfrm>
            <a:off x="11594592" y="415138"/>
            <a:ext cx="93269" cy="93269"/>
          </a:xfrm>
          <a:prstGeom prst="ellipse">
            <a:avLst/>
          </a:prstGeom>
          <a:solidFill>
            <a:srgbClr val="FFB800"/>
          </a:solidFill>
          <a:ln/>
        </p:spPr>
      </p:sp>
      <p:sp>
        <p:nvSpPr>
          <p:cNvPr id="10" name="Shape 8"/>
          <p:cNvSpPr/>
          <p:nvPr/>
        </p:nvSpPr>
        <p:spPr>
          <a:xfrm>
            <a:off x="10972800" y="1021385"/>
            <a:ext cx="93269" cy="93269"/>
          </a:xfrm>
          <a:prstGeom prst="ellipse">
            <a:avLst/>
          </a:prstGeom>
          <a:solidFill>
            <a:srgbClr val="FF1F71"/>
          </a:solidFill>
          <a:ln/>
        </p:spPr>
      </p:sp>
      <p:sp>
        <p:nvSpPr>
          <p:cNvPr id="11" name="Shape 9"/>
          <p:cNvSpPr/>
          <p:nvPr/>
        </p:nvSpPr>
        <p:spPr>
          <a:xfrm>
            <a:off x="11596146" y="991850"/>
            <a:ext cx="121249" cy="121249"/>
          </a:xfrm>
          <a:prstGeom prst="ellipse">
            <a:avLst/>
          </a:prstGeom>
          <a:solidFill>
            <a:srgbClr val="0091FF"/>
          </a:solidFill>
          <a:ln/>
        </p:spPr>
      </p:sp>
      <p:sp>
        <p:nvSpPr>
          <p:cNvPr id="12" name="Shape 10"/>
          <p:cNvSpPr/>
          <p:nvPr/>
        </p:nvSpPr>
        <p:spPr>
          <a:xfrm>
            <a:off x="11256493" y="683285"/>
            <a:ext cx="178765" cy="178765"/>
          </a:xfrm>
          <a:prstGeom prst="ellipse">
            <a:avLst/>
          </a:prstGeom>
          <a:solidFill>
            <a:srgbClr val="1B0E3D"/>
          </a:solidFill>
          <a:ln w="19050">
            <a:solidFill>
              <a:srgbClr val="FFFFFF"/>
            </a:solidFill>
            <a:prstDash val="solid"/>
          </a:ln>
        </p:spPr>
      </p:sp>
      <p:sp>
        <p:nvSpPr>
          <p:cNvPr id="13" name="Shape 11"/>
          <p:cNvSpPr/>
          <p:nvPr/>
        </p:nvSpPr>
        <p:spPr>
          <a:xfrm>
            <a:off x="548640" y="1600200"/>
            <a:ext cx="6035040" cy="4434840"/>
          </a:xfrm>
          <a:prstGeom prst="roundRect">
            <a:avLst>
              <a:gd name="adj" fmla="val 2062"/>
            </a:avLst>
          </a:prstGeom>
          <a:solidFill>
            <a:srgbClr val="F5F3FA"/>
          </a:solidFill>
          <a:ln w="15875">
            <a:solidFill>
              <a:srgbClr val="0091FF"/>
            </a:solidFill>
            <a:prstDash val="dash"/>
          </a:ln>
        </p:spPr>
      </p:sp>
      <p:sp>
        <p:nvSpPr>
          <p:cNvPr id="14" name="Text 12"/>
          <p:cNvSpPr/>
          <p:nvPr/>
        </p:nvSpPr>
        <p:spPr>
          <a:xfrm>
            <a:off x="777240" y="1783080"/>
            <a:ext cx="5577840" cy="320040"/>
          </a:xfrm>
          <a:prstGeom prst="rect">
            <a:avLst/>
          </a:prstGeom>
          <a:noFill/>
          <a:ln/>
        </p:spPr>
        <p:txBody>
          <a:bodyPr wrap="square" lIns="0" tIns="0" rIns="0" bIns="0" rtlCol="0" anchor="ctr"/>
          <a:lstStyle/>
          <a:p>
            <a:pPr algn="l" indent="0" marL="0">
              <a:buNone/>
            </a:pPr>
            <a:r>
              <a:rPr lang="en-US" sz="1200" b="1" dirty="0">
                <a:solidFill>
                  <a:srgbClr val="0091FF"/>
                </a:solidFill>
                <a:latin typeface="Cambria" pitchFamily="34" charset="0"/>
                <a:ea typeface="Cambria" pitchFamily="34" charset="-122"/>
                <a:cs typeface="Cambria" pitchFamily="34" charset="-120"/>
              </a:rPr>
              <a:t>FIGURE 7</a:t>
            </a:r>
            <a:endParaRPr lang="en-US" sz="1200" dirty="0"/>
          </a:p>
        </p:txBody>
      </p:sp>
      <p:sp>
        <p:nvSpPr>
          <p:cNvPr id="15" name="Text 13"/>
          <p:cNvSpPr/>
          <p:nvPr/>
        </p:nvSpPr>
        <p:spPr>
          <a:xfrm>
            <a:off x="548640" y="3462833"/>
            <a:ext cx="6035040" cy="365760"/>
          </a:xfrm>
          <a:prstGeom prst="rect">
            <a:avLst/>
          </a:prstGeom>
          <a:noFill/>
          <a:ln/>
        </p:spPr>
        <p:txBody>
          <a:bodyPr wrap="square" lIns="0" tIns="0" rIns="0" bIns="0" rtlCol="0" anchor="ctr"/>
          <a:lstStyle/>
          <a:p>
            <a:pPr algn="ctr" indent="0" marL="0">
              <a:buNone/>
            </a:pPr>
            <a:r>
              <a:rPr lang="en-US" sz="1400" b="1" i="1" dirty="0">
                <a:solidFill>
                  <a:srgbClr val="9B93B8"/>
                </a:solidFill>
                <a:latin typeface="Cambria" pitchFamily="34" charset="0"/>
                <a:ea typeface="Cambria" pitchFamily="34" charset="-122"/>
                <a:cs typeface="Cambria" pitchFamily="34" charset="-120"/>
              </a:rPr>
              <a:t>insert figure here</a:t>
            </a:r>
            <a:endParaRPr lang="en-US" sz="1400" dirty="0"/>
          </a:p>
        </p:txBody>
      </p:sp>
      <p:sp>
        <p:nvSpPr>
          <p:cNvPr id="16" name="Text 14"/>
          <p:cNvSpPr/>
          <p:nvPr/>
        </p:nvSpPr>
        <p:spPr>
          <a:xfrm>
            <a:off x="822960" y="5468112"/>
            <a:ext cx="5486400" cy="457200"/>
          </a:xfrm>
          <a:prstGeom prst="rect">
            <a:avLst/>
          </a:prstGeom>
          <a:noFill/>
          <a:ln/>
        </p:spPr>
        <p:txBody>
          <a:bodyPr wrap="square" lIns="0" tIns="0" rIns="0" bIns="0" rtlCol="0" anchor="t"/>
          <a:lstStyle/>
          <a:p>
            <a:pPr algn="l" indent="0" marL="0">
              <a:buNone/>
            </a:pPr>
            <a:r>
              <a:rPr lang="en-US" sz="1000" i="1" dirty="0">
                <a:solidFill>
                  <a:srgbClr val="6B7280"/>
                </a:solidFill>
                <a:latin typeface="Cambria" pitchFamily="34" charset="0"/>
                <a:ea typeface="Cambria" pitchFamily="34" charset="-122"/>
                <a:cs typeface="Cambria" pitchFamily="34" charset="-120"/>
              </a:rPr>
              <a:t>Size of the 15 largest Louvain communities (bar chart) — Extension E1</a:t>
            </a:r>
            <a:endParaRPr lang="en-US" sz="1000" dirty="0"/>
          </a:p>
        </p:txBody>
      </p:sp>
      <p:sp>
        <p:nvSpPr>
          <p:cNvPr id="17" name="Shape 15"/>
          <p:cNvSpPr/>
          <p:nvPr/>
        </p:nvSpPr>
        <p:spPr>
          <a:xfrm>
            <a:off x="6949440" y="1728216"/>
            <a:ext cx="137160" cy="137160"/>
          </a:xfrm>
          <a:prstGeom prst="ellipse">
            <a:avLst/>
          </a:prstGeom>
          <a:solidFill>
            <a:srgbClr val="0091FF"/>
          </a:solidFill>
          <a:ln/>
        </p:spPr>
      </p:sp>
      <p:sp>
        <p:nvSpPr>
          <p:cNvPr id="18" name="Text 16"/>
          <p:cNvSpPr/>
          <p:nvPr/>
        </p:nvSpPr>
        <p:spPr>
          <a:xfrm>
            <a:off x="7242048" y="1591056"/>
            <a:ext cx="4370832" cy="475488"/>
          </a:xfrm>
          <a:prstGeom prst="rect">
            <a:avLst/>
          </a:prstGeom>
          <a:noFill/>
          <a:ln/>
        </p:spPr>
        <p:txBody>
          <a:bodyPr wrap="square" lIns="0" tIns="0" rIns="0" bIns="0" rtlCol="0" anchor="ctr"/>
          <a:lstStyle/>
          <a:p>
            <a:pPr indent="0" marL="0">
              <a:lnSpc>
                <a:spcPct val="102000"/>
              </a:lnSpc>
              <a:buNone/>
            </a:pPr>
            <a:r>
              <a:rPr lang="en-US" sz="1500" b="1" dirty="0">
                <a:solidFill>
                  <a:srgbClr val="0091FF"/>
                </a:solidFill>
                <a:latin typeface="Cambria" pitchFamily="34" charset="0"/>
                <a:ea typeface="Cambria" pitchFamily="34" charset="-122"/>
                <a:cs typeface="Cambria" pitchFamily="34" charset="-120"/>
              </a:rPr>
              <a:t>197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communities detected (Louvain algorithm)</a:t>
            </a:r>
            <a:endParaRPr lang="en-US" sz="1500" dirty="0"/>
          </a:p>
        </p:txBody>
      </p:sp>
      <p:sp>
        <p:nvSpPr>
          <p:cNvPr id="19" name="Shape 17"/>
          <p:cNvSpPr/>
          <p:nvPr/>
        </p:nvSpPr>
        <p:spPr>
          <a:xfrm>
            <a:off x="6949440" y="2203704"/>
            <a:ext cx="137160" cy="137160"/>
          </a:xfrm>
          <a:prstGeom prst="ellipse">
            <a:avLst/>
          </a:prstGeom>
          <a:solidFill>
            <a:srgbClr val="FFB800"/>
          </a:solidFill>
          <a:ln/>
        </p:spPr>
      </p:sp>
      <p:sp>
        <p:nvSpPr>
          <p:cNvPr id="20" name="Text 18"/>
          <p:cNvSpPr/>
          <p:nvPr/>
        </p:nvSpPr>
        <p:spPr>
          <a:xfrm>
            <a:off x="7242048" y="2066544"/>
            <a:ext cx="4370832" cy="475488"/>
          </a:xfrm>
          <a:prstGeom prst="rect">
            <a:avLst/>
          </a:prstGeom>
          <a:noFill/>
          <a:ln/>
        </p:spPr>
        <p:txBody>
          <a:bodyPr wrap="square" lIns="0" tIns="0" rIns="0" bIns="0" rtlCol="0" anchor="ctr"/>
          <a:lstStyle/>
          <a:p>
            <a:pPr indent="0" marL="0">
              <a:lnSpc>
                <a:spcPct val="102000"/>
              </a:lnSpc>
              <a:buNone/>
            </a:pPr>
            <a:r>
              <a:rPr lang="en-US" sz="1500" b="1" dirty="0">
                <a:solidFill>
                  <a:srgbClr val="FFB800"/>
                </a:solidFill>
                <a:latin typeface="Cambria" pitchFamily="34" charset="0"/>
                <a:ea typeface="Cambria" pitchFamily="34" charset="-122"/>
                <a:cs typeface="Cambria" pitchFamily="34" charset="-120"/>
              </a:rPr>
              <a:t>0.604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modularity Q (&gt; 0.3 = strong structure)</a:t>
            </a:r>
            <a:endParaRPr lang="en-US" sz="1500" dirty="0"/>
          </a:p>
        </p:txBody>
      </p:sp>
      <p:sp>
        <p:nvSpPr>
          <p:cNvPr id="21" name="Shape 19"/>
          <p:cNvSpPr/>
          <p:nvPr/>
        </p:nvSpPr>
        <p:spPr>
          <a:xfrm>
            <a:off x="6949440" y="2679192"/>
            <a:ext cx="137160" cy="137160"/>
          </a:xfrm>
          <a:prstGeom prst="ellipse">
            <a:avLst/>
          </a:prstGeom>
          <a:solidFill>
            <a:srgbClr val="FF1F71"/>
          </a:solidFill>
          <a:ln/>
        </p:spPr>
      </p:sp>
      <p:sp>
        <p:nvSpPr>
          <p:cNvPr id="22" name="Text 20"/>
          <p:cNvSpPr/>
          <p:nvPr/>
        </p:nvSpPr>
        <p:spPr>
          <a:xfrm>
            <a:off x="7242048" y="2542032"/>
            <a:ext cx="4370832" cy="475488"/>
          </a:xfrm>
          <a:prstGeom prst="rect">
            <a:avLst/>
          </a:prstGeom>
          <a:noFill/>
          <a:ln/>
        </p:spPr>
        <p:txBody>
          <a:bodyPr wrap="square" lIns="0" tIns="0" rIns="0" bIns="0" rtlCol="0" anchor="ctr"/>
          <a:lstStyle/>
          <a:p>
            <a:pPr indent="0" marL="0">
              <a:lnSpc>
                <a:spcPct val="102000"/>
              </a:lnSpc>
              <a:buNone/>
            </a:pPr>
            <a:r>
              <a:rPr lang="en-US" sz="1500" b="1" dirty="0">
                <a:solidFill>
                  <a:srgbClr val="FF1F71"/>
                </a:solidFill>
                <a:latin typeface="Cambria" pitchFamily="34" charset="0"/>
                <a:ea typeface="Cambria" pitchFamily="34" charset="-122"/>
                <a:cs typeface="Cambria" pitchFamily="34" charset="-120"/>
              </a:rPr>
              <a:t>78%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of GC nodes sit in the top-10 communities</a:t>
            </a:r>
            <a:endParaRPr lang="en-US" sz="1500" dirty="0"/>
          </a:p>
        </p:txBody>
      </p:sp>
      <p:sp>
        <p:nvSpPr>
          <p:cNvPr id="23" name="Text 21"/>
          <p:cNvSpPr/>
          <p:nvPr/>
        </p:nvSpPr>
        <p:spPr>
          <a:xfrm>
            <a:off x="6949440" y="3145536"/>
            <a:ext cx="4663440" cy="256032"/>
          </a:xfrm>
          <a:prstGeom prst="rect">
            <a:avLst/>
          </a:prstGeom>
          <a:noFill/>
          <a:ln/>
        </p:spPr>
        <p:txBody>
          <a:bodyPr wrap="square" lIns="0" tIns="0" rIns="0" bIns="0" rtlCol="0" anchor="ctr"/>
          <a:lstStyle/>
          <a:p>
            <a:pPr indent="0" marL="0">
              <a:buNone/>
            </a:pPr>
            <a:r>
              <a:rPr lang="en-US" sz="1400" b="1" dirty="0">
                <a:solidFill>
                  <a:srgbClr val="1B0E3D"/>
                </a:solidFill>
                <a:latin typeface="Cambria" pitchFamily="34" charset="0"/>
                <a:ea typeface="Cambria" pitchFamily="34" charset="-122"/>
                <a:cs typeface="Cambria" pitchFamily="34" charset="-120"/>
              </a:rPr>
              <a:t>Largest Communities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49440" y="3456432"/>
          <a:ext cx="4663440" cy="914400"/>
        </p:xfrm>
        <a:graphic>
          <a:graphicData uri="http://schemas.openxmlformats.org/drawingml/2006/table">
            <a:tbl>
              <a:tblPr/>
              <a:tblGrid>
                <a:gridCol w="2743200"/>
                <a:gridCol w="1920240"/>
              </a:tblGrid>
              <a:tr h="274320">
                <a:tc>
                  <a:txBody>
                    <a:bodyPr/>
                    <a:lstStyle/>
                    <a:p>
                      <a:pPr indent="0" marL="0">
                        <a:buNone/>
                      </a:pPr>
                      <a:r>
                        <a:rPr lang="en-US" sz="1050" b="1" dirty="0">
                          <a:solidFill>
                            <a:srgbClr val="FFFFFF"/>
                          </a:solidFill>
                          <a:latin typeface="Cambria" pitchFamily="34" charset="0"/>
                          <a:ea typeface="Cambria" pitchFamily="34" charset="-122"/>
                          <a:cs typeface="Cambria" pitchFamily="34" charset="-120"/>
                        </a:rPr>
                        <a:t>Rank</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1B0E3D"/>
                    </a:solidFill>
                  </a:tcPr>
                </a:tc>
                <a:tc>
                  <a:txBody>
                    <a:bodyPr/>
                    <a:lstStyle/>
                    <a:p>
                      <a:pPr algn="r" indent="0" marL="0">
                        <a:buNone/>
                      </a:pPr>
                      <a:r>
                        <a:rPr lang="en-US" sz="1050" b="1" dirty="0">
                          <a:solidFill>
                            <a:srgbClr val="FFFFFF"/>
                          </a:solidFill>
                          <a:latin typeface="Cambria" pitchFamily="34" charset="0"/>
                          <a:ea typeface="Cambria" pitchFamily="34" charset="-122"/>
                          <a:cs typeface="Cambria" pitchFamily="34" charset="-120"/>
                        </a:rPr>
                        <a:t>Size (nodes)</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1B0E3D"/>
                    </a:solidFill>
                  </a:tcPr>
                </a:tc>
              </a:tr>
              <a:tr h="274320">
                <a:tc>
                  <a:txBody>
                    <a:bodyPr/>
                    <a:lstStyle/>
                    <a:p>
                      <a:pPr indent="0" marL="0">
                        <a:buNone/>
                      </a:pPr>
                      <a:r>
                        <a:rPr lang="en-US" sz="1050" dirty="0">
                          <a:solidFill>
                            <a:srgbClr val="000000"/>
                          </a:solidFill>
                          <a:latin typeface="Cambria" pitchFamily="34" charset="0"/>
                          <a:ea typeface="Cambria" pitchFamily="34" charset="-122"/>
                          <a:cs typeface="Cambria" pitchFamily="34" charset="-120"/>
                        </a:rPr>
                        <a:t>1</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mbria" pitchFamily="34" charset="0"/>
                          <a:ea typeface="Cambria" pitchFamily="34" charset="-122"/>
                          <a:cs typeface="Cambria" pitchFamily="34" charset="-120"/>
                        </a:rPr>
                        <a:t>4,399</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000000"/>
                          </a:solidFill>
                          <a:latin typeface="Cambria" pitchFamily="34" charset="0"/>
                          <a:ea typeface="Cambria" pitchFamily="34" charset="-122"/>
                          <a:cs typeface="Cambria" pitchFamily="34" charset="-120"/>
                        </a:rPr>
                        <a:t>2</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mbria" pitchFamily="34" charset="0"/>
                          <a:ea typeface="Cambria" pitchFamily="34" charset="-122"/>
                          <a:cs typeface="Cambria" pitchFamily="34" charset="-120"/>
                        </a:rPr>
                        <a:t>4,269</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000000"/>
                          </a:solidFill>
                          <a:latin typeface="Cambria" pitchFamily="34" charset="0"/>
                          <a:ea typeface="Cambria" pitchFamily="34" charset="-122"/>
                          <a:cs typeface="Cambria" pitchFamily="34" charset="-120"/>
                        </a:rPr>
                        <a:t>3</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mbria" pitchFamily="34" charset="0"/>
                          <a:ea typeface="Cambria" pitchFamily="34" charset="-122"/>
                          <a:cs typeface="Cambria" pitchFamily="34" charset="-120"/>
                        </a:rPr>
                        <a:t>4,216</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000000"/>
                          </a:solidFill>
                          <a:latin typeface="Cambria" pitchFamily="34" charset="0"/>
                          <a:ea typeface="Cambria" pitchFamily="34" charset="-122"/>
                          <a:cs typeface="Cambria" pitchFamily="34" charset="-120"/>
                        </a:rPr>
                        <a:t>4</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mbria" pitchFamily="34" charset="0"/>
                          <a:ea typeface="Cambria" pitchFamily="34" charset="-122"/>
                          <a:cs typeface="Cambria" pitchFamily="34" charset="-120"/>
                        </a:rPr>
                        <a:t>2,996</a:t>
                      </a:r>
                      <a:endParaRPr lang="en-US" sz="1050" dirty="0">
                        <a:latin typeface="Cambria" charset="0"/>
                        <a:ea typeface="Cambria" charset="0"/>
                        <a:cs typeface="Cambria" charset="0"/>
                      </a:endParaRPr>
                    </a:p>
                  </a:txBody>
                  <a:tcPr marL="25400" marR="25400" marT="25400" marB="2540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FFFF"/>
                    </a:solidFill>
                  </a:tcPr>
                </a:tc>
              </a:tr>
            </a:tbl>
          </a:graphicData>
        </a:graphic>
      </p:graphicFrame>
      <p:sp>
        <p:nvSpPr>
          <p:cNvPr id="25" name="Shape 22"/>
          <p:cNvSpPr/>
          <p:nvPr/>
        </p:nvSpPr>
        <p:spPr>
          <a:xfrm>
            <a:off x="6949440" y="5532120"/>
            <a:ext cx="4663440" cy="868680"/>
          </a:xfrm>
          <a:prstGeom prst="roundRect">
            <a:avLst>
              <a:gd name="adj" fmla="val 9474"/>
            </a:avLst>
          </a:prstGeom>
          <a:solidFill>
            <a:srgbClr val="FFEAF3"/>
          </a:solidFill>
          <a:ln/>
          <a:effectLst>
            <a:outerShdw sx="100000" sy="100000" kx="0" ky="0" algn="bl" rotWithShape="0" blurRad="76200" dist="25400" dir="5400000">
              <a:srgbClr val="000000">
                <a:alpha val="10000"/>
              </a:srgbClr>
            </a:outerShdw>
          </a:effectLst>
        </p:spPr>
      </p:sp>
      <p:sp>
        <p:nvSpPr>
          <p:cNvPr id="26" name="Shape 23"/>
          <p:cNvSpPr/>
          <p:nvPr/>
        </p:nvSpPr>
        <p:spPr>
          <a:xfrm>
            <a:off x="7150608" y="5829300"/>
            <a:ext cx="274320" cy="274320"/>
          </a:xfrm>
          <a:prstGeom prst="ellipse">
            <a:avLst/>
          </a:prstGeom>
          <a:solidFill>
            <a:srgbClr val="FFB800"/>
          </a:solidFill>
          <a:ln/>
        </p:spPr>
      </p:sp>
      <p:sp>
        <p:nvSpPr>
          <p:cNvPr id="27" name="Text 24"/>
          <p:cNvSpPr/>
          <p:nvPr/>
        </p:nvSpPr>
        <p:spPr>
          <a:xfrm>
            <a:off x="7150608" y="582930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a:t>
            </a:r>
            <a:endParaRPr lang="en-US" sz="1200" dirty="0"/>
          </a:p>
        </p:txBody>
      </p:sp>
      <p:sp>
        <p:nvSpPr>
          <p:cNvPr id="28" name="Text 25"/>
          <p:cNvSpPr/>
          <p:nvPr/>
        </p:nvSpPr>
        <p:spPr>
          <a:xfrm>
            <a:off x="7516368" y="5623560"/>
            <a:ext cx="3840480" cy="685800"/>
          </a:xfrm>
          <a:prstGeom prst="rect">
            <a:avLst/>
          </a:prstGeom>
          <a:noFill/>
          <a:ln/>
        </p:spPr>
        <p:txBody>
          <a:bodyPr wrap="square" lIns="0" tIns="0" rIns="0" bIns="0" rtlCol="0" anchor="ctr"/>
          <a:lstStyle/>
          <a:p>
            <a:pPr algn="l" indent="0" marL="0">
              <a:lnSpc>
                <a:spcPct val="108000"/>
              </a:lnSpc>
              <a:buNone/>
            </a:pPr>
            <a:r>
              <a:rPr lang="en-US" sz="1150" b="1" dirty="0">
                <a:solidFill>
                  <a:srgbClr val="FFB800"/>
                </a:solidFill>
                <a:latin typeface="Cambria" pitchFamily="34" charset="0"/>
                <a:ea typeface="Cambria" pitchFamily="34" charset="-122"/>
                <a:cs typeface="Cambria" pitchFamily="34" charset="-120"/>
              </a:rPr>
              <a:t>Reading:  </a:t>
            </a:r>
            <a:pPr algn="l" indent="0" marL="0">
              <a:lnSpc>
                <a:spcPct val="108000"/>
              </a:lnSpc>
              <a:buNone/>
            </a:pPr>
            <a:r>
              <a:rPr lang="en-US" sz="1150" dirty="0">
                <a:solidFill>
                  <a:srgbClr val="1B0E3D"/>
                </a:solidFill>
                <a:latin typeface="Cambria" pitchFamily="34" charset="0"/>
                <a:ea typeface="Cambria" pitchFamily="34" charset="-122"/>
                <a:cs typeface="Cambria" pitchFamily="34" charset="-120"/>
              </a:rPr>
              <a:t>high clustering (C₂ = 0.509) and high modularity reinforce each other — both point to a network organised into dense, semi-isolated groups, plausibly departments or teams.</a:t>
            </a:r>
            <a:endParaRPr lang="en-US" sz="1150" dirty="0"/>
          </a:p>
        </p:txBody>
      </p:sp>
      <p:sp>
        <p:nvSpPr>
          <p:cNvPr id="29" name="Text 26"/>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B3AFC7"/>
                </a:solidFill>
                <a:latin typeface="Cambria" pitchFamily="34" charset="0"/>
                <a:ea typeface="Cambria" pitchFamily="34" charset="-122"/>
                <a:cs typeface="Cambria" pitchFamily="34" charset="-120"/>
              </a:rPr>
              <a:t>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50" b="1" spc="200" kern="0" dirty="0">
                <a:solidFill>
                  <a:srgbClr val="0091FF"/>
                </a:solidFill>
                <a:latin typeface="Cambria" pitchFamily="34" charset="0"/>
                <a:ea typeface="Cambria" pitchFamily="34" charset="-122"/>
                <a:cs typeface="Cambria" pitchFamily="34" charset="-120"/>
              </a:rPr>
              <a:t>EXTENSION E2</a:t>
            </a:r>
            <a:endParaRPr lang="en-US" sz="125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buNone/>
            </a:pPr>
            <a:r>
              <a:rPr lang="en-US" sz="3000" b="1" dirty="0">
                <a:solidFill>
                  <a:srgbClr val="1B0E3D"/>
                </a:solidFill>
                <a:latin typeface="Cambria" pitchFamily="34" charset="0"/>
                <a:ea typeface="Cambria" pitchFamily="34" charset="-122"/>
                <a:cs typeface="Cambria" pitchFamily="34" charset="-120"/>
              </a:rPr>
              <a:t>What Does the Network Actually Look Like?</a:t>
            </a:r>
            <a:endParaRPr lang="en-US" sz="3000" dirty="0"/>
          </a:p>
        </p:txBody>
      </p:sp>
      <p:sp>
        <p:nvSpPr>
          <p:cNvPr id="4" name="Shape 2"/>
          <p:cNvSpPr/>
          <p:nvPr/>
        </p:nvSpPr>
        <p:spPr>
          <a:xfrm>
            <a:off x="11034979" y="492862"/>
            <a:ext cx="310896" cy="279806"/>
          </a:xfrm>
          <a:prstGeom prst="line">
            <a:avLst/>
          </a:prstGeom>
          <a:noFill/>
          <a:ln w="12700">
            <a:solidFill>
              <a:srgbClr val="CFC9E4"/>
            </a:solidFill>
            <a:prstDash val="solid"/>
          </a:ln>
        </p:spPr>
      </p:sp>
      <p:sp>
        <p:nvSpPr>
          <p:cNvPr id="5" name="Shape 3"/>
          <p:cNvSpPr/>
          <p:nvPr/>
        </p:nvSpPr>
        <p:spPr>
          <a:xfrm flipV="1">
            <a:off x="11345875" y="461772"/>
            <a:ext cx="295351" cy="310896"/>
          </a:xfrm>
          <a:prstGeom prst="line">
            <a:avLst/>
          </a:prstGeom>
          <a:noFill/>
          <a:ln w="12700">
            <a:solidFill>
              <a:srgbClr val="CFC9E4"/>
            </a:solidFill>
            <a:prstDash val="solid"/>
          </a:ln>
        </p:spPr>
      </p:sp>
      <p:sp>
        <p:nvSpPr>
          <p:cNvPr id="6" name="Shape 4"/>
          <p:cNvSpPr/>
          <p:nvPr/>
        </p:nvSpPr>
        <p:spPr>
          <a:xfrm flipV="1">
            <a:off x="11019434" y="772668"/>
            <a:ext cx="326441" cy="295351"/>
          </a:xfrm>
          <a:prstGeom prst="line">
            <a:avLst/>
          </a:prstGeom>
          <a:noFill/>
          <a:ln w="12700">
            <a:solidFill>
              <a:srgbClr val="CFC9E4"/>
            </a:solidFill>
            <a:prstDash val="solid"/>
          </a:ln>
        </p:spPr>
      </p:sp>
      <p:sp>
        <p:nvSpPr>
          <p:cNvPr id="7" name="Shape 5"/>
          <p:cNvSpPr/>
          <p:nvPr/>
        </p:nvSpPr>
        <p:spPr>
          <a:xfrm>
            <a:off x="11345875" y="772668"/>
            <a:ext cx="310896" cy="279806"/>
          </a:xfrm>
          <a:prstGeom prst="line">
            <a:avLst/>
          </a:prstGeom>
          <a:noFill/>
          <a:ln w="12700">
            <a:solidFill>
              <a:srgbClr val="CFC9E4"/>
            </a:solidFill>
            <a:prstDash val="solid"/>
          </a:ln>
        </p:spPr>
      </p:sp>
      <p:sp>
        <p:nvSpPr>
          <p:cNvPr id="8" name="Shape 6"/>
          <p:cNvSpPr/>
          <p:nvPr/>
        </p:nvSpPr>
        <p:spPr>
          <a:xfrm>
            <a:off x="10974354" y="432237"/>
            <a:ext cx="121249" cy="121249"/>
          </a:xfrm>
          <a:prstGeom prst="ellipse">
            <a:avLst/>
          </a:prstGeom>
          <a:solidFill>
            <a:srgbClr val="0091FF"/>
          </a:solidFill>
          <a:ln/>
        </p:spPr>
      </p:sp>
      <p:sp>
        <p:nvSpPr>
          <p:cNvPr id="9" name="Shape 7"/>
          <p:cNvSpPr/>
          <p:nvPr/>
        </p:nvSpPr>
        <p:spPr>
          <a:xfrm>
            <a:off x="11594592" y="415138"/>
            <a:ext cx="93269" cy="93269"/>
          </a:xfrm>
          <a:prstGeom prst="ellipse">
            <a:avLst/>
          </a:prstGeom>
          <a:solidFill>
            <a:srgbClr val="FFB800"/>
          </a:solidFill>
          <a:ln/>
        </p:spPr>
      </p:sp>
      <p:sp>
        <p:nvSpPr>
          <p:cNvPr id="10" name="Shape 8"/>
          <p:cNvSpPr/>
          <p:nvPr/>
        </p:nvSpPr>
        <p:spPr>
          <a:xfrm>
            <a:off x="10972800" y="1021385"/>
            <a:ext cx="93269" cy="93269"/>
          </a:xfrm>
          <a:prstGeom prst="ellipse">
            <a:avLst/>
          </a:prstGeom>
          <a:solidFill>
            <a:srgbClr val="FF1F71"/>
          </a:solidFill>
          <a:ln/>
        </p:spPr>
      </p:sp>
      <p:sp>
        <p:nvSpPr>
          <p:cNvPr id="11" name="Shape 9"/>
          <p:cNvSpPr/>
          <p:nvPr/>
        </p:nvSpPr>
        <p:spPr>
          <a:xfrm>
            <a:off x="11596146" y="991850"/>
            <a:ext cx="121249" cy="121249"/>
          </a:xfrm>
          <a:prstGeom prst="ellipse">
            <a:avLst/>
          </a:prstGeom>
          <a:solidFill>
            <a:srgbClr val="0091FF"/>
          </a:solidFill>
          <a:ln/>
        </p:spPr>
      </p:sp>
      <p:sp>
        <p:nvSpPr>
          <p:cNvPr id="12" name="Shape 10"/>
          <p:cNvSpPr/>
          <p:nvPr/>
        </p:nvSpPr>
        <p:spPr>
          <a:xfrm>
            <a:off x="11256493" y="683285"/>
            <a:ext cx="178765" cy="178765"/>
          </a:xfrm>
          <a:prstGeom prst="ellipse">
            <a:avLst/>
          </a:prstGeom>
          <a:solidFill>
            <a:srgbClr val="1B0E3D"/>
          </a:solidFill>
          <a:ln w="19050">
            <a:solidFill>
              <a:srgbClr val="FFFFFF"/>
            </a:solidFill>
            <a:prstDash val="solid"/>
          </a:ln>
        </p:spPr>
      </p:sp>
      <p:sp>
        <p:nvSpPr>
          <p:cNvPr id="13" name="Shape 11"/>
          <p:cNvSpPr/>
          <p:nvPr/>
        </p:nvSpPr>
        <p:spPr>
          <a:xfrm>
            <a:off x="822960" y="1508760"/>
            <a:ext cx="10515600" cy="3794760"/>
          </a:xfrm>
          <a:prstGeom prst="roundRect">
            <a:avLst>
              <a:gd name="adj" fmla="val 2410"/>
            </a:avLst>
          </a:prstGeom>
          <a:solidFill>
            <a:srgbClr val="F5F3FA"/>
          </a:solidFill>
          <a:ln w="15875">
            <a:solidFill>
              <a:srgbClr val="0091FF"/>
            </a:solidFill>
            <a:prstDash val="dash"/>
          </a:ln>
        </p:spPr>
      </p:sp>
      <p:sp>
        <p:nvSpPr>
          <p:cNvPr id="14" name="Text 12"/>
          <p:cNvSpPr/>
          <p:nvPr/>
        </p:nvSpPr>
        <p:spPr>
          <a:xfrm>
            <a:off x="1051560" y="1691640"/>
            <a:ext cx="10058400" cy="320040"/>
          </a:xfrm>
          <a:prstGeom prst="rect">
            <a:avLst/>
          </a:prstGeom>
          <a:noFill/>
          <a:ln/>
        </p:spPr>
        <p:txBody>
          <a:bodyPr wrap="square" lIns="0" tIns="0" rIns="0" bIns="0" rtlCol="0" anchor="ctr"/>
          <a:lstStyle/>
          <a:p>
            <a:pPr algn="l" indent="0" marL="0">
              <a:buNone/>
            </a:pPr>
            <a:r>
              <a:rPr lang="en-US" sz="1200" b="1" dirty="0">
                <a:solidFill>
                  <a:srgbClr val="0091FF"/>
                </a:solidFill>
                <a:latin typeface="Cambria" pitchFamily="34" charset="0"/>
                <a:ea typeface="Cambria" pitchFamily="34" charset="-122"/>
                <a:cs typeface="Cambria" pitchFamily="34" charset="-120"/>
              </a:rPr>
              <a:t>FIGURE 8</a:t>
            </a:r>
            <a:endParaRPr lang="en-US" sz="1200" dirty="0"/>
          </a:p>
        </p:txBody>
      </p:sp>
      <p:sp>
        <p:nvSpPr>
          <p:cNvPr id="15" name="Text 13"/>
          <p:cNvSpPr/>
          <p:nvPr/>
        </p:nvSpPr>
        <p:spPr>
          <a:xfrm>
            <a:off x="822960" y="3102559"/>
            <a:ext cx="10515600" cy="365760"/>
          </a:xfrm>
          <a:prstGeom prst="rect">
            <a:avLst/>
          </a:prstGeom>
          <a:noFill/>
          <a:ln/>
        </p:spPr>
        <p:txBody>
          <a:bodyPr wrap="square" lIns="0" tIns="0" rIns="0" bIns="0" rtlCol="0" anchor="ctr"/>
          <a:lstStyle/>
          <a:p>
            <a:pPr algn="ctr" indent="0" marL="0">
              <a:buNone/>
            </a:pPr>
            <a:r>
              <a:rPr lang="en-US" sz="1400" b="1" i="1" dirty="0">
                <a:solidFill>
                  <a:srgbClr val="9B93B8"/>
                </a:solidFill>
                <a:latin typeface="Cambria" pitchFamily="34" charset="0"/>
                <a:ea typeface="Cambria" pitchFamily="34" charset="-122"/>
                <a:cs typeface="Cambria" pitchFamily="34" charset="-120"/>
              </a:rPr>
              <a:t>insert figure here</a:t>
            </a:r>
            <a:endParaRPr lang="en-US" sz="1400" dirty="0"/>
          </a:p>
        </p:txBody>
      </p:sp>
      <p:sp>
        <p:nvSpPr>
          <p:cNvPr id="16" name="Text 14"/>
          <p:cNvSpPr/>
          <p:nvPr/>
        </p:nvSpPr>
        <p:spPr>
          <a:xfrm>
            <a:off x="1097280" y="4736592"/>
            <a:ext cx="9966960" cy="457200"/>
          </a:xfrm>
          <a:prstGeom prst="rect">
            <a:avLst/>
          </a:prstGeom>
          <a:noFill/>
          <a:ln/>
        </p:spPr>
        <p:txBody>
          <a:bodyPr wrap="square" lIns="0" tIns="0" rIns="0" bIns="0" rtlCol="0" anchor="t"/>
          <a:lstStyle/>
          <a:p>
            <a:pPr algn="l" indent="0" marL="0">
              <a:buNone/>
            </a:pPr>
            <a:r>
              <a:rPr lang="en-US" sz="1000" i="1" dirty="0">
                <a:solidFill>
                  <a:srgbClr val="6B7280"/>
                </a:solidFill>
                <a:latin typeface="Cambria" pitchFamily="34" charset="0"/>
                <a:ea typeface="Cambria" pitchFamily="34" charset="-122"/>
                <a:cs typeface="Cambria" pitchFamily="34" charset="-120"/>
              </a:rPr>
              <a:t>Induced sub-graph of the hubs (degree &gt; 100), coloured by community — 540 nodes, 17,782 edges. An interactive version (zoom, hover for node degree &amp; community) ships as a companion HTML file.</a:t>
            </a:r>
            <a:endParaRPr lang="en-US" sz="1000" dirty="0"/>
          </a:p>
        </p:txBody>
      </p:sp>
      <p:sp>
        <p:nvSpPr>
          <p:cNvPr id="17" name="Shape 15"/>
          <p:cNvSpPr/>
          <p:nvPr/>
        </p:nvSpPr>
        <p:spPr>
          <a:xfrm>
            <a:off x="822960" y="5468112"/>
            <a:ext cx="3319272" cy="502920"/>
          </a:xfrm>
          <a:prstGeom prst="roundRect">
            <a:avLst>
              <a:gd name="adj" fmla="val 16364"/>
            </a:avLst>
          </a:prstGeom>
          <a:solidFill>
            <a:srgbClr val="F5F3FA"/>
          </a:solidFill>
          <a:ln/>
        </p:spPr>
      </p:sp>
      <p:sp>
        <p:nvSpPr>
          <p:cNvPr id="18" name="Shape 16"/>
          <p:cNvSpPr/>
          <p:nvPr/>
        </p:nvSpPr>
        <p:spPr>
          <a:xfrm>
            <a:off x="1005840" y="5655564"/>
            <a:ext cx="128016" cy="128016"/>
          </a:xfrm>
          <a:prstGeom prst="ellipse">
            <a:avLst/>
          </a:prstGeom>
          <a:solidFill>
            <a:srgbClr val="0091FF"/>
          </a:solidFill>
          <a:ln/>
        </p:spPr>
      </p:sp>
      <p:sp>
        <p:nvSpPr>
          <p:cNvPr id="19" name="Text 17"/>
          <p:cNvSpPr/>
          <p:nvPr/>
        </p:nvSpPr>
        <p:spPr>
          <a:xfrm>
            <a:off x="1234440" y="5468112"/>
            <a:ext cx="2770632" cy="502920"/>
          </a:xfrm>
          <a:prstGeom prst="rect">
            <a:avLst/>
          </a:prstGeom>
          <a:noFill/>
          <a:ln/>
        </p:spPr>
        <p:txBody>
          <a:bodyPr wrap="square" lIns="0" tIns="0" rIns="0" bIns="0" rtlCol="0" anchor="ctr"/>
          <a:lstStyle/>
          <a:p>
            <a:pPr indent="0" marL="0">
              <a:lnSpc>
                <a:spcPct val="100000"/>
              </a:lnSpc>
              <a:buNone/>
            </a:pPr>
            <a:r>
              <a:rPr lang="en-US" sz="1050" dirty="0">
                <a:solidFill>
                  <a:srgbClr val="1B0E3D"/>
                </a:solidFill>
                <a:latin typeface="Cambria" pitchFamily="34" charset="0"/>
                <a:ea typeface="Cambria" pitchFamily="34" charset="-122"/>
                <a:cs typeface="Cambria" pitchFamily="34" charset="-120"/>
              </a:rPr>
              <a:t>540 nodes shown — hubs only (degree &gt; 100)</a:t>
            </a:r>
            <a:endParaRPr lang="en-US" sz="1050" dirty="0"/>
          </a:p>
        </p:txBody>
      </p:sp>
      <p:sp>
        <p:nvSpPr>
          <p:cNvPr id="20" name="Shape 18"/>
          <p:cNvSpPr/>
          <p:nvPr/>
        </p:nvSpPr>
        <p:spPr>
          <a:xfrm>
            <a:off x="4370832" y="5468112"/>
            <a:ext cx="3319272" cy="502920"/>
          </a:xfrm>
          <a:prstGeom prst="roundRect">
            <a:avLst>
              <a:gd name="adj" fmla="val 16364"/>
            </a:avLst>
          </a:prstGeom>
          <a:solidFill>
            <a:srgbClr val="F5F3FA"/>
          </a:solidFill>
          <a:ln/>
        </p:spPr>
      </p:sp>
      <p:sp>
        <p:nvSpPr>
          <p:cNvPr id="21" name="Shape 19"/>
          <p:cNvSpPr/>
          <p:nvPr/>
        </p:nvSpPr>
        <p:spPr>
          <a:xfrm>
            <a:off x="4553712" y="5655564"/>
            <a:ext cx="128016" cy="128016"/>
          </a:xfrm>
          <a:prstGeom prst="ellipse">
            <a:avLst/>
          </a:prstGeom>
          <a:solidFill>
            <a:srgbClr val="FFB800"/>
          </a:solidFill>
          <a:ln/>
        </p:spPr>
      </p:sp>
      <p:sp>
        <p:nvSpPr>
          <p:cNvPr id="22" name="Text 20"/>
          <p:cNvSpPr/>
          <p:nvPr/>
        </p:nvSpPr>
        <p:spPr>
          <a:xfrm>
            <a:off x="4782312" y="5468112"/>
            <a:ext cx="2770632" cy="502920"/>
          </a:xfrm>
          <a:prstGeom prst="rect">
            <a:avLst/>
          </a:prstGeom>
          <a:noFill/>
          <a:ln/>
        </p:spPr>
        <p:txBody>
          <a:bodyPr wrap="square" lIns="0" tIns="0" rIns="0" bIns="0" rtlCol="0" anchor="ctr"/>
          <a:lstStyle/>
          <a:p>
            <a:pPr indent="0" marL="0">
              <a:lnSpc>
                <a:spcPct val="100000"/>
              </a:lnSpc>
              <a:buNone/>
            </a:pPr>
            <a:r>
              <a:rPr lang="en-US" sz="1050" dirty="0">
                <a:solidFill>
                  <a:srgbClr val="1B0E3D"/>
                </a:solidFill>
                <a:latin typeface="Cambria" pitchFamily="34" charset="0"/>
                <a:ea typeface="Cambria" pitchFamily="34" charset="-122"/>
                <a:cs typeface="Cambria" pitchFamily="34" charset="-120"/>
              </a:rPr>
              <a:t>colour = Louvain community</a:t>
            </a:r>
            <a:endParaRPr lang="en-US" sz="1050" dirty="0"/>
          </a:p>
        </p:txBody>
      </p:sp>
      <p:sp>
        <p:nvSpPr>
          <p:cNvPr id="23" name="Shape 21"/>
          <p:cNvSpPr/>
          <p:nvPr/>
        </p:nvSpPr>
        <p:spPr>
          <a:xfrm>
            <a:off x="7918704" y="5468112"/>
            <a:ext cx="3319272" cy="502920"/>
          </a:xfrm>
          <a:prstGeom prst="roundRect">
            <a:avLst>
              <a:gd name="adj" fmla="val 16364"/>
            </a:avLst>
          </a:prstGeom>
          <a:solidFill>
            <a:srgbClr val="F5F3FA"/>
          </a:solidFill>
          <a:ln/>
        </p:spPr>
      </p:sp>
      <p:sp>
        <p:nvSpPr>
          <p:cNvPr id="24" name="Shape 22"/>
          <p:cNvSpPr/>
          <p:nvPr/>
        </p:nvSpPr>
        <p:spPr>
          <a:xfrm>
            <a:off x="8101584" y="5655564"/>
            <a:ext cx="128016" cy="128016"/>
          </a:xfrm>
          <a:prstGeom prst="ellipse">
            <a:avLst/>
          </a:prstGeom>
          <a:solidFill>
            <a:srgbClr val="FF1F71"/>
          </a:solidFill>
          <a:ln/>
        </p:spPr>
      </p:sp>
      <p:sp>
        <p:nvSpPr>
          <p:cNvPr id="25" name="Text 23"/>
          <p:cNvSpPr/>
          <p:nvPr/>
        </p:nvSpPr>
        <p:spPr>
          <a:xfrm>
            <a:off x="8330184" y="5468112"/>
            <a:ext cx="2770632" cy="502920"/>
          </a:xfrm>
          <a:prstGeom prst="rect">
            <a:avLst/>
          </a:prstGeom>
          <a:noFill/>
          <a:ln/>
        </p:spPr>
        <p:txBody>
          <a:bodyPr wrap="square" lIns="0" tIns="0" rIns="0" bIns="0" rtlCol="0" anchor="ctr"/>
          <a:lstStyle/>
          <a:p>
            <a:pPr indent="0" marL="0">
              <a:lnSpc>
                <a:spcPct val="100000"/>
              </a:lnSpc>
              <a:buNone/>
            </a:pPr>
            <a:r>
              <a:rPr lang="en-US" sz="1050" dirty="0">
                <a:solidFill>
                  <a:srgbClr val="1B0E3D"/>
                </a:solidFill>
                <a:latin typeface="Cambria" pitchFamily="34" charset="0"/>
                <a:ea typeface="Cambria" pitchFamily="34" charset="-122"/>
                <a:cs typeface="Cambria" pitchFamily="34" charset="-120"/>
              </a:rPr>
              <a:t>circle size ∝ degree in the full graph</a:t>
            </a:r>
            <a:endParaRPr lang="en-US" sz="1050" dirty="0"/>
          </a:p>
        </p:txBody>
      </p:sp>
      <p:sp>
        <p:nvSpPr>
          <p:cNvPr id="26" name="Text 24"/>
          <p:cNvSpPr/>
          <p:nvPr/>
        </p:nvSpPr>
        <p:spPr>
          <a:xfrm>
            <a:off x="822960" y="6089904"/>
            <a:ext cx="10515600" cy="292608"/>
          </a:xfrm>
          <a:prstGeom prst="rect">
            <a:avLst/>
          </a:prstGeom>
          <a:noFill/>
          <a:ln/>
        </p:spPr>
        <p:txBody>
          <a:bodyPr wrap="square" lIns="0" tIns="0" rIns="0" bIns="0" rtlCol="0" anchor="ctr"/>
          <a:lstStyle/>
          <a:p>
            <a:pPr algn="ctr" indent="0" marL="0">
              <a:buNone/>
            </a:pPr>
            <a:r>
              <a:rPr lang="en-US" sz="1000" i="1" dirty="0">
                <a:solidFill>
                  <a:srgbClr val="6B7280"/>
                </a:solidFill>
                <a:latin typeface="Cambria" pitchFamily="34" charset="0"/>
                <a:ea typeface="Cambria" pitchFamily="34" charset="-122"/>
                <a:cs typeface="Cambria" pitchFamily="34" charset="-120"/>
              </a:rPr>
              <a:t>The full 33,696-node graph would be an unreadable hairball — this is a principled induced sub-graph (hubs only), exactly as done in the course lab.</a:t>
            </a:r>
            <a:endParaRPr lang="en-US" sz="1000" dirty="0"/>
          </a:p>
        </p:txBody>
      </p:sp>
      <p:sp>
        <p:nvSpPr>
          <p:cNvPr id="27" name="Text 25"/>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B3AFC7"/>
                </a:solidFill>
                <a:latin typeface="Cambria" pitchFamily="34" charset="0"/>
                <a:ea typeface="Cambria" pitchFamily="34" charset="-122"/>
                <a:cs typeface="Cambria" pitchFamily="34" charset="-120"/>
              </a:rPr>
              <a:t>9 / 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50" b="1" spc="200" kern="0" dirty="0">
                <a:solidFill>
                  <a:srgbClr val="0091FF"/>
                </a:solidFill>
                <a:latin typeface="Cambria" pitchFamily="34" charset="0"/>
                <a:ea typeface="Cambria" pitchFamily="34" charset="-122"/>
                <a:cs typeface="Cambria" pitchFamily="34" charset="-120"/>
              </a:rPr>
              <a:t>PART 5</a:t>
            </a:r>
            <a:endParaRPr lang="en-US" sz="125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buNone/>
            </a:pPr>
            <a:r>
              <a:rPr lang="en-US" sz="3000" b="1" dirty="0">
                <a:solidFill>
                  <a:srgbClr val="1B0E3D"/>
                </a:solidFill>
                <a:latin typeface="Cambria" pitchFamily="34" charset="0"/>
                <a:ea typeface="Cambria" pitchFamily="34" charset="-122"/>
                <a:cs typeface="Cambria" pitchFamily="34" charset="-120"/>
              </a:rPr>
              <a:t>How Real Is Enron, Compared to Textbook Models?</a:t>
            </a:r>
            <a:endParaRPr lang="en-US" sz="3000" dirty="0"/>
          </a:p>
        </p:txBody>
      </p:sp>
      <p:sp>
        <p:nvSpPr>
          <p:cNvPr id="4" name="Shape 2"/>
          <p:cNvSpPr/>
          <p:nvPr/>
        </p:nvSpPr>
        <p:spPr>
          <a:xfrm>
            <a:off x="11034979" y="492862"/>
            <a:ext cx="310896" cy="279806"/>
          </a:xfrm>
          <a:prstGeom prst="line">
            <a:avLst/>
          </a:prstGeom>
          <a:noFill/>
          <a:ln w="12700">
            <a:solidFill>
              <a:srgbClr val="CFC9E4"/>
            </a:solidFill>
            <a:prstDash val="solid"/>
          </a:ln>
        </p:spPr>
      </p:sp>
      <p:sp>
        <p:nvSpPr>
          <p:cNvPr id="5" name="Shape 3"/>
          <p:cNvSpPr/>
          <p:nvPr/>
        </p:nvSpPr>
        <p:spPr>
          <a:xfrm flipV="1">
            <a:off x="11345875" y="461772"/>
            <a:ext cx="295351" cy="310896"/>
          </a:xfrm>
          <a:prstGeom prst="line">
            <a:avLst/>
          </a:prstGeom>
          <a:noFill/>
          <a:ln w="12700">
            <a:solidFill>
              <a:srgbClr val="CFC9E4"/>
            </a:solidFill>
            <a:prstDash val="solid"/>
          </a:ln>
        </p:spPr>
      </p:sp>
      <p:sp>
        <p:nvSpPr>
          <p:cNvPr id="6" name="Shape 4"/>
          <p:cNvSpPr/>
          <p:nvPr/>
        </p:nvSpPr>
        <p:spPr>
          <a:xfrm flipV="1">
            <a:off x="11019434" y="772668"/>
            <a:ext cx="326441" cy="295351"/>
          </a:xfrm>
          <a:prstGeom prst="line">
            <a:avLst/>
          </a:prstGeom>
          <a:noFill/>
          <a:ln w="12700">
            <a:solidFill>
              <a:srgbClr val="CFC9E4"/>
            </a:solidFill>
            <a:prstDash val="solid"/>
          </a:ln>
        </p:spPr>
      </p:sp>
      <p:sp>
        <p:nvSpPr>
          <p:cNvPr id="7" name="Shape 5"/>
          <p:cNvSpPr/>
          <p:nvPr/>
        </p:nvSpPr>
        <p:spPr>
          <a:xfrm>
            <a:off x="11345875" y="772668"/>
            <a:ext cx="310896" cy="279806"/>
          </a:xfrm>
          <a:prstGeom prst="line">
            <a:avLst/>
          </a:prstGeom>
          <a:noFill/>
          <a:ln w="12700">
            <a:solidFill>
              <a:srgbClr val="CFC9E4"/>
            </a:solidFill>
            <a:prstDash val="solid"/>
          </a:ln>
        </p:spPr>
      </p:sp>
      <p:sp>
        <p:nvSpPr>
          <p:cNvPr id="8" name="Shape 6"/>
          <p:cNvSpPr/>
          <p:nvPr/>
        </p:nvSpPr>
        <p:spPr>
          <a:xfrm>
            <a:off x="10974354" y="432237"/>
            <a:ext cx="121249" cy="121249"/>
          </a:xfrm>
          <a:prstGeom prst="ellipse">
            <a:avLst/>
          </a:prstGeom>
          <a:solidFill>
            <a:srgbClr val="0091FF"/>
          </a:solidFill>
          <a:ln/>
        </p:spPr>
      </p:sp>
      <p:sp>
        <p:nvSpPr>
          <p:cNvPr id="9" name="Shape 7"/>
          <p:cNvSpPr/>
          <p:nvPr/>
        </p:nvSpPr>
        <p:spPr>
          <a:xfrm>
            <a:off x="11594592" y="415138"/>
            <a:ext cx="93269" cy="93269"/>
          </a:xfrm>
          <a:prstGeom prst="ellipse">
            <a:avLst/>
          </a:prstGeom>
          <a:solidFill>
            <a:srgbClr val="FFB800"/>
          </a:solidFill>
          <a:ln/>
        </p:spPr>
      </p:sp>
      <p:sp>
        <p:nvSpPr>
          <p:cNvPr id="10" name="Shape 8"/>
          <p:cNvSpPr/>
          <p:nvPr/>
        </p:nvSpPr>
        <p:spPr>
          <a:xfrm>
            <a:off x="10972800" y="1021385"/>
            <a:ext cx="93269" cy="93269"/>
          </a:xfrm>
          <a:prstGeom prst="ellipse">
            <a:avLst/>
          </a:prstGeom>
          <a:solidFill>
            <a:srgbClr val="FF1F71"/>
          </a:solidFill>
          <a:ln/>
        </p:spPr>
      </p:sp>
      <p:sp>
        <p:nvSpPr>
          <p:cNvPr id="11" name="Shape 9"/>
          <p:cNvSpPr/>
          <p:nvPr/>
        </p:nvSpPr>
        <p:spPr>
          <a:xfrm>
            <a:off x="11596146" y="991850"/>
            <a:ext cx="121249" cy="121249"/>
          </a:xfrm>
          <a:prstGeom prst="ellipse">
            <a:avLst/>
          </a:prstGeom>
          <a:solidFill>
            <a:srgbClr val="0091FF"/>
          </a:solidFill>
          <a:ln/>
        </p:spPr>
      </p:sp>
      <p:sp>
        <p:nvSpPr>
          <p:cNvPr id="12" name="Shape 10"/>
          <p:cNvSpPr/>
          <p:nvPr/>
        </p:nvSpPr>
        <p:spPr>
          <a:xfrm>
            <a:off x="11256493" y="683285"/>
            <a:ext cx="178765" cy="178765"/>
          </a:xfrm>
          <a:prstGeom prst="ellipse">
            <a:avLst/>
          </a:prstGeom>
          <a:solidFill>
            <a:srgbClr val="1B0E3D"/>
          </a:solidFill>
          <a:ln w="19050">
            <a:solidFill>
              <a:srgbClr val="FFFFFF"/>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4552" cy="914400"/>
        </p:xfrm>
        <a:graphic>
          <a:graphicData uri="http://schemas.openxmlformats.org/drawingml/2006/table">
            <a:tbl>
              <a:tblPr/>
              <a:tblGrid>
                <a:gridCol w="1554480"/>
                <a:gridCol w="2788920"/>
                <a:gridCol w="1920240"/>
                <a:gridCol w="1325880"/>
                <a:gridCol w="1051560"/>
                <a:gridCol w="1554480"/>
                <a:gridCol w="1078992"/>
              </a:tblGrid>
              <a:tr h="45720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Model</a:t>
                      </a:r>
                      <a:endParaRPr lang="en-US" sz="115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1B0E3D"/>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Generative rule</a:t>
                      </a:r>
                      <a:endParaRPr lang="en-US" sz="115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1B0E3D"/>
                    </a:solidFill>
                  </a:tcPr>
                </a:tc>
                <a:tc>
                  <a:txBody>
                    <a:bodyPr/>
                    <a:lstStyle/>
                    <a:p>
                      <a:pPr algn="ctr" indent="0" marL="0">
                        <a:buNone/>
                      </a:pPr>
                      <a:r>
                        <a:rPr lang="en-US" sz="1150" b="1" dirty="0">
                          <a:solidFill>
                            <a:srgbClr val="FFFFFF"/>
                          </a:solidFill>
                          <a:latin typeface="Cambria" pitchFamily="34" charset="0"/>
                          <a:ea typeface="Cambria" pitchFamily="34" charset="-122"/>
                          <a:cs typeface="Cambria" pitchFamily="34" charset="-120"/>
                        </a:rPr>
                        <a:t>Degree distribution</a:t>
                      </a:r>
                      <a:endParaRPr lang="en-US" sz="115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1B0E3D"/>
                    </a:solidFill>
                  </a:tcPr>
                </a:tc>
                <a:tc>
                  <a:txBody>
                    <a:bodyPr/>
                    <a:lstStyle/>
                    <a:p>
                      <a:pPr algn="ctr" indent="0" marL="0">
                        <a:buNone/>
                      </a:pPr>
                      <a:r>
                        <a:rPr lang="en-US" sz="1150" b="1" dirty="0">
                          <a:solidFill>
                            <a:srgbClr val="FFFFFF"/>
                          </a:solidFill>
                          <a:latin typeface="Cambria" pitchFamily="34" charset="0"/>
                          <a:ea typeface="Cambria" pitchFamily="34" charset="-122"/>
                          <a:cs typeface="Cambria" pitchFamily="34" charset="-120"/>
                        </a:rPr>
                        <a:t>Clustering (C₂)</a:t>
                      </a:r>
                      <a:endParaRPr lang="en-US" sz="115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1B0E3D"/>
                    </a:solidFill>
                  </a:tcPr>
                </a:tc>
                <a:tc>
                  <a:txBody>
                    <a:bodyPr/>
                    <a:lstStyle/>
                    <a:p>
                      <a:pPr algn="ctr" indent="0" marL="0">
                        <a:buNone/>
                      </a:pPr>
                      <a:r>
                        <a:rPr lang="en-US" sz="1150" b="1" dirty="0">
                          <a:solidFill>
                            <a:srgbClr val="FFFFFF"/>
                          </a:solidFill>
                          <a:latin typeface="Cambria" pitchFamily="34" charset="0"/>
                          <a:ea typeface="Cambria" pitchFamily="34" charset="-122"/>
                          <a:cs typeface="Cambria" pitchFamily="34" charset="-120"/>
                        </a:rPr>
                        <a:t>Avg. path</a:t>
                      </a:r>
                      <a:endParaRPr lang="en-US" sz="115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1B0E3D"/>
                    </a:solidFill>
                  </a:tcPr>
                </a:tc>
                <a:tc>
                  <a:txBody>
                    <a:bodyPr/>
                    <a:lstStyle/>
                    <a:p>
                      <a:pPr algn="ctr" indent="0" marL="0">
                        <a:buNone/>
                      </a:pPr>
                      <a:r>
                        <a:rPr lang="en-US" sz="1150" b="1" dirty="0">
                          <a:solidFill>
                            <a:srgbClr val="FFFFFF"/>
                          </a:solidFill>
                          <a:latin typeface="Cambria" pitchFamily="34" charset="0"/>
                          <a:ea typeface="Cambria" pitchFamily="34" charset="-122"/>
                          <a:cs typeface="Cambria" pitchFamily="34" charset="-120"/>
                        </a:rPr>
                        <a:t>Assortativity (r)</a:t>
                      </a:r>
                      <a:endParaRPr lang="en-US" sz="115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1B0E3D"/>
                    </a:solidFill>
                  </a:tcPr>
                </a:tc>
                <a:tc>
                  <a:txBody>
                    <a:bodyPr/>
                    <a:lstStyle/>
                    <a:p>
                      <a:pPr algn="ctr" indent="0" marL="0">
                        <a:buNone/>
                      </a:pPr>
                      <a:r>
                        <a:rPr lang="en-US" sz="1150" b="1" dirty="0">
                          <a:solidFill>
                            <a:srgbClr val="FFFFFF"/>
                          </a:solidFill>
                          <a:latin typeface="Cambria" pitchFamily="34" charset="0"/>
                          <a:ea typeface="Cambria" pitchFamily="34" charset="-122"/>
                          <a:cs typeface="Cambria" pitchFamily="34" charset="-120"/>
                        </a:rPr>
                        <a:t>Hubs?</a:t>
                      </a:r>
                      <a:endParaRPr lang="en-US" sz="115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1B0E3D"/>
                    </a:solidFill>
                  </a:tcPr>
                </a:tc>
              </a:tr>
              <a:tr h="566928">
                <a:tc>
                  <a:txBody>
                    <a:bodyPr/>
                    <a:lstStyle/>
                    <a:p>
                      <a:pPr indent="0" marL="0">
                        <a:buNone/>
                      </a:pPr>
                      <a:r>
                        <a:rPr lang="en-US" sz="1100" b="1" dirty="0">
                          <a:solidFill>
                            <a:srgbClr val="000000"/>
                          </a:solidFill>
                          <a:latin typeface="Cambria" pitchFamily="34" charset="0"/>
                          <a:ea typeface="Cambria" pitchFamily="34" charset="-122"/>
                          <a:cs typeface="Cambria" pitchFamily="34" charset="-120"/>
                        </a:rPr>
                        <a:t>Erdős–Rényi</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7F5FC"/>
                    </a:solidFill>
                  </a:tcPr>
                </a:tc>
                <a:tc>
                  <a:txBody>
                    <a:bodyPr/>
                    <a:lstStyle/>
                    <a:p>
                      <a:pPr indent="0" marL="0">
                        <a:buNone/>
                      </a:pPr>
                      <a:r>
                        <a:rPr lang="en-US" sz="1100" dirty="0">
                          <a:solidFill>
                            <a:srgbClr val="000000"/>
                          </a:solidFill>
                          <a:latin typeface="Cambria" pitchFamily="34" charset="0"/>
                          <a:ea typeface="Cambria" pitchFamily="34" charset="-122"/>
                          <a:cs typeface="Cambria" pitchFamily="34" charset="-120"/>
                        </a:rPr>
                        <a:t>Each edge exists independently, prob. p</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000000"/>
                          </a:solidFill>
                          <a:latin typeface="Cambria" pitchFamily="34" charset="0"/>
                          <a:ea typeface="Cambria" pitchFamily="34" charset="-122"/>
                          <a:cs typeface="Cambria" pitchFamily="34" charset="-120"/>
                        </a:rPr>
                        <a:t>Poisson — light tail</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000000"/>
                          </a:solidFill>
                          <a:latin typeface="Cambria" pitchFamily="34" charset="0"/>
                          <a:ea typeface="Cambria" pitchFamily="34" charset="-122"/>
                          <a:cs typeface="Cambria" pitchFamily="34" charset="-120"/>
                        </a:rPr>
                        <a:t>≈ 0  (0.0003)</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000000"/>
                          </a:solidFill>
                          <a:latin typeface="Cambria" pitchFamily="34" charset="0"/>
                          <a:ea typeface="Cambria" pitchFamily="34" charset="-122"/>
                          <a:cs typeface="Cambria" pitchFamily="34" charset="-120"/>
                        </a:rPr>
                        <a:t>4.67</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000000"/>
                          </a:solidFill>
                          <a:latin typeface="Cambria" pitchFamily="34" charset="0"/>
                          <a:ea typeface="Cambria" pitchFamily="34" charset="-122"/>
                          <a:cs typeface="Cambria" pitchFamily="34" charset="-120"/>
                        </a:rPr>
                        <a:t>≈ 0  (-0.003)</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6B7280"/>
                          </a:solidFill>
                          <a:latin typeface="Cambria" pitchFamily="34" charset="0"/>
                          <a:ea typeface="Cambria" pitchFamily="34" charset="-122"/>
                          <a:cs typeface="Cambria" pitchFamily="34" charset="-120"/>
                        </a:rPr>
                        <a:t>No</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7F5FC"/>
                    </a:solidFill>
                  </a:tcPr>
                </a:tc>
              </a:tr>
              <a:tr h="566928">
                <a:tc>
                  <a:txBody>
                    <a:bodyPr/>
                    <a:lstStyle/>
                    <a:p>
                      <a:pPr indent="0" marL="0">
                        <a:buNone/>
                      </a:pPr>
                      <a:r>
                        <a:rPr lang="en-US" sz="1100" b="1" dirty="0">
                          <a:solidFill>
                            <a:srgbClr val="000000"/>
                          </a:solidFill>
                          <a:latin typeface="Cambria" pitchFamily="34" charset="0"/>
                          <a:ea typeface="Cambria" pitchFamily="34" charset="-122"/>
                          <a:cs typeface="Cambria" pitchFamily="34" charset="-120"/>
                        </a:rPr>
                        <a:t>Watts–Strogatz</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tcPr>
                </a:tc>
                <a:tc>
                  <a:txBody>
                    <a:bodyPr/>
                    <a:lstStyle/>
                    <a:p>
                      <a:pPr indent="0" marL="0">
                        <a:buNone/>
                      </a:pPr>
                      <a:r>
                        <a:rPr lang="en-US" sz="1100" dirty="0">
                          <a:solidFill>
                            <a:srgbClr val="000000"/>
                          </a:solidFill>
                          <a:latin typeface="Cambria" pitchFamily="34" charset="0"/>
                          <a:ea typeface="Cambria" pitchFamily="34" charset="-122"/>
                          <a:cs typeface="Cambria" pitchFamily="34" charset="-120"/>
                        </a:rPr>
                        <a:t>Ring lattice + random rewiring (p = 0.1)</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tcPr>
                </a:tc>
                <a:tc>
                  <a:txBody>
                    <a:bodyPr/>
                    <a:lstStyle/>
                    <a:p>
                      <a:pPr algn="ctr" indent="0" marL="0">
                        <a:buNone/>
                      </a:pPr>
                      <a:r>
                        <a:rPr lang="en-US" sz="1100" dirty="0">
                          <a:solidFill>
                            <a:srgbClr val="000000"/>
                          </a:solidFill>
                          <a:latin typeface="Cambria" pitchFamily="34" charset="0"/>
                          <a:ea typeface="Cambria" pitchFamily="34" charset="-122"/>
                          <a:cs typeface="Cambria" pitchFamily="34" charset="-120"/>
                        </a:rPr>
                        <a:t>Narrow, homogeneous</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tcPr>
                </a:tc>
                <a:tc>
                  <a:txBody>
                    <a:bodyPr/>
                    <a:lstStyle/>
                    <a:p>
                      <a:pPr algn="ctr" indent="0" marL="0">
                        <a:buNone/>
                      </a:pPr>
                      <a:r>
                        <a:rPr lang="en-US" sz="1100" b="1" dirty="0">
                          <a:solidFill>
                            <a:srgbClr val="1E7D32"/>
                          </a:solidFill>
                          <a:latin typeface="Cambria" pitchFamily="34" charset="0"/>
                          <a:ea typeface="Cambria" pitchFamily="34" charset="-122"/>
                          <a:cs typeface="Cambria" pitchFamily="34" charset="-120"/>
                        </a:rPr>
                        <a:t>High  (0.488)</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tcPr>
                </a:tc>
                <a:tc>
                  <a:txBody>
                    <a:bodyPr/>
                    <a:lstStyle/>
                    <a:p>
                      <a:pPr algn="ctr" indent="0" marL="0">
                        <a:buNone/>
                      </a:pPr>
                      <a:r>
                        <a:rPr lang="en-US" sz="1100" dirty="0">
                          <a:solidFill>
                            <a:srgbClr val="000000"/>
                          </a:solidFill>
                          <a:latin typeface="Cambria" pitchFamily="34" charset="0"/>
                          <a:ea typeface="Cambria" pitchFamily="34" charset="-122"/>
                          <a:cs typeface="Cambria" pitchFamily="34" charset="-120"/>
                        </a:rPr>
                        <a:t>6.96</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tcPr>
                </a:tc>
                <a:tc>
                  <a:txBody>
                    <a:bodyPr/>
                    <a:lstStyle/>
                    <a:p>
                      <a:pPr algn="ctr" indent="0" marL="0">
                        <a:buNone/>
                      </a:pPr>
                      <a:r>
                        <a:rPr lang="en-US" sz="1100" dirty="0">
                          <a:solidFill>
                            <a:srgbClr val="000000"/>
                          </a:solidFill>
                          <a:latin typeface="Cambria" pitchFamily="34" charset="0"/>
                          <a:ea typeface="Cambria" pitchFamily="34" charset="-122"/>
                          <a:cs typeface="Cambria" pitchFamily="34" charset="-120"/>
                        </a:rPr>
                        <a:t>≈ 0  (-0.009)</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tcPr>
                </a:tc>
                <a:tc>
                  <a:txBody>
                    <a:bodyPr/>
                    <a:lstStyle/>
                    <a:p>
                      <a:pPr algn="ctr" indent="0" marL="0">
                        <a:buNone/>
                      </a:pPr>
                      <a:r>
                        <a:rPr lang="en-US" sz="1100" dirty="0">
                          <a:solidFill>
                            <a:srgbClr val="6B7280"/>
                          </a:solidFill>
                          <a:latin typeface="Cambria" pitchFamily="34" charset="0"/>
                          <a:ea typeface="Cambria" pitchFamily="34" charset="-122"/>
                          <a:cs typeface="Cambria" pitchFamily="34" charset="-120"/>
                        </a:rPr>
                        <a:t>No</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tcPr>
                </a:tc>
              </a:tr>
              <a:tr h="566928">
                <a:tc>
                  <a:txBody>
                    <a:bodyPr/>
                    <a:lstStyle/>
                    <a:p>
                      <a:pPr indent="0" marL="0">
                        <a:buNone/>
                      </a:pPr>
                      <a:r>
                        <a:rPr lang="en-US" sz="1100" b="1" dirty="0">
                          <a:solidFill>
                            <a:srgbClr val="000000"/>
                          </a:solidFill>
                          <a:latin typeface="Cambria" pitchFamily="34" charset="0"/>
                          <a:ea typeface="Cambria" pitchFamily="34" charset="-122"/>
                          <a:cs typeface="Cambria" pitchFamily="34" charset="-120"/>
                        </a:rPr>
                        <a:t>Barabási–Albert</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7F5FC"/>
                    </a:solidFill>
                  </a:tcPr>
                </a:tc>
                <a:tc>
                  <a:txBody>
                    <a:bodyPr/>
                    <a:lstStyle/>
                    <a:p>
                      <a:pPr indent="0" marL="0">
                        <a:buNone/>
                      </a:pPr>
                      <a:r>
                        <a:rPr lang="en-US" sz="1100" dirty="0">
                          <a:solidFill>
                            <a:srgbClr val="000000"/>
                          </a:solidFill>
                          <a:latin typeface="Cambria" pitchFamily="34" charset="0"/>
                          <a:ea typeface="Cambria" pitchFamily="34" charset="-122"/>
                          <a:cs typeface="Cambria" pitchFamily="34" charset="-120"/>
                        </a:rPr>
                        <a:t>Growth + preferential attachment</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000000"/>
                          </a:solidFill>
                          <a:latin typeface="Cambria" pitchFamily="34" charset="0"/>
                          <a:ea typeface="Cambria" pitchFamily="34" charset="-122"/>
                          <a:cs typeface="Cambria" pitchFamily="34" charset="-120"/>
                        </a:rPr>
                        <a:t>Power law (γ = 3)</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000000"/>
                          </a:solidFill>
                          <a:latin typeface="Cambria" pitchFamily="34" charset="0"/>
                          <a:ea typeface="Cambria" pitchFamily="34" charset="-122"/>
                          <a:cs typeface="Cambria" pitchFamily="34" charset="-120"/>
                        </a:rPr>
                        <a:t>≈ 0  (0.003)</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000000"/>
                          </a:solidFill>
                          <a:latin typeface="Cambria" pitchFamily="34" charset="0"/>
                          <a:ea typeface="Cambria" pitchFamily="34" charset="-122"/>
                          <a:cs typeface="Cambria" pitchFamily="34" charset="-120"/>
                        </a:rPr>
                        <a:t>3.97</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000000"/>
                          </a:solidFill>
                          <a:latin typeface="Cambria" pitchFamily="34" charset="0"/>
                          <a:ea typeface="Cambria" pitchFamily="34" charset="-122"/>
                          <a:cs typeface="Cambria" pitchFamily="34" charset="-120"/>
                        </a:rPr>
                        <a:t>≈ 0  (-0.02)</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7F5FC"/>
                    </a:solidFill>
                  </a:tcPr>
                </a:tc>
                <a:tc>
                  <a:txBody>
                    <a:bodyPr/>
                    <a:lstStyle/>
                    <a:p>
                      <a:pPr algn="ctr" indent="0" marL="0">
                        <a:buNone/>
                      </a:pPr>
                      <a:r>
                        <a:rPr lang="en-US" sz="1100" b="1" dirty="0">
                          <a:solidFill>
                            <a:srgbClr val="000000"/>
                          </a:solidFill>
                          <a:latin typeface="Cambria" pitchFamily="34" charset="0"/>
                          <a:ea typeface="Cambria" pitchFamily="34" charset="-122"/>
                          <a:cs typeface="Cambria" pitchFamily="34" charset="-120"/>
                        </a:rPr>
                        <a:t>Yes</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7F5FC"/>
                    </a:solidFill>
                  </a:tcPr>
                </a:tc>
              </a:tr>
              <a:tr h="566928">
                <a:tc>
                  <a:txBody>
                    <a:bodyPr/>
                    <a:lstStyle/>
                    <a:p>
                      <a:pPr indent="0" marL="0">
                        <a:buNone/>
                      </a:pPr>
                      <a:r>
                        <a:rPr lang="en-US" sz="1100" b="1" dirty="0">
                          <a:solidFill>
                            <a:srgbClr val="000000"/>
                          </a:solidFill>
                          <a:latin typeface="Cambria" pitchFamily="34" charset="0"/>
                          <a:ea typeface="Cambria" pitchFamily="34" charset="-122"/>
                          <a:cs typeface="Cambria" pitchFamily="34" charset="-120"/>
                        </a:rPr>
                        <a:t>Configuration Model</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tcPr>
                </a:tc>
                <a:tc>
                  <a:txBody>
                    <a:bodyPr/>
                    <a:lstStyle/>
                    <a:p>
                      <a:pPr indent="0" marL="0">
                        <a:buNone/>
                      </a:pPr>
                      <a:r>
                        <a:rPr lang="en-US" sz="1100" dirty="0">
                          <a:solidFill>
                            <a:srgbClr val="000000"/>
                          </a:solidFill>
                          <a:latin typeface="Cambria" pitchFamily="34" charset="0"/>
                          <a:ea typeface="Cambria" pitchFamily="34" charset="-122"/>
                          <a:cs typeface="Cambria" pitchFamily="34" charset="-120"/>
                        </a:rPr>
                        <a:t>Random graph, fixed degree sequence</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tcPr>
                </a:tc>
                <a:tc>
                  <a:txBody>
                    <a:bodyPr/>
                    <a:lstStyle/>
                    <a:p>
                      <a:pPr algn="ctr" indent="0" marL="0">
                        <a:buNone/>
                      </a:pPr>
                      <a:r>
                        <a:rPr lang="en-US" sz="1100" b="1" dirty="0">
                          <a:solidFill>
                            <a:srgbClr val="1E7D32"/>
                          </a:solidFill>
                          <a:latin typeface="Cambria" pitchFamily="34" charset="0"/>
                          <a:ea typeface="Cambria" pitchFamily="34" charset="-122"/>
                          <a:cs typeface="Cambria" pitchFamily="34" charset="-120"/>
                        </a:rPr>
                        <a:t>Matches input exactly</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tcPr>
                </a:tc>
                <a:tc>
                  <a:txBody>
                    <a:bodyPr/>
                    <a:lstStyle/>
                    <a:p>
                      <a:pPr algn="ctr" indent="0" marL="0">
                        <a:buNone/>
                      </a:pPr>
                      <a:r>
                        <a:rPr lang="en-US" sz="1100" dirty="0">
                          <a:solidFill>
                            <a:srgbClr val="000000"/>
                          </a:solidFill>
                          <a:latin typeface="Cambria" pitchFamily="34" charset="0"/>
                          <a:ea typeface="Cambria" pitchFamily="34" charset="-122"/>
                          <a:cs typeface="Cambria" pitchFamily="34" charset="-120"/>
                        </a:rPr>
                        <a:t>Low  (0.029)</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tcPr>
                </a:tc>
                <a:tc>
                  <a:txBody>
                    <a:bodyPr/>
                    <a:lstStyle/>
                    <a:p>
                      <a:pPr algn="ctr" indent="0" marL="0">
                        <a:buNone/>
                      </a:pPr>
                      <a:r>
                        <a:rPr lang="en-US" sz="1100" dirty="0">
                          <a:solidFill>
                            <a:srgbClr val="000000"/>
                          </a:solidFill>
                          <a:latin typeface="Cambria" pitchFamily="34" charset="0"/>
                          <a:ea typeface="Cambria" pitchFamily="34" charset="-122"/>
                          <a:cs typeface="Cambria" pitchFamily="34" charset="-120"/>
                        </a:rPr>
                        <a:t>3.65</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tcPr>
                </a:tc>
                <a:tc>
                  <a:txBody>
                    <a:bodyPr/>
                    <a:lstStyle/>
                    <a:p>
                      <a:pPr algn="ctr" indent="0" marL="0">
                        <a:buNone/>
                      </a:pPr>
                      <a:r>
                        <a:rPr lang="en-US" sz="1100" dirty="0">
                          <a:solidFill>
                            <a:srgbClr val="000000"/>
                          </a:solidFill>
                          <a:latin typeface="Cambria" pitchFamily="34" charset="0"/>
                          <a:ea typeface="Cambria" pitchFamily="34" charset="-122"/>
                          <a:cs typeface="Cambria" pitchFamily="34" charset="-120"/>
                        </a:rPr>
                        <a:t>Slight -  (-0.048)</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tcPr>
                </a:tc>
                <a:tc>
                  <a:txBody>
                    <a:bodyPr/>
                    <a:lstStyle/>
                    <a:p>
                      <a:pPr algn="ctr" indent="0" marL="0">
                        <a:buNone/>
                      </a:pPr>
                      <a:r>
                        <a:rPr lang="en-US" sz="1100" b="1" dirty="0">
                          <a:solidFill>
                            <a:srgbClr val="000000"/>
                          </a:solidFill>
                          <a:latin typeface="Cambria" pitchFamily="34" charset="0"/>
                          <a:ea typeface="Cambria" pitchFamily="34" charset="-122"/>
                          <a:cs typeface="Cambria" pitchFamily="34" charset="-120"/>
                        </a:rPr>
                        <a:t>Yes</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tcPr>
                </a:tc>
              </a:tr>
              <a:tr h="566928">
                <a:tc>
                  <a:txBody>
                    <a:bodyPr/>
                    <a:lstStyle/>
                    <a:p>
                      <a:pPr indent="0" marL="0">
                        <a:buNone/>
                      </a:pPr>
                      <a:r>
                        <a:rPr lang="en-US" sz="1100" b="1" dirty="0">
                          <a:solidFill>
                            <a:srgbClr val="FF1F71"/>
                          </a:solidFill>
                          <a:latin typeface="Cambria" pitchFamily="34" charset="0"/>
                          <a:ea typeface="Cambria" pitchFamily="34" charset="-122"/>
                          <a:cs typeface="Cambria" pitchFamily="34" charset="-120"/>
                        </a:rPr>
                        <a:t>Enron (real)</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EAF3"/>
                    </a:solidFill>
                  </a:tcPr>
                </a:tc>
                <a:tc>
                  <a:txBody>
                    <a:bodyPr/>
                    <a:lstStyle/>
                    <a:p>
                      <a:pPr indent="0" marL="0">
                        <a:buNone/>
                      </a:pPr>
                      <a:r>
                        <a:rPr lang="en-US" sz="1100" dirty="0">
                          <a:solidFill>
                            <a:srgbClr val="000000"/>
                          </a:solidFill>
                          <a:latin typeface="Cambria" pitchFamily="34" charset="0"/>
                          <a:ea typeface="Cambria" pitchFamily="34" charset="-122"/>
                          <a:cs typeface="Cambria" pitchFamily="34" charset="-120"/>
                        </a:rPr>
                        <a:t>—</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EAF3"/>
                    </a:solidFill>
                  </a:tcPr>
                </a:tc>
                <a:tc>
                  <a:txBody>
                    <a:bodyPr/>
                    <a:lstStyle/>
                    <a:p>
                      <a:pPr algn="ctr" indent="0" marL="0">
                        <a:buNone/>
                      </a:pPr>
                      <a:r>
                        <a:rPr lang="en-US" sz="1100" b="1" dirty="0">
                          <a:solidFill>
                            <a:srgbClr val="000000"/>
                          </a:solidFill>
                          <a:latin typeface="Cambria" pitchFamily="34" charset="0"/>
                          <a:ea typeface="Cambria" pitchFamily="34" charset="-122"/>
                          <a:cs typeface="Cambria" pitchFamily="34" charset="-120"/>
                        </a:rPr>
                        <a:t>Heavy-tailed + cutoff</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EAF3"/>
                    </a:solidFill>
                  </a:tcPr>
                </a:tc>
                <a:tc>
                  <a:txBody>
                    <a:bodyPr/>
                    <a:lstStyle/>
                    <a:p>
                      <a:pPr algn="ctr" indent="0" marL="0">
                        <a:buNone/>
                      </a:pPr>
                      <a:r>
                        <a:rPr lang="en-US" sz="1100" b="1" dirty="0">
                          <a:solidFill>
                            <a:srgbClr val="FF1F71"/>
                          </a:solidFill>
                          <a:latin typeface="Cambria" pitchFamily="34" charset="0"/>
                          <a:ea typeface="Cambria" pitchFamily="34" charset="-122"/>
                          <a:cs typeface="Cambria" pitchFamily="34" charset="-120"/>
                        </a:rPr>
                        <a:t>High  (0.509)</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EAF3"/>
                    </a:solidFill>
                  </a:tcPr>
                </a:tc>
                <a:tc>
                  <a:txBody>
                    <a:bodyPr/>
                    <a:lstStyle/>
                    <a:p>
                      <a:pPr algn="ctr" indent="0" marL="0">
                        <a:buNone/>
                      </a:pPr>
                      <a:r>
                        <a:rPr lang="en-US" sz="1100" b="1" dirty="0">
                          <a:solidFill>
                            <a:srgbClr val="000000"/>
                          </a:solidFill>
                          <a:latin typeface="Cambria" pitchFamily="34" charset="0"/>
                          <a:ea typeface="Cambria" pitchFamily="34" charset="-122"/>
                          <a:cs typeface="Cambria" pitchFamily="34" charset="-120"/>
                        </a:rPr>
                        <a:t>3.96</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EAF3"/>
                    </a:solidFill>
                  </a:tcPr>
                </a:tc>
                <a:tc>
                  <a:txBody>
                    <a:bodyPr/>
                    <a:lstStyle/>
                    <a:p>
                      <a:pPr algn="ctr" indent="0" marL="0">
                        <a:buNone/>
                      </a:pPr>
                      <a:r>
                        <a:rPr lang="en-US" sz="1100" b="1" dirty="0">
                          <a:solidFill>
                            <a:srgbClr val="FF1F71"/>
                          </a:solidFill>
                          <a:latin typeface="Cambria" pitchFamily="34" charset="0"/>
                          <a:ea typeface="Cambria" pitchFamily="34" charset="-122"/>
                          <a:cs typeface="Cambria" pitchFamily="34" charset="-120"/>
                        </a:rPr>
                        <a:t>Negative  (-0.116)</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EAF3"/>
                    </a:solidFill>
                  </a:tcPr>
                </a:tc>
                <a:tc>
                  <a:txBody>
                    <a:bodyPr/>
                    <a:lstStyle/>
                    <a:p>
                      <a:pPr algn="ctr" indent="0" marL="0">
                        <a:buNone/>
                      </a:pPr>
                      <a:r>
                        <a:rPr lang="en-US" sz="1100" b="1" dirty="0">
                          <a:solidFill>
                            <a:srgbClr val="000000"/>
                          </a:solidFill>
                          <a:latin typeface="Cambria" pitchFamily="34" charset="0"/>
                          <a:ea typeface="Cambria" pitchFamily="34" charset="-122"/>
                          <a:cs typeface="Cambria" pitchFamily="34" charset="-120"/>
                        </a:rPr>
                        <a:t>Yes</a:t>
                      </a:r>
                      <a:endParaRPr lang="en-US" sz="1100" dirty="0">
                        <a:latin typeface="Cambria" charset="0"/>
                        <a:ea typeface="Cambria" charset="0"/>
                        <a:cs typeface="Cambria" charset="0"/>
                      </a:endParaRPr>
                    </a:p>
                  </a:txBody>
                  <a:tcPr marL="91440" marR="91440" marT="45720" marB="45720" anchor="ctr">
                    <a:lnL w="9525" cap="flat" cmpd="sng" algn="ctr">
                      <a:solidFill>
                        <a:srgbClr val="E5E1F0"/>
                      </a:solidFill>
                      <a:prstDash val="solid"/>
                      <a:round/>
                      <a:headEnd type="none" w="med" len="med"/>
                      <a:tailEnd type="none" w="med" len="med"/>
                    </a:lnL>
                    <a:lnR w="9525" cap="flat" cmpd="sng" algn="ctr">
                      <a:solidFill>
                        <a:srgbClr val="E5E1F0"/>
                      </a:solidFill>
                      <a:prstDash val="solid"/>
                      <a:round/>
                      <a:headEnd type="none" w="med" len="med"/>
                      <a:tailEnd type="none" w="med" len="med"/>
                    </a:lnR>
                    <a:lnT w="9525" cap="flat" cmpd="sng" algn="ctr">
                      <a:solidFill>
                        <a:srgbClr val="E5E1F0"/>
                      </a:solidFill>
                      <a:prstDash val="solid"/>
                      <a:round/>
                      <a:headEnd type="none" w="med" len="med"/>
                      <a:tailEnd type="none" w="med" len="med"/>
                    </a:lnT>
                    <a:lnB w="9525" cap="flat" cmpd="sng" algn="ctr">
                      <a:solidFill>
                        <a:srgbClr val="E5E1F0"/>
                      </a:solidFill>
                      <a:prstDash val="solid"/>
                      <a:round/>
                      <a:headEnd type="none" w="med" len="med"/>
                      <a:tailEnd type="none" w="med" len="med"/>
                    </a:lnB>
                    <a:solidFill>
                      <a:srgbClr val="FFEAF3"/>
                    </a:solidFill>
                  </a:tcPr>
                </a:tc>
              </a:tr>
            </a:tbl>
          </a:graphicData>
        </a:graphic>
      </p:graphicFrame>
      <p:sp>
        <p:nvSpPr>
          <p:cNvPr id="14" name="Shape 11"/>
          <p:cNvSpPr/>
          <p:nvPr/>
        </p:nvSpPr>
        <p:spPr>
          <a:xfrm>
            <a:off x="457200" y="5623560"/>
            <a:ext cx="11274552" cy="777240"/>
          </a:xfrm>
          <a:prstGeom prst="roundRect">
            <a:avLst>
              <a:gd name="adj" fmla="val 10588"/>
            </a:avLst>
          </a:prstGeom>
          <a:solidFill>
            <a:srgbClr val="F5F3FA"/>
          </a:solidFill>
          <a:ln/>
        </p:spPr>
      </p:sp>
      <p:sp>
        <p:nvSpPr>
          <p:cNvPr id="15" name="Text 12"/>
          <p:cNvSpPr/>
          <p:nvPr/>
        </p:nvSpPr>
        <p:spPr>
          <a:xfrm>
            <a:off x="685800" y="5623560"/>
            <a:ext cx="10835640" cy="777240"/>
          </a:xfrm>
          <a:prstGeom prst="rect">
            <a:avLst/>
          </a:prstGeom>
          <a:noFill/>
          <a:ln/>
        </p:spPr>
        <p:txBody>
          <a:bodyPr wrap="square" lIns="0" tIns="0" rIns="0" bIns="0" rtlCol="0" anchor="ctr"/>
          <a:lstStyle/>
          <a:p>
            <a:pPr indent="0" marL="0">
              <a:lnSpc>
                <a:spcPct val="105000"/>
              </a:lnSpc>
              <a:buNone/>
            </a:pPr>
            <a:r>
              <a:rPr lang="en-US" sz="1250" b="1" dirty="0">
                <a:solidFill>
                  <a:srgbClr val="FF1F71"/>
                </a:solidFill>
                <a:latin typeface="Cambria" pitchFamily="34" charset="0"/>
                <a:ea typeface="Cambria" pitchFamily="34" charset="-122"/>
                <a:cs typeface="Cambria" pitchFamily="34" charset="-120"/>
              </a:rPr>
              <a:t>Takeaway:  </a:t>
            </a:r>
            <a:pPr indent="0" marL="0">
              <a:lnSpc>
                <a:spcPct val="105000"/>
              </a:lnSpc>
              <a:buNone/>
            </a:pPr>
            <a:r>
              <a:rPr lang="en-US" sz="1250" dirty="0">
                <a:solidFill>
                  <a:srgbClr val="1B0E3D"/>
                </a:solidFill>
                <a:latin typeface="Cambria" pitchFamily="34" charset="0"/>
                <a:ea typeface="Cambria" pitchFamily="34" charset="-122"/>
                <a:cs typeface="Cambria" pitchFamily="34" charset="-120"/>
              </a:rPr>
              <a:t>no single null model reproduces everything. The Configuration Model matches the degree sequence, Watts–Strogatz matches the clustering — only the real network combines a heavy tail AND triadic closure.</a:t>
            </a:r>
            <a:endParaRPr lang="en-US" sz="1250" dirty="0"/>
          </a:p>
        </p:txBody>
      </p:sp>
      <p:sp>
        <p:nvSpPr>
          <p:cNvPr id="16" name="Text 13"/>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B3AFC7"/>
                </a:solidFill>
                <a:latin typeface="Cambria" pitchFamily="34" charset="0"/>
                <a:ea typeface="Cambria" pitchFamily="34" charset="-122"/>
                <a:cs typeface="Cambria" pitchFamily="34" charset="-120"/>
              </a:rPr>
              <a:t>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50" b="1" spc="200" kern="0" dirty="0">
                <a:solidFill>
                  <a:srgbClr val="0091FF"/>
                </a:solidFill>
                <a:latin typeface="Cambria" pitchFamily="34" charset="0"/>
                <a:ea typeface="Cambria" pitchFamily="34" charset="-122"/>
                <a:cs typeface="Cambria" pitchFamily="34" charset="-120"/>
              </a:rPr>
              <a:t>PART 6</a:t>
            </a:r>
            <a:endParaRPr lang="en-US" sz="125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buNone/>
            </a:pPr>
            <a:r>
              <a:rPr lang="en-US" sz="3000" b="1" dirty="0">
                <a:solidFill>
                  <a:srgbClr val="1B0E3D"/>
                </a:solidFill>
                <a:latin typeface="Cambria" pitchFamily="34" charset="0"/>
                <a:ea typeface="Cambria" pitchFamily="34" charset="-122"/>
                <a:cs typeface="Cambria" pitchFamily="34" charset="-120"/>
              </a:rPr>
              <a:t>Robustness: Random Failures vs. Targeted Attacks</a:t>
            </a:r>
            <a:endParaRPr lang="en-US" sz="3000" dirty="0"/>
          </a:p>
        </p:txBody>
      </p:sp>
      <p:sp>
        <p:nvSpPr>
          <p:cNvPr id="4" name="Shape 2"/>
          <p:cNvSpPr/>
          <p:nvPr/>
        </p:nvSpPr>
        <p:spPr>
          <a:xfrm>
            <a:off x="11034979" y="492862"/>
            <a:ext cx="310896" cy="279806"/>
          </a:xfrm>
          <a:prstGeom prst="line">
            <a:avLst/>
          </a:prstGeom>
          <a:noFill/>
          <a:ln w="12700">
            <a:solidFill>
              <a:srgbClr val="CFC9E4"/>
            </a:solidFill>
            <a:prstDash val="solid"/>
          </a:ln>
        </p:spPr>
      </p:sp>
      <p:sp>
        <p:nvSpPr>
          <p:cNvPr id="5" name="Shape 3"/>
          <p:cNvSpPr/>
          <p:nvPr/>
        </p:nvSpPr>
        <p:spPr>
          <a:xfrm flipV="1">
            <a:off x="11345875" y="461772"/>
            <a:ext cx="295351" cy="310896"/>
          </a:xfrm>
          <a:prstGeom prst="line">
            <a:avLst/>
          </a:prstGeom>
          <a:noFill/>
          <a:ln w="12700">
            <a:solidFill>
              <a:srgbClr val="CFC9E4"/>
            </a:solidFill>
            <a:prstDash val="solid"/>
          </a:ln>
        </p:spPr>
      </p:sp>
      <p:sp>
        <p:nvSpPr>
          <p:cNvPr id="6" name="Shape 4"/>
          <p:cNvSpPr/>
          <p:nvPr/>
        </p:nvSpPr>
        <p:spPr>
          <a:xfrm flipV="1">
            <a:off x="11019434" y="772668"/>
            <a:ext cx="326441" cy="295351"/>
          </a:xfrm>
          <a:prstGeom prst="line">
            <a:avLst/>
          </a:prstGeom>
          <a:noFill/>
          <a:ln w="12700">
            <a:solidFill>
              <a:srgbClr val="CFC9E4"/>
            </a:solidFill>
            <a:prstDash val="solid"/>
          </a:ln>
        </p:spPr>
      </p:sp>
      <p:sp>
        <p:nvSpPr>
          <p:cNvPr id="7" name="Shape 5"/>
          <p:cNvSpPr/>
          <p:nvPr/>
        </p:nvSpPr>
        <p:spPr>
          <a:xfrm>
            <a:off x="11345875" y="772668"/>
            <a:ext cx="310896" cy="279806"/>
          </a:xfrm>
          <a:prstGeom prst="line">
            <a:avLst/>
          </a:prstGeom>
          <a:noFill/>
          <a:ln w="12700">
            <a:solidFill>
              <a:srgbClr val="CFC9E4"/>
            </a:solidFill>
            <a:prstDash val="solid"/>
          </a:ln>
        </p:spPr>
      </p:sp>
      <p:sp>
        <p:nvSpPr>
          <p:cNvPr id="8" name="Shape 6"/>
          <p:cNvSpPr/>
          <p:nvPr/>
        </p:nvSpPr>
        <p:spPr>
          <a:xfrm>
            <a:off x="10974354" y="432237"/>
            <a:ext cx="121249" cy="121249"/>
          </a:xfrm>
          <a:prstGeom prst="ellipse">
            <a:avLst/>
          </a:prstGeom>
          <a:solidFill>
            <a:srgbClr val="0091FF"/>
          </a:solidFill>
          <a:ln/>
        </p:spPr>
      </p:sp>
      <p:sp>
        <p:nvSpPr>
          <p:cNvPr id="9" name="Shape 7"/>
          <p:cNvSpPr/>
          <p:nvPr/>
        </p:nvSpPr>
        <p:spPr>
          <a:xfrm>
            <a:off x="11594592" y="415138"/>
            <a:ext cx="93269" cy="93269"/>
          </a:xfrm>
          <a:prstGeom prst="ellipse">
            <a:avLst/>
          </a:prstGeom>
          <a:solidFill>
            <a:srgbClr val="FFB800"/>
          </a:solidFill>
          <a:ln/>
        </p:spPr>
      </p:sp>
      <p:sp>
        <p:nvSpPr>
          <p:cNvPr id="10" name="Shape 8"/>
          <p:cNvSpPr/>
          <p:nvPr/>
        </p:nvSpPr>
        <p:spPr>
          <a:xfrm>
            <a:off x="10972800" y="1021385"/>
            <a:ext cx="93269" cy="93269"/>
          </a:xfrm>
          <a:prstGeom prst="ellipse">
            <a:avLst/>
          </a:prstGeom>
          <a:solidFill>
            <a:srgbClr val="FF1F71"/>
          </a:solidFill>
          <a:ln/>
        </p:spPr>
      </p:sp>
      <p:sp>
        <p:nvSpPr>
          <p:cNvPr id="11" name="Shape 9"/>
          <p:cNvSpPr/>
          <p:nvPr/>
        </p:nvSpPr>
        <p:spPr>
          <a:xfrm>
            <a:off x="11596146" y="991850"/>
            <a:ext cx="121249" cy="121249"/>
          </a:xfrm>
          <a:prstGeom prst="ellipse">
            <a:avLst/>
          </a:prstGeom>
          <a:solidFill>
            <a:srgbClr val="0091FF"/>
          </a:solidFill>
          <a:ln/>
        </p:spPr>
      </p:sp>
      <p:sp>
        <p:nvSpPr>
          <p:cNvPr id="12" name="Shape 10"/>
          <p:cNvSpPr/>
          <p:nvPr/>
        </p:nvSpPr>
        <p:spPr>
          <a:xfrm>
            <a:off x="11256493" y="683285"/>
            <a:ext cx="178765" cy="178765"/>
          </a:xfrm>
          <a:prstGeom prst="ellipse">
            <a:avLst/>
          </a:prstGeom>
          <a:solidFill>
            <a:srgbClr val="1B0E3D"/>
          </a:solidFill>
          <a:ln w="19050">
            <a:solidFill>
              <a:srgbClr val="FFFFFF"/>
            </a:solidFill>
            <a:prstDash val="solid"/>
          </a:ln>
        </p:spPr>
      </p:sp>
      <p:sp>
        <p:nvSpPr>
          <p:cNvPr id="13" name="Shape 11"/>
          <p:cNvSpPr/>
          <p:nvPr/>
        </p:nvSpPr>
        <p:spPr>
          <a:xfrm>
            <a:off x="548640" y="1600200"/>
            <a:ext cx="6035040" cy="4434840"/>
          </a:xfrm>
          <a:prstGeom prst="roundRect">
            <a:avLst>
              <a:gd name="adj" fmla="val 2062"/>
            </a:avLst>
          </a:prstGeom>
          <a:solidFill>
            <a:srgbClr val="F5F3FA"/>
          </a:solidFill>
          <a:ln w="15875">
            <a:solidFill>
              <a:srgbClr val="0091FF"/>
            </a:solidFill>
            <a:prstDash val="dash"/>
          </a:ln>
        </p:spPr>
      </p:sp>
      <p:sp>
        <p:nvSpPr>
          <p:cNvPr id="14" name="Text 12"/>
          <p:cNvSpPr/>
          <p:nvPr/>
        </p:nvSpPr>
        <p:spPr>
          <a:xfrm>
            <a:off x="777240" y="1783080"/>
            <a:ext cx="5577840" cy="320040"/>
          </a:xfrm>
          <a:prstGeom prst="rect">
            <a:avLst/>
          </a:prstGeom>
          <a:noFill/>
          <a:ln/>
        </p:spPr>
        <p:txBody>
          <a:bodyPr wrap="square" lIns="0" tIns="0" rIns="0" bIns="0" rtlCol="0" anchor="ctr"/>
          <a:lstStyle/>
          <a:p>
            <a:pPr algn="l" indent="0" marL="0">
              <a:buNone/>
            </a:pPr>
            <a:r>
              <a:rPr lang="en-US" sz="1200" b="1" dirty="0">
                <a:solidFill>
                  <a:srgbClr val="0091FF"/>
                </a:solidFill>
                <a:latin typeface="Cambria" pitchFamily="34" charset="0"/>
                <a:ea typeface="Cambria" pitchFamily="34" charset="-122"/>
                <a:cs typeface="Cambria" pitchFamily="34" charset="-120"/>
              </a:rPr>
              <a:t>FIGURE 5</a:t>
            </a:r>
            <a:endParaRPr lang="en-US" sz="1200" dirty="0"/>
          </a:p>
        </p:txBody>
      </p:sp>
      <p:sp>
        <p:nvSpPr>
          <p:cNvPr id="15" name="Text 13"/>
          <p:cNvSpPr/>
          <p:nvPr/>
        </p:nvSpPr>
        <p:spPr>
          <a:xfrm>
            <a:off x="548640" y="3462833"/>
            <a:ext cx="6035040" cy="365760"/>
          </a:xfrm>
          <a:prstGeom prst="rect">
            <a:avLst/>
          </a:prstGeom>
          <a:noFill/>
          <a:ln/>
        </p:spPr>
        <p:txBody>
          <a:bodyPr wrap="square" lIns="0" tIns="0" rIns="0" bIns="0" rtlCol="0" anchor="ctr"/>
          <a:lstStyle/>
          <a:p>
            <a:pPr algn="ctr" indent="0" marL="0">
              <a:buNone/>
            </a:pPr>
            <a:r>
              <a:rPr lang="en-US" sz="1400" b="1" i="1" dirty="0">
                <a:solidFill>
                  <a:srgbClr val="9B93B8"/>
                </a:solidFill>
                <a:latin typeface="Cambria" pitchFamily="34" charset="0"/>
                <a:ea typeface="Cambria" pitchFamily="34" charset="-122"/>
                <a:cs typeface="Cambria" pitchFamily="34" charset="-120"/>
              </a:rPr>
              <a:t>insert figure here</a:t>
            </a:r>
            <a:endParaRPr lang="en-US" sz="1400" dirty="0"/>
          </a:p>
        </p:txBody>
      </p:sp>
      <p:sp>
        <p:nvSpPr>
          <p:cNvPr id="16" name="Text 14"/>
          <p:cNvSpPr/>
          <p:nvPr/>
        </p:nvSpPr>
        <p:spPr>
          <a:xfrm>
            <a:off x="822960" y="5468112"/>
            <a:ext cx="5486400" cy="457200"/>
          </a:xfrm>
          <a:prstGeom prst="rect">
            <a:avLst/>
          </a:prstGeom>
          <a:noFill/>
          <a:ln/>
        </p:spPr>
        <p:txBody>
          <a:bodyPr wrap="square" lIns="0" tIns="0" rIns="0" bIns="0" rtlCol="0" anchor="t"/>
          <a:lstStyle/>
          <a:p>
            <a:pPr algn="l" indent="0" marL="0">
              <a:buNone/>
            </a:pPr>
            <a:r>
              <a:rPr lang="en-US" sz="1000" i="1" dirty="0">
                <a:solidFill>
                  <a:srgbClr val="6B7280"/>
                </a:solidFill>
                <a:latin typeface="Cambria" pitchFamily="34" charset="0"/>
                <a:ea typeface="Cambria" pitchFamily="34" charset="-122"/>
                <a:cs typeface="Cambria" pitchFamily="34" charset="-120"/>
              </a:rPr>
              <a:t>P(f)/P(0) — relative Giant Component size vs. fraction of nodes removed, random vs. targeted — Part 6b</a:t>
            </a:r>
            <a:endParaRPr lang="en-US" sz="1000" dirty="0"/>
          </a:p>
        </p:txBody>
      </p:sp>
      <p:sp>
        <p:nvSpPr>
          <p:cNvPr id="17" name="Text 15"/>
          <p:cNvSpPr/>
          <p:nvPr/>
        </p:nvSpPr>
        <p:spPr>
          <a:xfrm>
            <a:off x="6949440" y="1627632"/>
            <a:ext cx="4663440" cy="274320"/>
          </a:xfrm>
          <a:prstGeom prst="rect">
            <a:avLst/>
          </a:prstGeom>
          <a:noFill/>
          <a:ln/>
        </p:spPr>
        <p:txBody>
          <a:bodyPr wrap="square" lIns="0" tIns="0" rIns="0" bIns="0" rtlCol="0" anchor="ctr"/>
          <a:lstStyle/>
          <a:p>
            <a:pPr indent="0" marL="0">
              <a:buNone/>
            </a:pPr>
            <a:r>
              <a:rPr lang="en-US" sz="1500" b="1" dirty="0">
                <a:solidFill>
                  <a:srgbClr val="1B0E3D"/>
                </a:solidFill>
                <a:latin typeface="Cambria" pitchFamily="34" charset="0"/>
                <a:ea typeface="Cambria" pitchFamily="34" charset="-122"/>
                <a:cs typeface="Cambria" pitchFamily="34" charset="-120"/>
              </a:rPr>
              <a:t>Critical Threshold fₑ</a:t>
            </a:r>
            <a:endParaRPr lang="en-US" sz="1500" dirty="0"/>
          </a:p>
        </p:txBody>
      </p:sp>
      <p:sp>
        <p:nvSpPr>
          <p:cNvPr id="18" name="Shape 16"/>
          <p:cNvSpPr/>
          <p:nvPr/>
        </p:nvSpPr>
        <p:spPr>
          <a:xfrm>
            <a:off x="6949440" y="2039112"/>
            <a:ext cx="137160" cy="137160"/>
          </a:xfrm>
          <a:prstGeom prst="ellipse">
            <a:avLst/>
          </a:prstGeom>
          <a:solidFill>
            <a:srgbClr val="0091FF"/>
          </a:solidFill>
          <a:ln/>
        </p:spPr>
      </p:sp>
      <p:sp>
        <p:nvSpPr>
          <p:cNvPr id="19" name="Text 17"/>
          <p:cNvSpPr/>
          <p:nvPr/>
        </p:nvSpPr>
        <p:spPr>
          <a:xfrm>
            <a:off x="7242048" y="1901952"/>
            <a:ext cx="4370832" cy="457200"/>
          </a:xfrm>
          <a:prstGeom prst="rect">
            <a:avLst/>
          </a:prstGeom>
          <a:noFill/>
          <a:ln/>
        </p:spPr>
        <p:txBody>
          <a:bodyPr wrap="square" lIns="0" tIns="0" rIns="0" bIns="0" rtlCol="0" anchor="ctr"/>
          <a:lstStyle/>
          <a:p>
            <a:pPr indent="0" marL="0">
              <a:lnSpc>
                <a:spcPct val="102000"/>
              </a:lnSpc>
              <a:buNone/>
            </a:pPr>
            <a:r>
              <a:rPr lang="en-US" sz="1500" b="1" dirty="0">
                <a:solidFill>
                  <a:srgbClr val="0091FF"/>
                </a:solidFill>
                <a:latin typeface="Cambria" pitchFamily="34" charset="0"/>
                <a:ea typeface="Cambria" pitchFamily="34" charset="-122"/>
                <a:cs typeface="Cambria" pitchFamily="34" charset="-120"/>
              </a:rPr>
              <a:t>0.993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analytical, Molloy-Reed formula</a:t>
            </a:r>
            <a:endParaRPr lang="en-US" sz="1500" dirty="0"/>
          </a:p>
        </p:txBody>
      </p:sp>
      <p:sp>
        <p:nvSpPr>
          <p:cNvPr id="20" name="Shape 18"/>
          <p:cNvSpPr/>
          <p:nvPr/>
        </p:nvSpPr>
        <p:spPr>
          <a:xfrm>
            <a:off x="6949440" y="2496312"/>
            <a:ext cx="137160" cy="137160"/>
          </a:xfrm>
          <a:prstGeom prst="ellipse">
            <a:avLst/>
          </a:prstGeom>
          <a:solidFill>
            <a:srgbClr val="0091FF"/>
          </a:solidFill>
          <a:ln/>
        </p:spPr>
      </p:sp>
      <p:sp>
        <p:nvSpPr>
          <p:cNvPr id="21" name="Text 19"/>
          <p:cNvSpPr/>
          <p:nvPr/>
        </p:nvSpPr>
        <p:spPr>
          <a:xfrm>
            <a:off x="7242048" y="2359152"/>
            <a:ext cx="4370832" cy="457200"/>
          </a:xfrm>
          <a:prstGeom prst="rect">
            <a:avLst/>
          </a:prstGeom>
          <a:noFill/>
          <a:ln/>
        </p:spPr>
        <p:txBody>
          <a:bodyPr wrap="square" lIns="0" tIns="0" rIns="0" bIns="0" rtlCol="0" anchor="ctr"/>
          <a:lstStyle/>
          <a:p>
            <a:pPr indent="0" marL="0">
              <a:lnSpc>
                <a:spcPct val="102000"/>
              </a:lnSpc>
              <a:buNone/>
            </a:pPr>
            <a:r>
              <a:rPr lang="en-US" sz="1500" b="1" dirty="0">
                <a:solidFill>
                  <a:srgbClr val="0091FF"/>
                </a:solidFill>
                <a:latin typeface="Cambria" pitchFamily="34" charset="0"/>
                <a:ea typeface="Cambria" pitchFamily="34" charset="-122"/>
                <a:cs typeface="Cambria" pitchFamily="34" charset="-120"/>
              </a:rPr>
              <a:t>≈ 0.93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empirical, random failure (same order)</a:t>
            </a:r>
            <a:endParaRPr lang="en-US" sz="1500" dirty="0"/>
          </a:p>
        </p:txBody>
      </p:sp>
      <p:sp>
        <p:nvSpPr>
          <p:cNvPr id="22" name="Shape 20"/>
          <p:cNvSpPr/>
          <p:nvPr/>
        </p:nvSpPr>
        <p:spPr>
          <a:xfrm>
            <a:off x="6949440" y="2953512"/>
            <a:ext cx="137160" cy="137160"/>
          </a:xfrm>
          <a:prstGeom prst="ellipse">
            <a:avLst/>
          </a:prstGeom>
          <a:solidFill>
            <a:srgbClr val="FF1F71"/>
          </a:solidFill>
          <a:ln/>
        </p:spPr>
      </p:sp>
      <p:sp>
        <p:nvSpPr>
          <p:cNvPr id="23" name="Text 21"/>
          <p:cNvSpPr/>
          <p:nvPr/>
        </p:nvSpPr>
        <p:spPr>
          <a:xfrm>
            <a:off x="7242048" y="2816352"/>
            <a:ext cx="4370832" cy="457200"/>
          </a:xfrm>
          <a:prstGeom prst="rect">
            <a:avLst/>
          </a:prstGeom>
          <a:noFill/>
          <a:ln/>
        </p:spPr>
        <p:txBody>
          <a:bodyPr wrap="square" lIns="0" tIns="0" rIns="0" bIns="0" rtlCol="0" anchor="ctr"/>
          <a:lstStyle/>
          <a:p>
            <a:pPr indent="0" marL="0">
              <a:lnSpc>
                <a:spcPct val="102000"/>
              </a:lnSpc>
              <a:buNone/>
            </a:pPr>
            <a:r>
              <a:rPr lang="en-US" sz="1500" b="1" dirty="0">
                <a:solidFill>
                  <a:srgbClr val="FF1F71"/>
                </a:solidFill>
                <a:latin typeface="Cambria" pitchFamily="34" charset="0"/>
                <a:ea typeface="Cambria" pitchFamily="34" charset="-122"/>
                <a:cs typeface="Cambria" pitchFamily="34" charset="-120"/>
              </a:rPr>
              <a:t>≈ 0.13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empirical, degree-targeted attack</a:t>
            </a:r>
            <a:endParaRPr lang="en-US" sz="1500" dirty="0"/>
          </a:p>
        </p:txBody>
      </p:sp>
      <p:sp>
        <p:nvSpPr>
          <p:cNvPr id="24" name="Shape 22"/>
          <p:cNvSpPr/>
          <p:nvPr/>
        </p:nvSpPr>
        <p:spPr>
          <a:xfrm>
            <a:off x="6949440" y="3410712"/>
            <a:ext cx="137160" cy="137160"/>
          </a:xfrm>
          <a:prstGeom prst="ellipse">
            <a:avLst/>
          </a:prstGeom>
          <a:solidFill>
            <a:srgbClr val="FF1F71"/>
          </a:solidFill>
          <a:ln/>
        </p:spPr>
      </p:sp>
      <p:sp>
        <p:nvSpPr>
          <p:cNvPr id="25" name="Text 23"/>
          <p:cNvSpPr/>
          <p:nvPr/>
        </p:nvSpPr>
        <p:spPr>
          <a:xfrm>
            <a:off x="7242048" y="3273552"/>
            <a:ext cx="4370832" cy="457200"/>
          </a:xfrm>
          <a:prstGeom prst="rect">
            <a:avLst/>
          </a:prstGeom>
          <a:noFill/>
          <a:ln/>
        </p:spPr>
        <p:txBody>
          <a:bodyPr wrap="square" lIns="0" tIns="0" rIns="0" bIns="0" rtlCol="0" anchor="ctr"/>
          <a:lstStyle/>
          <a:p>
            <a:pPr indent="0" marL="0">
              <a:lnSpc>
                <a:spcPct val="102000"/>
              </a:lnSpc>
              <a:buNone/>
            </a:pPr>
            <a:r>
              <a:rPr lang="en-US" sz="1500" b="1" dirty="0">
                <a:solidFill>
                  <a:srgbClr val="FF1F71"/>
                </a:solidFill>
                <a:latin typeface="Cambria" pitchFamily="34" charset="0"/>
                <a:ea typeface="Cambria" pitchFamily="34" charset="-122"/>
                <a:cs typeface="Cambria" pitchFamily="34" charset="-120"/>
              </a:rPr>
              <a:t>≈ 0.20   </a:t>
            </a:r>
            <a:pPr indent="0" marL="0">
              <a:lnSpc>
                <a:spcPct val="102000"/>
              </a:lnSpc>
              <a:buNone/>
            </a:pPr>
            <a:r>
              <a:rPr lang="en-US" sz="1250" dirty="0">
                <a:solidFill>
                  <a:srgbClr val="1B0E3D"/>
                </a:solidFill>
                <a:latin typeface="Cambria" pitchFamily="34" charset="0"/>
                <a:ea typeface="Cambria" pitchFamily="34" charset="-122"/>
                <a:cs typeface="Cambria" pitchFamily="34" charset="-120"/>
              </a:rPr>
              <a:t>empirical, betweenness-targeted</a:t>
            </a:r>
            <a:endParaRPr lang="en-US" sz="1500" dirty="0"/>
          </a:p>
        </p:txBody>
      </p:sp>
      <p:sp>
        <p:nvSpPr>
          <p:cNvPr id="26" name="Shape 24"/>
          <p:cNvSpPr/>
          <p:nvPr/>
        </p:nvSpPr>
        <p:spPr>
          <a:xfrm>
            <a:off x="6949440" y="3913632"/>
            <a:ext cx="4663440" cy="777240"/>
          </a:xfrm>
          <a:prstGeom prst="roundRect">
            <a:avLst>
              <a:gd name="adj" fmla="val 10588"/>
            </a:avLst>
          </a:prstGeom>
          <a:solidFill>
            <a:srgbClr val="FFEAF3"/>
          </a:solidFill>
          <a:ln/>
          <a:effectLst>
            <a:outerShdw sx="100000" sy="100000" kx="0" ky="0" algn="bl" rotWithShape="0" blurRad="76200" dist="25400" dir="5400000">
              <a:srgbClr val="000000">
                <a:alpha val="10000"/>
              </a:srgbClr>
            </a:outerShdw>
          </a:effectLst>
        </p:spPr>
      </p:sp>
      <p:sp>
        <p:nvSpPr>
          <p:cNvPr id="27" name="Shape 25"/>
          <p:cNvSpPr/>
          <p:nvPr/>
        </p:nvSpPr>
        <p:spPr>
          <a:xfrm>
            <a:off x="7150608" y="4165092"/>
            <a:ext cx="274320" cy="274320"/>
          </a:xfrm>
          <a:prstGeom prst="ellipse">
            <a:avLst/>
          </a:prstGeom>
          <a:solidFill>
            <a:srgbClr val="FFB800"/>
          </a:solidFill>
          <a:ln/>
        </p:spPr>
      </p:sp>
      <p:sp>
        <p:nvSpPr>
          <p:cNvPr id="28" name="Text 26"/>
          <p:cNvSpPr/>
          <p:nvPr/>
        </p:nvSpPr>
        <p:spPr>
          <a:xfrm>
            <a:off x="7150608" y="41650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a:t>
            </a:r>
            <a:endParaRPr lang="en-US" sz="1200" dirty="0"/>
          </a:p>
        </p:txBody>
      </p:sp>
      <p:sp>
        <p:nvSpPr>
          <p:cNvPr id="29" name="Text 27"/>
          <p:cNvSpPr/>
          <p:nvPr/>
        </p:nvSpPr>
        <p:spPr>
          <a:xfrm>
            <a:off x="7516368" y="4005072"/>
            <a:ext cx="3840480" cy="594360"/>
          </a:xfrm>
          <a:prstGeom prst="rect">
            <a:avLst/>
          </a:prstGeom>
          <a:noFill/>
          <a:ln/>
        </p:spPr>
        <p:txBody>
          <a:bodyPr wrap="square" lIns="0" tIns="0" rIns="0" bIns="0" rtlCol="0" anchor="ctr"/>
          <a:lstStyle/>
          <a:p>
            <a:pPr algn="l" indent="0" marL="0">
              <a:lnSpc>
                <a:spcPct val="108000"/>
              </a:lnSpc>
              <a:buNone/>
            </a:pPr>
            <a:r>
              <a:rPr lang="en-US" sz="1150" b="1" dirty="0">
                <a:solidFill>
                  <a:srgbClr val="FFB800"/>
                </a:solidFill>
                <a:latin typeface="Cambria" pitchFamily="34" charset="0"/>
                <a:ea typeface="Cambria" pitchFamily="34" charset="-122"/>
                <a:cs typeface="Cambria" pitchFamily="34" charset="-120"/>
              </a:rPr>
              <a:t>Robust-yet-fragile:  </a:t>
            </a:r>
            <a:pPr algn="l" indent="0" marL="0">
              <a:lnSpc>
                <a:spcPct val="108000"/>
              </a:lnSpc>
              <a:buNone/>
            </a:pPr>
            <a:r>
              <a:rPr lang="en-US" sz="1150" dirty="0">
                <a:solidFill>
                  <a:srgbClr val="1B0E3D"/>
                </a:solidFill>
                <a:latin typeface="Cambria" pitchFamily="34" charset="0"/>
                <a:ea typeface="Cambria" pitchFamily="34" charset="-122"/>
                <a:cs typeface="Cambria" pitchFamily="34" charset="-120"/>
              </a:rPr>
              <a:t>robust to random failures, fragile to hub-targeted attacks — the textbook scale-free signature.</a:t>
            </a:r>
            <a:endParaRPr lang="en-US" sz="1150" dirty="0"/>
          </a:p>
        </p:txBody>
      </p:sp>
      <p:sp>
        <p:nvSpPr>
          <p:cNvPr id="30" name="Shape 28"/>
          <p:cNvSpPr/>
          <p:nvPr/>
        </p:nvSpPr>
        <p:spPr>
          <a:xfrm>
            <a:off x="6949440" y="4764024"/>
            <a:ext cx="4663440" cy="777240"/>
          </a:xfrm>
          <a:prstGeom prst="roundRect">
            <a:avLst>
              <a:gd name="adj" fmla="val 10588"/>
            </a:avLst>
          </a:prstGeom>
          <a:solidFill>
            <a:srgbClr val="FFEAF3"/>
          </a:solidFill>
          <a:ln/>
          <a:effectLst>
            <a:outerShdw sx="100000" sy="100000" kx="0" ky="0" algn="bl" rotWithShape="0" blurRad="76200" dist="25400" dir="5400000">
              <a:srgbClr val="000000">
                <a:alpha val="10000"/>
              </a:srgbClr>
            </a:outerShdw>
          </a:effectLst>
        </p:spPr>
      </p:sp>
      <p:sp>
        <p:nvSpPr>
          <p:cNvPr id="31" name="Shape 29"/>
          <p:cNvSpPr/>
          <p:nvPr/>
        </p:nvSpPr>
        <p:spPr>
          <a:xfrm>
            <a:off x="7150608" y="5015484"/>
            <a:ext cx="274320" cy="274320"/>
          </a:xfrm>
          <a:prstGeom prst="ellipse">
            <a:avLst/>
          </a:prstGeom>
          <a:solidFill>
            <a:srgbClr val="0091FF"/>
          </a:solidFill>
          <a:ln/>
        </p:spPr>
      </p:sp>
      <p:sp>
        <p:nvSpPr>
          <p:cNvPr id="32" name="Text 30"/>
          <p:cNvSpPr/>
          <p:nvPr/>
        </p:nvSpPr>
        <p:spPr>
          <a:xfrm>
            <a:off x="7150608" y="501548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a:t>
            </a:r>
            <a:endParaRPr lang="en-US" sz="1200" dirty="0"/>
          </a:p>
        </p:txBody>
      </p:sp>
      <p:sp>
        <p:nvSpPr>
          <p:cNvPr id="33" name="Text 31"/>
          <p:cNvSpPr/>
          <p:nvPr/>
        </p:nvSpPr>
        <p:spPr>
          <a:xfrm>
            <a:off x="7516368" y="4855464"/>
            <a:ext cx="3840480" cy="594360"/>
          </a:xfrm>
          <a:prstGeom prst="rect">
            <a:avLst/>
          </a:prstGeom>
          <a:noFill/>
          <a:ln/>
        </p:spPr>
        <p:txBody>
          <a:bodyPr wrap="square" lIns="0" tIns="0" rIns="0" bIns="0" rtlCol="0" anchor="ctr"/>
          <a:lstStyle/>
          <a:p>
            <a:pPr algn="l" indent="0" marL="0">
              <a:lnSpc>
                <a:spcPct val="108000"/>
              </a:lnSpc>
              <a:buNone/>
            </a:pPr>
            <a:r>
              <a:rPr lang="en-US" sz="1150" b="1" dirty="0">
                <a:solidFill>
                  <a:srgbClr val="0091FF"/>
                </a:solidFill>
                <a:latin typeface="Cambria" pitchFamily="34" charset="0"/>
                <a:ea typeface="Cambria" pitchFamily="34" charset="-122"/>
                <a:cs typeface="Cambria" pitchFamily="34" charset="-120"/>
              </a:rPr>
              <a:t>Cybersecurity reading:  </a:t>
            </a:r>
            <a:pPr algn="l" indent="0" marL="0">
              <a:lnSpc>
                <a:spcPct val="108000"/>
              </a:lnSpc>
              <a:buNone/>
            </a:pPr>
            <a:r>
              <a:rPr lang="en-US" sz="1150" dirty="0">
                <a:solidFill>
                  <a:srgbClr val="1B0E3D"/>
                </a:solidFill>
                <a:latin typeface="Cambria" pitchFamily="34" charset="0"/>
                <a:ea typeface="Cambria" pitchFamily="34" charset="-122"/>
                <a:cs typeface="Cambria" pitchFamily="34" charset="-120"/>
              </a:rPr>
              <a:t>protecting a handful of critical addresses (the hubs) preserves the whole communication network — losing them shatters it.</a:t>
            </a:r>
            <a:endParaRPr lang="en-US" sz="1150" dirty="0"/>
          </a:p>
        </p:txBody>
      </p:sp>
      <p:sp>
        <p:nvSpPr>
          <p:cNvPr id="34" name="Shape 32"/>
          <p:cNvSpPr/>
          <p:nvPr/>
        </p:nvSpPr>
        <p:spPr>
          <a:xfrm>
            <a:off x="6949440" y="5614416"/>
            <a:ext cx="4663440" cy="841248"/>
          </a:xfrm>
          <a:prstGeom prst="roundRect">
            <a:avLst>
              <a:gd name="adj" fmla="val 9783"/>
            </a:avLst>
          </a:prstGeom>
          <a:solidFill>
            <a:srgbClr val="FFEAF3"/>
          </a:solidFill>
          <a:ln/>
          <a:effectLst>
            <a:outerShdw sx="100000" sy="100000" kx="0" ky="0" algn="bl" rotWithShape="0" blurRad="76200" dist="25400" dir="5400000">
              <a:srgbClr val="000000">
                <a:alpha val="10000"/>
              </a:srgbClr>
            </a:outerShdw>
          </a:effectLst>
        </p:spPr>
      </p:sp>
      <p:sp>
        <p:nvSpPr>
          <p:cNvPr id="35" name="Shape 33"/>
          <p:cNvSpPr/>
          <p:nvPr/>
        </p:nvSpPr>
        <p:spPr>
          <a:xfrm>
            <a:off x="7150608" y="5897880"/>
            <a:ext cx="274320" cy="274320"/>
          </a:xfrm>
          <a:prstGeom prst="ellipse">
            <a:avLst/>
          </a:prstGeom>
          <a:solidFill>
            <a:srgbClr val="FF1F71"/>
          </a:solidFill>
          <a:ln/>
        </p:spPr>
      </p:sp>
      <p:sp>
        <p:nvSpPr>
          <p:cNvPr id="36" name="Text 34"/>
          <p:cNvSpPr/>
          <p:nvPr/>
        </p:nvSpPr>
        <p:spPr>
          <a:xfrm>
            <a:off x="7150608" y="58978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a:t>
            </a:r>
            <a:endParaRPr lang="en-US" sz="1200" dirty="0"/>
          </a:p>
        </p:txBody>
      </p:sp>
      <p:sp>
        <p:nvSpPr>
          <p:cNvPr id="37" name="Text 35"/>
          <p:cNvSpPr/>
          <p:nvPr/>
        </p:nvSpPr>
        <p:spPr>
          <a:xfrm>
            <a:off x="7516368" y="5705856"/>
            <a:ext cx="3840480" cy="658368"/>
          </a:xfrm>
          <a:prstGeom prst="rect">
            <a:avLst/>
          </a:prstGeom>
          <a:noFill/>
          <a:ln/>
        </p:spPr>
        <p:txBody>
          <a:bodyPr wrap="square" lIns="0" tIns="0" rIns="0" bIns="0" rtlCol="0" anchor="ctr"/>
          <a:lstStyle/>
          <a:p>
            <a:pPr algn="l" indent="0" marL="0">
              <a:lnSpc>
                <a:spcPct val="108000"/>
              </a:lnSpc>
              <a:buNone/>
            </a:pPr>
            <a:r>
              <a:rPr lang="en-US" sz="1150" b="1" dirty="0">
                <a:solidFill>
                  <a:srgbClr val="FF1F71"/>
                </a:solidFill>
                <a:latin typeface="Cambria" pitchFamily="34" charset="0"/>
                <a:ea typeface="Cambria" pitchFamily="34" charset="-122"/>
                <a:cs typeface="Cambria" pitchFamily="34" charset="-120"/>
              </a:rPr>
              <a:t>Q&amp;A-proof:  </a:t>
            </a:r>
            <a:pPr algn="l" indent="0" marL="0">
              <a:lnSpc>
                <a:spcPct val="108000"/>
              </a:lnSpc>
              <a:buNone/>
            </a:pPr>
            <a:r>
              <a:rPr lang="en-US" sz="1150" dirty="0">
                <a:solidFill>
                  <a:srgbClr val="1B0E3D"/>
                </a:solidFill>
                <a:latin typeface="Cambria" pitchFamily="34" charset="0"/>
                <a:ea typeface="Cambria" pitchFamily="34" charset="-122"/>
                <a:cs typeface="Cambria" pitchFamily="34" charset="-120"/>
              </a:rPr>
              <a:t>fₑ is an operational threshold (GC below 1%). The adaptive attack is at least as damaging as the static one — area under the curve 0.047 vs. 0.049.</a:t>
            </a:r>
            <a:endParaRPr lang="en-US" sz="1150" dirty="0"/>
          </a:p>
        </p:txBody>
      </p:sp>
      <p:sp>
        <p:nvSpPr>
          <p:cNvPr id="38" name="Text 36"/>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B3AFC7"/>
                </a:solidFill>
                <a:latin typeface="Cambria" pitchFamily="34" charset="0"/>
                <a:ea typeface="Cambria" pitchFamily="34" charset="-122"/>
                <a:cs typeface="Cambria" pitchFamily="34" charset="-120"/>
              </a:rPr>
              <a:t>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50" b="1" spc="200" kern="0" dirty="0">
                <a:solidFill>
                  <a:srgbClr val="0091FF"/>
                </a:solidFill>
                <a:latin typeface="Cambria" pitchFamily="34" charset="0"/>
                <a:ea typeface="Cambria" pitchFamily="34" charset="-122"/>
                <a:cs typeface="Cambria" pitchFamily="34" charset="-120"/>
              </a:rPr>
              <a:t>PART 6C</a:t>
            </a:r>
            <a:endParaRPr lang="en-US" sz="125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buNone/>
            </a:pPr>
            <a:r>
              <a:rPr lang="en-US" sz="3000" b="1" dirty="0">
                <a:solidFill>
                  <a:srgbClr val="1B0E3D"/>
                </a:solidFill>
                <a:latin typeface="Cambria" pitchFamily="34" charset="0"/>
                <a:ea typeface="Cambria" pitchFamily="34" charset="-122"/>
                <a:cs typeface="Cambria" pitchFamily="34" charset="-120"/>
              </a:rPr>
              <a:t>Can We Engineer a More Robust Network?</a:t>
            </a:r>
            <a:endParaRPr lang="en-US" sz="3000" dirty="0"/>
          </a:p>
        </p:txBody>
      </p:sp>
      <p:sp>
        <p:nvSpPr>
          <p:cNvPr id="4" name="Shape 2"/>
          <p:cNvSpPr/>
          <p:nvPr/>
        </p:nvSpPr>
        <p:spPr>
          <a:xfrm>
            <a:off x="11034979" y="492862"/>
            <a:ext cx="310896" cy="279806"/>
          </a:xfrm>
          <a:prstGeom prst="line">
            <a:avLst/>
          </a:prstGeom>
          <a:noFill/>
          <a:ln w="12700">
            <a:solidFill>
              <a:srgbClr val="CFC9E4"/>
            </a:solidFill>
            <a:prstDash val="solid"/>
          </a:ln>
        </p:spPr>
      </p:sp>
      <p:sp>
        <p:nvSpPr>
          <p:cNvPr id="5" name="Shape 3"/>
          <p:cNvSpPr/>
          <p:nvPr/>
        </p:nvSpPr>
        <p:spPr>
          <a:xfrm flipV="1">
            <a:off x="11345875" y="461772"/>
            <a:ext cx="295351" cy="310896"/>
          </a:xfrm>
          <a:prstGeom prst="line">
            <a:avLst/>
          </a:prstGeom>
          <a:noFill/>
          <a:ln w="12700">
            <a:solidFill>
              <a:srgbClr val="CFC9E4"/>
            </a:solidFill>
            <a:prstDash val="solid"/>
          </a:ln>
        </p:spPr>
      </p:sp>
      <p:sp>
        <p:nvSpPr>
          <p:cNvPr id="6" name="Shape 4"/>
          <p:cNvSpPr/>
          <p:nvPr/>
        </p:nvSpPr>
        <p:spPr>
          <a:xfrm flipV="1">
            <a:off x="11019434" y="772668"/>
            <a:ext cx="326441" cy="295351"/>
          </a:xfrm>
          <a:prstGeom prst="line">
            <a:avLst/>
          </a:prstGeom>
          <a:noFill/>
          <a:ln w="12700">
            <a:solidFill>
              <a:srgbClr val="CFC9E4"/>
            </a:solidFill>
            <a:prstDash val="solid"/>
          </a:ln>
        </p:spPr>
      </p:sp>
      <p:sp>
        <p:nvSpPr>
          <p:cNvPr id="7" name="Shape 5"/>
          <p:cNvSpPr/>
          <p:nvPr/>
        </p:nvSpPr>
        <p:spPr>
          <a:xfrm>
            <a:off x="11345875" y="772668"/>
            <a:ext cx="310896" cy="279806"/>
          </a:xfrm>
          <a:prstGeom prst="line">
            <a:avLst/>
          </a:prstGeom>
          <a:noFill/>
          <a:ln w="12700">
            <a:solidFill>
              <a:srgbClr val="CFC9E4"/>
            </a:solidFill>
            <a:prstDash val="solid"/>
          </a:ln>
        </p:spPr>
      </p:sp>
      <p:sp>
        <p:nvSpPr>
          <p:cNvPr id="8" name="Shape 6"/>
          <p:cNvSpPr/>
          <p:nvPr/>
        </p:nvSpPr>
        <p:spPr>
          <a:xfrm>
            <a:off x="10974354" y="432237"/>
            <a:ext cx="121249" cy="121249"/>
          </a:xfrm>
          <a:prstGeom prst="ellipse">
            <a:avLst/>
          </a:prstGeom>
          <a:solidFill>
            <a:srgbClr val="0091FF"/>
          </a:solidFill>
          <a:ln/>
        </p:spPr>
      </p:sp>
      <p:sp>
        <p:nvSpPr>
          <p:cNvPr id="9" name="Shape 7"/>
          <p:cNvSpPr/>
          <p:nvPr/>
        </p:nvSpPr>
        <p:spPr>
          <a:xfrm>
            <a:off x="11594592" y="415138"/>
            <a:ext cx="93269" cy="93269"/>
          </a:xfrm>
          <a:prstGeom prst="ellipse">
            <a:avLst/>
          </a:prstGeom>
          <a:solidFill>
            <a:srgbClr val="FFB800"/>
          </a:solidFill>
          <a:ln/>
        </p:spPr>
      </p:sp>
      <p:sp>
        <p:nvSpPr>
          <p:cNvPr id="10" name="Shape 8"/>
          <p:cNvSpPr/>
          <p:nvPr/>
        </p:nvSpPr>
        <p:spPr>
          <a:xfrm>
            <a:off x="10972800" y="1021385"/>
            <a:ext cx="93269" cy="93269"/>
          </a:xfrm>
          <a:prstGeom prst="ellipse">
            <a:avLst/>
          </a:prstGeom>
          <a:solidFill>
            <a:srgbClr val="FF1F71"/>
          </a:solidFill>
          <a:ln/>
        </p:spPr>
      </p:sp>
      <p:sp>
        <p:nvSpPr>
          <p:cNvPr id="11" name="Shape 9"/>
          <p:cNvSpPr/>
          <p:nvPr/>
        </p:nvSpPr>
        <p:spPr>
          <a:xfrm>
            <a:off x="11596146" y="991850"/>
            <a:ext cx="121249" cy="121249"/>
          </a:xfrm>
          <a:prstGeom prst="ellipse">
            <a:avLst/>
          </a:prstGeom>
          <a:solidFill>
            <a:srgbClr val="0091FF"/>
          </a:solidFill>
          <a:ln/>
        </p:spPr>
      </p:sp>
      <p:sp>
        <p:nvSpPr>
          <p:cNvPr id="12" name="Shape 10"/>
          <p:cNvSpPr/>
          <p:nvPr/>
        </p:nvSpPr>
        <p:spPr>
          <a:xfrm>
            <a:off x="11256493" y="683285"/>
            <a:ext cx="178765" cy="178765"/>
          </a:xfrm>
          <a:prstGeom prst="ellipse">
            <a:avLst/>
          </a:prstGeom>
          <a:solidFill>
            <a:srgbClr val="1B0E3D"/>
          </a:solidFill>
          <a:ln w="19050">
            <a:solidFill>
              <a:srgbClr val="FFFFFF"/>
            </a:solidFill>
            <a:prstDash val="solid"/>
          </a:ln>
        </p:spPr>
      </p:sp>
      <p:sp>
        <p:nvSpPr>
          <p:cNvPr id="13" name="Shape 11"/>
          <p:cNvSpPr/>
          <p:nvPr/>
        </p:nvSpPr>
        <p:spPr>
          <a:xfrm>
            <a:off x="548640" y="1600200"/>
            <a:ext cx="6035040" cy="4434840"/>
          </a:xfrm>
          <a:prstGeom prst="roundRect">
            <a:avLst>
              <a:gd name="adj" fmla="val 2062"/>
            </a:avLst>
          </a:prstGeom>
          <a:solidFill>
            <a:srgbClr val="F5F3FA"/>
          </a:solidFill>
          <a:ln w="15875">
            <a:solidFill>
              <a:srgbClr val="0091FF"/>
            </a:solidFill>
            <a:prstDash val="dash"/>
          </a:ln>
        </p:spPr>
      </p:sp>
      <p:sp>
        <p:nvSpPr>
          <p:cNvPr id="14" name="Text 12"/>
          <p:cNvSpPr/>
          <p:nvPr/>
        </p:nvSpPr>
        <p:spPr>
          <a:xfrm>
            <a:off x="777240" y="1783080"/>
            <a:ext cx="5577840" cy="320040"/>
          </a:xfrm>
          <a:prstGeom prst="rect">
            <a:avLst/>
          </a:prstGeom>
          <a:noFill/>
          <a:ln/>
        </p:spPr>
        <p:txBody>
          <a:bodyPr wrap="square" lIns="0" tIns="0" rIns="0" bIns="0" rtlCol="0" anchor="ctr"/>
          <a:lstStyle/>
          <a:p>
            <a:pPr algn="l" indent="0" marL="0">
              <a:buNone/>
            </a:pPr>
            <a:r>
              <a:rPr lang="en-US" sz="1200" b="1" dirty="0">
                <a:solidFill>
                  <a:srgbClr val="0091FF"/>
                </a:solidFill>
                <a:latin typeface="Cambria" pitchFamily="34" charset="0"/>
                <a:ea typeface="Cambria" pitchFamily="34" charset="-122"/>
                <a:cs typeface="Cambria" pitchFamily="34" charset="-120"/>
              </a:rPr>
              <a:t>FIGURE 6</a:t>
            </a:r>
            <a:endParaRPr lang="en-US" sz="1200" dirty="0"/>
          </a:p>
        </p:txBody>
      </p:sp>
      <p:sp>
        <p:nvSpPr>
          <p:cNvPr id="15" name="Text 13"/>
          <p:cNvSpPr/>
          <p:nvPr/>
        </p:nvSpPr>
        <p:spPr>
          <a:xfrm>
            <a:off x="548640" y="3462833"/>
            <a:ext cx="6035040" cy="365760"/>
          </a:xfrm>
          <a:prstGeom prst="rect">
            <a:avLst/>
          </a:prstGeom>
          <a:noFill/>
          <a:ln/>
        </p:spPr>
        <p:txBody>
          <a:bodyPr wrap="square" lIns="0" tIns="0" rIns="0" bIns="0" rtlCol="0" anchor="ctr"/>
          <a:lstStyle/>
          <a:p>
            <a:pPr algn="ctr" indent="0" marL="0">
              <a:buNone/>
            </a:pPr>
            <a:r>
              <a:rPr lang="en-US" sz="1400" b="1" i="1" dirty="0">
                <a:solidFill>
                  <a:srgbClr val="9B93B8"/>
                </a:solidFill>
                <a:latin typeface="Cambria" pitchFamily="34" charset="0"/>
                <a:ea typeface="Cambria" pitchFamily="34" charset="-122"/>
                <a:cs typeface="Cambria" pitchFamily="34" charset="-120"/>
              </a:rPr>
              <a:t>insert figure here</a:t>
            </a:r>
            <a:endParaRPr lang="en-US" sz="1400" dirty="0"/>
          </a:p>
        </p:txBody>
      </p:sp>
      <p:sp>
        <p:nvSpPr>
          <p:cNvPr id="16" name="Text 14"/>
          <p:cNvSpPr/>
          <p:nvPr/>
        </p:nvSpPr>
        <p:spPr>
          <a:xfrm>
            <a:off x="822960" y="5468112"/>
            <a:ext cx="5486400" cy="457200"/>
          </a:xfrm>
          <a:prstGeom prst="rect">
            <a:avLst/>
          </a:prstGeom>
          <a:noFill/>
          <a:ln/>
        </p:spPr>
        <p:txBody>
          <a:bodyPr wrap="square" lIns="0" tIns="0" rIns="0" bIns="0" rtlCol="0" anchor="t"/>
          <a:lstStyle/>
          <a:p>
            <a:pPr algn="l" indent="0" marL="0">
              <a:buNone/>
            </a:pPr>
            <a:r>
              <a:rPr lang="en-US" sz="1000" i="1" dirty="0">
                <a:solidFill>
                  <a:srgbClr val="6B7280"/>
                </a:solidFill>
                <a:latin typeface="Cambria" pitchFamily="34" charset="0"/>
                <a:ea typeface="Cambria" pitchFamily="34" charset="-122"/>
                <a:cs typeface="Cambria" pitchFamily="34" charset="-120"/>
              </a:rPr>
              <a:t>Enron vs. the optimal bimodal “robust” graph, random &amp; targeted attacks — Part 6c</a:t>
            </a:r>
            <a:endParaRPr lang="en-US" sz="1000" dirty="0"/>
          </a:p>
        </p:txBody>
      </p:sp>
      <p:sp>
        <p:nvSpPr>
          <p:cNvPr id="17" name="Text 15"/>
          <p:cNvSpPr/>
          <p:nvPr/>
        </p:nvSpPr>
        <p:spPr>
          <a:xfrm>
            <a:off x="6949440" y="1645920"/>
            <a:ext cx="4663440" cy="2788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0E3D"/>
                </a:solidFill>
                <a:latin typeface="Cambria" pitchFamily="34" charset="0"/>
                <a:ea typeface="Cambria" pitchFamily="34" charset="-122"/>
                <a:cs typeface="Cambria" pitchFamily="34" charset="-120"/>
              </a:rPr>
              <a:t>Fix the average degree ⟨k⟩, maximise the degree variance ⟨k²⟩ → higher fₑ</a:t>
            </a:r>
            <a:endParaRPr lang="en-US" sz="1400" dirty="0"/>
          </a:p>
          <a:p>
            <a:pPr marL="342900" indent="-342900">
              <a:spcAft>
                <a:spcPts val="800"/>
              </a:spcAft>
              <a:buSzPct val="100000"/>
              <a:buChar char="•"/>
            </a:pPr>
            <a:r>
              <a:rPr lang="en-US" sz="1400" dirty="0">
                <a:solidFill>
                  <a:srgbClr val="1B0E3D"/>
                </a:solidFill>
                <a:latin typeface="Cambria" pitchFamily="34" charset="0"/>
                <a:ea typeface="Cambria" pitchFamily="34" charset="-122"/>
                <a:cs typeface="Cambria" pitchFamily="34" charset="-120"/>
              </a:rPr>
              <a:t>Optimal structure: one super-hub + the rest at minimum degree (bimodal sequence)</a:t>
            </a:r>
            <a:endParaRPr lang="en-US" sz="1400" dirty="0"/>
          </a:p>
          <a:p>
            <a:pPr marL="342900" indent="-342900">
              <a:spcAft>
                <a:spcPts val="800"/>
              </a:spcAft>
              <a:buSzPct val="100000"/>
              <a:buChar char="•"/>
            </a:pPr>
            <a:r>
              <a:rPr lang="en-US" sz="1400" dirty="0">
                <a:solidFill>
                  <a:srgbClr val="1B0E3D"/>
                </a:solidFill>
                <a:latin typeface="Cambria" pitchFamily="34" charset="0"/>
                <a:ea typeface="Cambria" pitchFamily="34" charset="-122"/>
                <a:cs typeface="Cambria" pitchFamily="34" charset="-120"/>
              </a:rPr>
              <a:t>Same average degree as Enron (≈ 10.6 vs. 10.7) — no extra cost in links</a:t>
            </a:r>
            <a:endParaRPr lang="en-US" sz="1400" dirty="0"/>
          </a:p>
          <a:p>
            <a:pPr marL="342900" indent="-342900">
              <a:spcAft>
                <a:spcPts val="800"/>
              </a:spcAft>
              <a:buSzPct val="100000"/>
              <a:buChar char="•"/>
            </a:pPr>
            <a:r>
              <a:rPr lang="en-US" sz="1400" dirty="0">
                <a:solidFill>
                  <a:srgbClr val="1B0E3D"/>
                </a:solidFill>
                <a:latin typeface="Cambria" pitchFamily="34" charset="0"/>
                <a:ea typeface="Cambria" pitchFamily="34" charset="-122"/>
                <a:cs typeface="Cambria" pitchFamily="34" charset="-120"/>
              </a:rPr>
              <a:t>Survives far more node removal under both random and targeted attacks</a:t>
            </a:r>
            <a:endParaRPr lang="en-US" sz="1400" dirty="0"/>
          </a:p>
        </p:txBody>
      </p:sp>
      <p:sp>
        <p:nvSpPr>
          <p:cNvPr id="18" name="Shape 16"/>
          <p:cNvSpPr/>
          <p:nvPr/>
        </p:nvSpPr>
        <p:spPr>
          <a:xfrm>
            <a:off x="6949440" y="4526280"/>
            <a:ext cx="4663440" cy="960120"/>
          </a:xfrm>
          <a:prstGeom prst="roundRect">
            <a:avLst>
              <a:gd name="adj" fmla="val 8571"/>
            </a:avLst>
          </a:prstGeom>
          <a:solidFill>
            <a:srgbClr val="FFFFFF"/>
          </a:solidFill>
          <a:ln w="12700">
            <a:solidFill>
              <a:srgbClr val="E5E1F0"/>
            </a:solidFill>
            <a:prstDash val="solid"/>
          </a:ln>
          <a:effectLst>
            <a:outerShdw sx="100000" sy="100000" kx="0" ky="0" algn="bl" rotWithShape="0" blurRad="101600" dist="38100" dir="5400000">
              <a:srgbClr val="000000">
                <a:alpha val="14000"/>
              </a:srgbClr>
            </a:outerShdw>
          </a:effectLst>
        </p:spPr>
      </p:sp>
      <p:sp>
        <p:nvSpPr>
          <p:cNvPr id="19" name="Text 17"/>
          <p:cNvSpPr/>
          <p:nvPr/>
        </p:nvSpPr>
        <p:spPr>
          <a:xfrm>
            <a:off x="7114032" y="4636008"/>
            <a:ext cx="4334256" cy="537667"/>
          </a:xfrm>
          <a:prstGeom prst="rect">
            <a:avLst/>
          </a:prstGeom>
          <a:noFill/>
          <a:ln/>
        </p:spPr>
        <p:txBody>
          <a:bodyPr wrap="square" lIns="0" tIns="0" rIns="0" bIns="0" rtlCol="0" anchor="b"/>
          <a:lstStyle/>
          <a:p>
            <a:pPr algn="l" indent="0" marL="0">
              <a:buNone/>
            </a:pPr>
            <a:r>
              <a:rPr lang="en-US" sz="2600" b="1" dirty="0">
                <a:solidFill>
                  <a:srgbClr val="FF1F71"/>
                </a:solidFill>
                <a:latin typeface="Cambria" pitchFamily="34" charset="0"/>
                <a:ea typeface="Cambria" pitchFamily="34" charset="-122"/>
                <a:cs typeface="Cambria" pitchFamily="34" charset="-120"/>
              </a:rPr>
              <a:t>κ = 142.4</a:t>
            </a:r>
            <a:endParaRPr lang="en-US" sz="2600" dirty="0"/>
          </a:p>
        </p:txBody>
      </p:sp>
      <p:sp>
        <p:nvSpPr>
          <p:cNvPr id="20" name="Text 18"/>
          <p:cNvSpPr/>
          <p:nvPr/>
        </p:nvSpPr>
        <p:spPr>
          <a:xfrm>
            <a:off x="7114032" y="5102352"/>
            <a:ext cx="4334256" cy="345643"/>
          </a:xfrm>
          <a:prstGeom prst="rect">
            <a:avLst/>
          </a:prstGeom>
          <a:noFill/>
          <a:ln/>
        </p:spPr>
        <p:txBody>
          <a:bodyPr wrap="square" lIns="0" tIns="0" rIns="0" bIns="0" rtlCol="0" anchor="t"/>
          <a:lstStyle/>
          <a:p>
            <a:pPr algn="l" indent="0" marL="0">
              <a:buNone/>
            </a:pPr>
            <a:r>
              <a:rPr lang="en-US" sz="1150" dirty="0">
                <a:solidFill>
                  <a:srgbClr val="6B7280"/>
                </a:solidFill>
                <a:latin typeface="Cambria" pitchFamily="34" charset="0"/>
                <a:ea typeface="Cambria" pitchFamily="34" charset="-122"/>
                <a:cs typeface="Cambria" pitchFamily="34" charset="-120"/>
              </a:rPr>
              <a:t>⟨k²⟩ / ⟨k⟩ — the degree-variance ratio the bimodal graph is built to maximise</a:t>
            </a:r>
            <a:endParaRPr lang="en-US" sz="1150" dirty="0"/>
          </a:p>
        </p:txBody>
      </p:sp>
      <p:sp>
        <p:nvSpPr>
          <p:cNvPr id="21" name="Shape 19"/>
          <p:cNvSpPr/>
          <p:nvPr/>
        </p:nvSpPr>
        <p:spPr>
          <a:xfrm>
            <a:off x="6949440" y="5623560"/>
            <a:ext cx="4663440" cy="777240"/>
          </a:xfrm>
          <a:prstGeom prst="roundRect">
            <a:avLst>
              <a:gd name="adj" fmla="val 10588"/>
            </a:avLst>
          </a:prstGeom>
          <a:solidFill>
            <a:srgbClr val="FFEAF3"/>
          </a:solidFill>
          <a:ln/>
          <a:effectLst>
            <a:outerShdw sx="100000" sy="100000" kx="0" ky="0" algn="bl" rotWithShape="0" blurRad="76200" dist="25400" dir="5400000">
              <a:srgbClr val="000000">
                <a:alpha val="10000"/>
              </a:srgbClr>
            </a:outerShdw>
          </a:effectLst>
        </p:spPr>
      </p:sp>
      <p:sp>
        <p:nvSpPr>
          <p:cNvPr id="22" name="Shape 20"/>
          <p:cNvSpPr/>
          <p:nvPr/>
        </p:nvSpPr>
        <p:spPr>
          <a:xfrm>
            <a:off x="7150608" y="5875020"/>
            <a:ext cx="274320" cy="274320"/>
          </a:xfrm>
          <a:prstGeom prst="ellipse">
            <a:avLst/>
          </a:prstGeom>
          <a:solidFill>
            <a:srgbClr val="FFB800"/>
          </a:solidFill>
          <a:ln/>
        </p:spPr>
      </p:sp>
      <p:sp>
        <p:nvSpPr>
          <p:cNvPr id="23" name="Text 21"/>
          <p:cNvSpPr/>
          <p:nvPr/>
        </p:nvSpPr>
        <p:spPr>
          <a:xfrm>
            <a:off x="7150608" y="58750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a:t>
            </a:r>
            <a:endParaRPr lang="en-US" sz="1200" dirty="0"/>
          </a:p>
        </p:txBody>
      </p:sp>
      <p:sp>
        <p:nvSpPr>
          <p:cNvPr id="24" name="Text 22"/>
          <p:cNvSpPr/>
          <p:nvPr/>
        </p:nvSpPr>
        <p:spPr>
          <a:xfrm>
            <a:off x="7516368" y="5715000"/>
            <a:ext cx="3840480" cy="594360"/>
          </a:xfrm>
          <a:prstGeom prst="rect">
            <a:avLst/>
          </a:prstGeom>
          <a:noFill/>
          <a:ln/>
        </p:spPr>
        <p:txBody>
          <a:bodyPr wrap="square" lIns="0" tIns="0" rIns="0" bIns="0" rtlCol="0" anchor="ctr"/>
          <a:lstStyle/>
          <a:p>
            <a:pPr algn="l" indent="0" marL="0">
              <a:lnSpc>
                <a:spcPct val="108000"/>
              </a:lnSpc>
              <a:buNone/>
            </a:pPr>
            <a:r>
              <a:rPr lang="en-US" sz="1150" b="1" dirty="0">
                <a:solidFill>
                  <a:srgbClr val="FFB800"/>
                </a:solidFill>
                <a:latin typeface="Cambria" pitchFamily="34" charset="0"/>
                <a:ea typeface="Cambria" pitchFamily="34" charset="-122"/>
                <a:cs typeface="Cambria" pitchFamily="34" charset="-120"/>
              </a:rPr>
              <a:t>Q&amp;A-proof:  </a:t>
            </a:r>
            <a:pPr algn="l" indent="0" marL="0">
              <a:lnSpc>
                <a:spcPct val="108000"/>
              </a:lnSpc>
              <a:buNone/>
            </a:pPr>
            <a:r>
              <a:rPr lang="en-US" sz="1150" dirty="0">
                <a:solidFill>
                  <a:srgbClr val="1B0E3D"/>
                </a:solidFill>
                <a:latin typeface="Cambria" pitchFamily="34" charset="0"/>
                <a:ea typeface="Cambria" pitchFamily="34" charset="-122"/>
                <a:cs typeface="Cambria" pitchFamily="34" charset="-120"/>
              </a:rPr>
              <a:t>robustness can be engineered WITHOUT adding links — this is a theoretical optimum, not a realistic email network.</a:t>
            </a:r>
            <a:endParaRPr lang="en-US" sz="1150" dirty="0"/>
          </a:p>
        </p:txBody>
      </p:sp>
      <p:sp>
        <p:nvSpPr>
          <p:cNvPr id="25" name="Text 23"/>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B3AFC7"/>
                </a:solidFill>
                <a:latin typeface="Cambria" pitchFamily="34" charset="0"/>
                <a:ea typeface="Cambria" pitchFamily="34" charset="-122"/>
                <a:cs typeface="Cambria" pitchFamily="34" charset="-120"/>
              </a:rPr>
              <a:t>12 / 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0E3D"/>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50" b="1" spc="200" kern="0" dirty="0">
                <a:solidFill>
                  <a:srgbClr val="C9B8FF"/>
                </a:solidFill>
                <a:latin typeface="Cambria" pitchFamily="34" charset="0"/>
                <a:ea typeface="Cambria" pitchFamily="34" charset="-122"/>
                <a:cs typeface="Cambria" pitchFamily="34" charset="-120"/>
              </a:rPr>
              <a:t>SYNTHESIS</a:t>
            </a:r>
            <a:endParaRPr lang="en-US" sz="125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Kind of Network Is Enron?</a:t>
            </a:r>
            <a:endParaRPr lang="en-US" sz="3000" dirty="0"/>
          </a:p>
        </p:txBody>
      </p:sp>
      <p:sp>
        <p:nvSpPr>
          <p:cNvPr id="4" name="Shape 2"/>
          <p:cNvSpPr/>
          <p:nvPr/>
        </p:nvSpPr>
        <p:spPr>
          <a:xfrm>
            <a:off x="11034979" y="492862"/>
            <a:ext cx="310896" cy="279806"/>
          </a:xfrm>
          <a:prstGeom prst="line">
            <a:avLst/>
          </a:prstGeom>
          <a:noFill/>
          <a:ln w="12700">
            <a:solidFill>
              <a:srgbClr val="CFC9E4"/>
            </a:solidFill>
            <a:prstDash val="solid"/>
          </a:ln>
        </p:spPr>
      </p:sp>
      <p:sp>
        <p:nvSpPr>
          <p:cNvPr id="5" name="Shape 3"/>
          <p:cNvSpPr/>
          <p:nvPr/>
        </p:nvSpPr>
        <p:spPr>
          <a:xfrm flipV="1">
            <a:off x="11345875" y="461772"/>
            <a:ext cx="295351" cy="310896"/>
          </a:xfrm>
          <a:prstGeom prst="line">
            <a:avLst/>
          </a:prstGeom>
          <a:noFill/>
          <a:ln w="12700">
            <a:solidFill>
              <a:srgbClr val="CFC9E4"/>
            </a:solidFill>
            <a:prstDash val="solid"/>
          </a:ln>
        </p:spPr>
      </p:sp>
      <p:sp>
        <p:nvSpPr>
          <p:cNvPr id="6" name="Shape 4"/>
          <p:cNvSpPr/>
          <p:nvPr/>
        </p:nvSpPr>
        <p:spPr>
          <a:xfrm flipV="1">
            <a:off x="11019434" y="772668"/>
            <a:ext cx="326441" cy="295351"/>
          </a:xfrm>
          <a:prstGeom prst="line">
            <a:avLst/>
          </a:prstGeom>
          <a:noFill/>
          <a:ln w="12700">
            <a:solidFill>
              <a:srgbClr val="CFC9E4"/>
            </a:solidFill>
            <a:prstDash val="solid"/>
          </a:ln>
        </p:spPr>
      </p:sp>
      <p:sp>
        <p:nvSpPr>
          <p:cNvPr id="7" name="Shape 5"/>
          <p:cNvSpPr/>
          <p:nvPr/>
        </p:nvSpPr>
        <p:spPr>
          <a:xfrm>
            <a:off x="11345875" y="772668"/>
            <a:ext cx="310896" cy="279806"/>
          </a:xfrm>
          <a:prstGeom prst="line">
            <a:avLst/>
          </a:prstGeom>
          <a:noFill/>
          <a:ln w="12700">
            <a:solidFill>
              <a:srgbClr val="CFC9E4"/>
            </a:solidFill>
            <a:prstDash val="solid"/>
          </a:ln>
        </p:spPr>
      </p:sp>
      <p:sp>
        <p:nvSpPr>
          <p:cNvPr id="8" name="Shape 6"/>
          <p:cNvSpPr/>
          <p:nvPr/>
        </p:nvSpPr>
        <p:spPr>
          <a:xfrm>
            <a:off x="10974354" y="432237"/>
            <a:ext cx="121249" cy="121249"/>
          </a:xfrm>
          <a:prstGeom prst="ellipse">
            <a:avLst/>
          </a:prstGeom>
          <a:solidFill>
            <a:srgbClr val="0091FF"/>
          </a:solidFill>
          <a:ln/>
        </p:spPr>
      </p:sp>
      <p:sp>
        <p:nvSpPr>
          <p:cNvPr id="9" name="Shape 7"/>
          <p:cNvSpPr/>
          <p:nvPr/>
        </p:nvSpPr>
        <p:spPr>
          <a:xfrm>
            <a:off x="11594592" y="415138"/>
            <a:ext cx="93269" cy="93269"/>
          </a:xfrm>
          <a:prstGeom prst="ellipse">
            <a:avLst/>
          </a:prstGeom>
          <a:solidFill>
            <a:srgbClr val="FFB800"/>
          </a:solidFill>
          <a:ln/>
        </p:spPr>
      </p:sp>
      <p:sp>
        <p:nvSpPr>
          <p:cNvPr id="10" name="Shape 8"/>
          <p:cNvSpPr/>
          <p:nvPr/>
        </p:nvSpPr>
        <p:spPr>
          <a:xfrm>
            <a:off x="10972800" y="1021385"/>
            <a:ext cx="93269" cy="93269"/>
          </a:xfrm>
          <a:prstGeom prst="ellipse">
            <a:avLst/>
          </a:prstGeom>
          <a:solidFill>
            <a:srgbClr val="FF1F71"/>
          </a:solidFill>
          <a:ln/>
        </p:spPr>
      </p:sp>
      <p:sp>
        <p:nvSpPr>
          <p:cNvPr id="11" name="Shape 9"/>
          <p:cNvSpPr/>
          <p:nvPr/>
        </p:nvSpPr>
        <p:spPr>
          <a:xfrm>
            <a:off x="11596146" y="991850"/>
            <a:ext cx="121249" cy="121249"/>
          </a:xfrm>
          <a:prstGeom prst="ellipse">
            <a:avLst/>
          </a:prstGeom>
          <a:solidFill>
            <a:srgbClr val="0091FF"/>
          </a:solidFill>
          <a:ln/>
        </p:spPr>
      </p:sp>
      <p:sp>
        <p:nvSpPr>
          <p:cNvPr id="12" name="Shape 10"/>
          <p:cNvSpPr/>
          <p:nvPr/>
        </p:nvSpPr>
        <p:spPr>
          <a:xfrm>
            <a:off x="11256493" y="683285"/>
            <a:ext cx="178765" cy="178765"/>
          </a:xfrm>
          <a:prstGeom prst="ellipse">
            <a:avLst/>
          </a:prstGeom>
          <a:solidFill>
            <a:srgbClr val="1B0E3D"/>
          </a:solidFill>
          <a:ln w="19050">
            <a:solidFill>
              <a:srgbClr val="FFFFFF"/>
            </a:solidFill>
            <a:prstDash val="solid"/>
          </a:ln>
        </p:spPr>
      </p:sp>
      <p:sp>
        <p:nvSpPr>
          <p:cNvPr id="13" name="Shape 11"/>
          <p:cNvSpPr/>
          <p:nvPr/>
        </p:nvSpPr>
        <p:spPr>
          <a:xfrm>
            <a:off x="548640" y="1764792"/>
            <a:ext cx="201168" cy="201168"/>
          </a:xfrm>
          <a:prstGeom prst="ellipse">
            <a:avLst/>
          </a:prstGeom>
          <a:solidFill>
            <a:srgbClr val="0091FF"/>
          </a:solidFill>
          <a:ln/>
        </p:spPr>
      </p:sp>
      <p:sp>
        <p:nvSpPr>
          <p:cNvPr id="14" name="Text 12"/>
          <p:cNvSpPr/>
          <p:nvPr/>
        </p:nvSpPr>
        <p:spPr>
          <a:xfrm>
            <a:off x="932688" y="1691640"/>
            <a:ext cx="5010912" cy="822960"/>
          </a:xfrm>
          <a:prstGeom prst="rect">
            <a:avLst/>
          </a:prstGeom>
          <a:noFill/>
          <a:ln/>
        </p:spPr>
        <p:txBody>
          <a:bodyPr wrap="square" lIns="0" tIns="0" rIns="0" bIns="0" rtlCol="0" anchor="ctr"/>
          <a:lstStyle/>
          <a:p>
            <a:pPr indent="0" marL="0">
              <a:lnSpc>
                <a:spcPct val="105000"/>
              </a:lnSpc>
              <a:buNone/>
            </a:pPr>
            <a:r>
              <a:rPr lang="en-US" sz="1550" dirty="0">
                <a:solidFill>
                  <a:srgbClr val="FFFFFF"/>
                </a:solidFill>
                <a:latin typeface="Cambria" pitchFamily="34" charset="0"/>
                <a:ea typeface="Cambria" pitchFamily="34" charset="-122"/>
                <a:cs typeface="Cambria" pitchFamily="34" charset="-120"/>
              </a:rPr>
              <a:t>Heavy-tailed, with a finite cutoff</a:t>
            </a:r>
            <a:endParaRPr lang="en-US" sz="1550" dirty="0"/>
          </a:p>
        </p:txBody>
      </p:sp>
      <p:sp>
        <p:nvSpPr>
          <p:cNvPr id="15" name="Shape 13"/>
          <p:cNvSpPr/>
          <p:nvPr/>
        </p:nvSpPr>
        <p:spPr>
          <a:xfrm>
            <a:off x="6263640" y="1764792"/>
            <a:ext cx="201168" cy="201168"/>
          </a:xfrm>
          <a:prstGeom prst="ellipse">
            <a:avLst/>
          </a:prstGeom>
          <a:solidFill>
            <a:srgbClr val="FFB800"/>
          </a:solidFill>
          <a:ln/>
        </p:spPr>
      </p:sp>
      <p:sp>
        <p:nvSpPr>
          <p:cNvPr id="16" name="Text 14"/>
          <p:cNvSpPr/>
          <p:nvPr/>
        </p:nvSpPr>
        <p:spPr>
          <a:xfrm>
            <a:off x="6647688" y="1691640"/>
            <a:ext cx="5010912" cy="822960"/>
          </a:xfrm>
          <a:prstGeom prst="rect">
            <a:avLst/>
          </a:prstGeom>
          <a:noFill/>
          <a:ln/>
        </p:spPr>
        <p:txBody>
          <a:bodyPr wrap="square" lIns="0" tIns="0" rIns="0" bIns="0" rtlCol="0" anchor="ctr"/>
          <a:lstStyle/>
          <a:p>
            <a:pPr indent="0" marL="0">
              <a:lnSpc>
                <a:spcPct val="105000"/>
              </a:lnSpc>
              <a:buNone/>
            </a:pPr>
            <a:r>
              <a:rPr lang="en-US" sz="1550" dirty="0">
                <a:solidFill>
                  <a:srgbClr val="FFFFFF"/>
                </a:solidFill>
                <a:latin typeface="Cambria" pitchFamily="34" charset="0"/>
                <a:ea typeface="Cambria" pitchFamily="34" charset="-122"/>
                <a:cs typeface="Cambria" pitchFamily="34" charset="-120"/>
              </a:rPr>
              <a:t>Small-world — hubs act as shortcuts</a:t>
            </a:r>
            <a:endParaRPr lang="en-US" sz="1550" dirty="0"/>
          </a:p>
        </p:txBody>
      </p:sp>
      <p:sp>
        <p:nvSpPr>
          <p:cNvPr id="17" name="Shape 15"/>
          <p:cNvSpPr/>
          <p:nvPr/>
        </p:nvSpPr>
        <p:spPr>
          <a:xfrm>
            <a:off x="548640" y="2770632"/>
            <a:ext cx="201168" cy="201168"/>
          </a:xfrm>
          <a:prstGeom prst="ellipse">
            <a:avLst/>
          </a:prstGeom>
          <a:solidFill>
            <a:srgbClr val="FF1F71"/>
          </a:solidFill>
          <a:ln/>
        </p:spPr>
      </p:sp>
      <p:sp>
        <p:nvSpPr>
          <p:cNvPr id="18" name="Text 16"/>
          <p:cNvSpPr/>
          <p:nvPr/>
        </p:nvSpPr>
        <p:spPr>
          <a:xfrm>
            <a:off x="932688" y="2697480"/>
            <a:ext cx="5010912" cy="822960"/>
          </a:xfrm>
          <a:prstGeom prst="rect">
            <a:avLst/>
          </a:prstGeom>
          <a:noFill/>
          <a:ln/>
        </p:spPr>
        <p:txBody>
          <a:bodyPr wrap="square" lIns="0" tIns="0" rIns="0" bIns="0" rtlCol="0" anchor="ctr"/>
          <a:lstStyle/>
          <a:p>
            <a:pPr indent="0" marL="0">
              <a:lnSpc>
                <a:spcPct val="105000"/>
              </a:lnSpc>
              <a:buNone/>
            </a:pPr>
            <a:r>
              <a:rPr lang="en-US" sz="1550" dirty="0">
                <a:solidFill>
                  <a:srgbClr val="FFFFFF"/>
                </a:solidFill>
                <a:latin typeface="Cambria" pitchFamily="34" charset="0"/>
                <a:ea typeface="Cambria" pitchFamily="34" charset="-122"/>
                <a:cs typeface="Cambria" pitchFamily="34" charset="-120"/>
              </a:rPr>
              <a:t>Strongly clustered — real triadic closure</a:t>
            </a:r>
            <a:endParaRPr lang="en-US" sz="1550" dirty="0"/>
          </a:p>
        </p:txBody>
      </p:sp>
      <p:sp>
        <p:nvSpPr>
          <p:cNvPr id="19" name="Shape 17"/>
          <p:cNvSpPr/>
          <p:nvPr/>
        </p:nvSpPr>
        <p:spPr>
          <a:xfrm>
            <a:off x="6263640" y="2770632"/>
            <a:ext cx="201168" cy="201168"/>
          </a:xfrm>
          <a:prstGeom prst="ellipse">
            <a:avLst/>
          </a:prstGeom>
          <a:solidFill>
            <a:srgbClr val="0091FF"/>
          </a:solidFill>
          <a:ln/>
        </p:spPr>
      </p:sp>
      <p:sp>
        <p:nvSpPr>
          <p:cNvPr id="20" name="Text 18"/>
          <p:cNvSpPr/>
          <p:nvPr/>
        </p:nvSpPr>
        <p:spPr>
          <a:xfrm>
            <a:off x="6647688" y="2697480"/>
            <a:ext cx="5010912" cy="822960"/>
          </a:xfrm>
          <a:prstGeom prst="rect">
            <a:avLst/>
          </a:prstGeom>
          <a:noFill/>
          <a:ln/>
        </p:spPr>
        <p:txBody>
          <a:bodyPr wrap="square" lIns="0" tIns="0" rIns="0" bIns="0" rtlCol="0" anchor="ctr"/>
          <a:lstStyle/>
          <a:p>
            <a:pPr indent="0" marL="0">
              <a:lnSpc>
                <a:spcPct val="105000"/>
              </a:lnSpc>
              <a:buNone/>
            </a:pPr>
            <a:r>
              <a:rPr lang="en-US" sz="1550" dirty="0">
                <a:solidFill>
                  <a:srgbClr val="FFFFFF"/>
                </a:solidFill>
                <a:latin typeface="Cambria" pitchFamily="34" charset="0"/>
                <a:ea typeface="Cambria" pitchFamily="34" charset="-122"/>
                <a:cs typeface="Cambria" pitchFamily="34" charset="-120"/>
              </a:rPr>
              <a:t>Modular — 197 communities, Q = 0.60</a:t>
            </a:r>
            <a:endParaRPr lang="en-US" sz="1550" dirty="0"/>
          </a:p>
        </p:txBody>
      </p:sp>
      <p:sp>
        <p:nvSpPr>
          <p:cNvPr id="21" name="Shape 19"/>
          <p:cNvSpPr/>
          <p:nvPr/>
        </p:nvSpPr>
        <p:spPr>
          <a:xfrm>
            <a:off x="548640" y="3776472"/>
            <a:ext cx="201168" cy="201168"/>
          </a:xfrm>
          <a:prstGeom prst="ellipse">
            <a:avLst/>
          </a:prstGeom>
          <a:solidFill>
            <a:srgbClr val="FFB800"/>
          </a:solidFill>
          <a:ln/>
        </p:spPr>
      </p:sp>
      <p:sp>
        <p:nvSpPr>
          <p:cNvPr id="22" name="Text 20"/>
          <p:cNvSpPr/>
          <p:nvPr/>
        </p:nvSpPr>
        <p:spPr>
          <a:xfrm>
            <a:off x="932688" y="3703320"/>
            <a:ext cx="5010912" cy="822960"/>
          </a:xfrm>
          <a:prstGeom prst="rect">
            <a:avLst/>
          </a:prstGeom>
          <a:noFill/>
          <a:ln/>
        </p:spPr>
        <p:txBody>
          <a:bodyPr wrap="square" lIns="0" tIns="0" rIns="0" bIns="0" rtlCol="0" anchor="ctr"/>
          <a:lstStyle/>
          <a:p>
            <a:pPr indent="0" marL="0">
              <a:lnSpc>
                <a:spcPct val="105000"/>
              </a:lnSpc>
              <a:buNone/>
            </a:pPr>
            <a:r>
              <a:rPr lang="en-US" sz="1550" dirty="0">
                <a:solidFill>
                  <a:srgbClr val="FFFFFF"/>
                </a:solidFill>
                <a:latin typeface="Cambria" pitchFamily="34" charset="0"/>
                <a:ea typeface="Cambria" pitchFamily="34" charset="-122"/>
                <a:cs typeface="Cambria" pitchFamily="34" charset="-120"/>
              </a:rPr>
              <a:t>Disassortative — no hub-to-hub core</a:t>
            </a:r>
            <a:endParaRPr lang="en-US" sz="1550" dirty="0"/>
          </a:p>
        </p:txBody>
      </p:sp>
      <p:sp>
        <p:nvSpPr>
          <p:cNvPr id="23" name="Shape 21"/>
          <p:cNvSpPr/>
          <p:nvPr/>
        </p:nvSpPr>
        <p:spPr>
          <a:xfrm>
            <a:off x="6263640" y="3776472"/>
            <a:ext cx="201168" cy="201168"/>
          </a:xfrm>
          <a:prstGeom prst="ellipse">
            <a:avLst/>
          </a:prstGeom>
          <a:solidFill>
            <a:srgbClr val="FF1F71"/>
          </a:solidFill>
          <a:ln/>
        </p:spPr>
      </p:sp>
      <p:sp>
        <p:nvSpPr>
          <p:cNvPr id="24" name="Text 22"/>
          <p:cNvSpPr/>
          <p:nvPr/>
        </p:nvSpPr>
        <p:spPr>
          <a:xfrm>
            <a:off x="6647688" y="3703320"/>
            <a:ext cx="5010912" cy="822960"/>
          </a:xfrm>
          <a:prstGeom prst="rect">
            <a:avLst/>
          </a:prstGeom>
          <a:noFill/>
          <a:ln/>
        </p:spPr>
        <p:txBody>
          <a:bodyPr wrap="square" lIns="0" tIns="0" rIns="0" bIns="0" rtlCol="0" anchor="ctr"/>
          <a:lstStyle/>
          <a:p>
            <a:pPr indent="0" marL="0">
              <a:lnSpc>
                <a:spcPct val="105000"/>
              </a:lnSpc>
              <a:buNone/>
            </a:pPr>
            <a:r>
              <a:rPr lang="en-US" sz="1550" dirty="0">
                <a:solidFill>
                  <a:srgbClr val="FFFFFF"/>
                </a:solidFill>
                <a:latin typeface="Cambria" pitchFamily="34" charset="0"/>
                <a:ea typeface="Cambria" pitchFamily="34" charset="-122"/>
                <a:cs typeface="Cambria" pitchFamily="34" charset="-120"/>
              </a:rPr>
              <a:t>Robust to random failures, fragile to targeted attacks</a:t>
            </a:r>
            <a:endParaRPr lang="en-US" sz="1550" dirty="0"/>
          </a:p>
        </p:txBody>
      </p:sp>
      <p:sp>
        <p:nvSpPr>
          <p:cNvPr id="25" name="Shape 23"/>
          <p:cNvSpPr/>
          <p:nvPr/>
        </p:nvSpPr>
        <p:spPr>
          <a:xfrm>
            <a:off x="548640" y="4892040"/>
            <a:ext cx="11091672" cy="868680"/>
          </a:xfrm>
          <a:prstGeom prst="roundRect">
            <a:avLst>
              <a:gd name="adj" fmla="val 9474"/>
            </a:avLst>
          </a:prstGeom>
          <a:solidFill>
            <a:srgbClr val="281A55"/>
          </a:solidFill>
          <a:ln/>
        </p:spPr>
      </p:sp>
      <p:sp>
        <p:nvSpPr>
          <p:cNvPr id="26" name="Text 24"/>
          <p:cNvSpPr/>
          <p:nvPr/>
        </p:nvSpPr>
        <p:spPr>
          <a:xfrm>
            <a:off x="822960" y="4892040"/>
            <a:ext cx="10515600" cy="868680"/>
          </a:xfrm>
          <a:prstGeom prst="rect">
            <a:avLst/>
          </a:prstGeom>
          <a:noFill/>
          <a:ln/>
        </p:spPr>
        <p:txBody>
          <a:bodyPr wrap="square" lIns="0" tIns="0" rIns="0" bIns="0" rtlCol="0" anchor="ctr"/>
          <a:lstStyle/>
          <a:p>
            <a:pPr indent="0" marL="0">
              <a:buNone/>
            </a:pPr>
            <a:r>
              <a:rPr lang="en-US" sz="1600" b="1" i="1" dirty="0">
                <a:solidFill>
                  <a:srgbClr val="FFB800"/>
                </a:solidFill>
                <a:latin typeface="Cambria" pitchFamily="34" charset="0"/>
                <a:ea typeface="Cambria" pitchFamily="34" charset="-122"/>
                <a:cs typeface="Cambria" pitchFamily="34" charset="-120"/>
              </a:rPr>
              <a:t>No null model reproduces all of this at once — the structural profile of a real human communication network.</a:t>
            </a:r>
            <a:endParaRPr lang="en-US" sz="1600" dirty="0"/>
          </a:p>
        </p:txBody>
      </p:sp>
      <p:sp>
        <p:nvSpPr>
          <p:cNvPr id="27" name="Text 25"/>
          <p:cNvSpPr/>
          <p:nvPr/>
        </p:nvSpPr>
        <p:spPr>
          <a:xfrm>
            <a:off x="548640" y="5943600"/>
            <a:ext cx="11091672" cy="548640"/>
          </a:xfrm>
          <a:prstGeom prst="rect">
            <a:avLst/>
          </a:prstGeom>
          <a:noFill/>
          <a:ln/>
        </p:spPr>
        <p:txBody>
          <a:bodyPr wrap="square" lIns="0" tIns="0" rIns="0" bIns="0" rtlCol="0" anchor="ctr"/>
          <a:lstStyle/>
          <a:p>
            <a:pPr indent="0" marL="0">
              <a:buNone/>
            </a:pPr>
            <a:r>
              <a:rPr lang="en-US" sz="1100" i="1" dirty="0">
                <a:solidFill>
                  <a:srgbClr val="9B8FC9"/>
                </a:solidFill>
                <a:latin typeface="Cambria" pitchFamily="34" charset="0"/>
                <a:ea typeface="Cambria" pitchFamily="34" charset="-122"/>
                <a:cs typeface="Cambria" pitchFamily="34" charset="-120"/>
              </a:rPr>
              <a:t>Limitations: the graph is symmetrised (sender/recipient direction is lost) · some indices are sampled estimates · null models share only N and ⟨k⟩, not higher-order structure.</a:t>
            </a:r>
            <a:endParaRPr lang="en-US" sz="1100" dirty="0"/>
          </a:p>
        </p:txBody>
      </p:sp>
      <p:sp>
        <p:nvSpPr>
          <p:cNvPr id="28" name="Text 26"/>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9B8FC9"/>
                </a:solidFill>
                <a:latin typeface="Cambria" pitchFamily="34" charset="0"/>
                <a:ea typeface="Cambria" pitchFamily="34" charset="-122"/>
                <a:cs typeface="Cambria" pitchFamily="34" charset="-120"/>
              </a:rPr>
              <a:t>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50" b="1" spc="200" kern="0" dirty="0">
                <a:solidFill>
                  <a:srgbClr val="0091FF"/>
                </a:solidFill>
                <a:latin typeface="Cambria" pitchFamily="34" charset="0"/>
                <a:ea typeface="Cambria" pitchFamily="34" charset="-122"/>
                <a:cs typeface="Cambria" pitchFamily="34" charset="-120"/>
              </a:rPr>
              <a:t>BONUS</a:t>
            </a:r>
            <a:endParaRPr lang="en-US" sz="125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buNone/>
            </a:pPr>
            <a:r>
              <a:rPr lang="en-US" sz="3000" b="1" dirty="0">
                <a:solidFill>
                  <a:srgbClr val="1B0E3D"/>
                </a:solidFill>
                <a:latin typeface="Cambria" pitchFamily="34" charset="0"/>
                <a:ea typeface="Cambria" pitchFamily="34" charset="-122"/>
                <a:cs typeface="Cambria" pitchFamily="34" charset="-120"/>
              </a:rPr>
              <a:t>Beyond the Required Analysis</a:t>
            </a:r>
            <a:endParaRPr lang="en-US" sz="3000" dirty="0"/>
          </a:p>
        </p:txBody>
      </p:sp>
      <p:sp>
        <p:nvSpPr>
          <p:cNvPr id="4" name="Shape 2"/>
          <p:cNvSpPr/>
          <p:nvPr/>
        </p:nvSpPr>
        <p:spPr>
          <a:xfrm>
            <a:off x="11034979" y="492862"/>
            <a:ext cx="310896" cy="279806"/>
          </a:xfrm>
          <a:prstGeom prst="line">
            <a:avLst/>
          </a:prstGeom>
          <a:noFill/>
          <a:ln w="12700">
            <a:solidFill>
              <a:srgbClr val="CFC9E4"/>
            </a:solidFill>
            <a:prstDash val="solid"/>
          </a:ln>
        </p:spPr>
      </p:sp>
      <p:sp>
        <p:nvSpPr>
          <p:cNvPr id="5" name="Shape 3"/>
          <p:cNvSpPr/>
          <p:nvPr/>
        </p:nvSpPr>
        <p:spPr>
          <a:xfrm flipV="1">
            <a:off x="11345875" y="461772"/>
            <a:ext cx="295351" cy="310896"/>
          </a:xfrm>
          <a:prstGeom prst="line">
            <a:avLst/>
          </a:prstGeom>
          <a:noFill/>
          <a:ln w="12700">
            <a:solidFill>
              <a:srgbClr val="CFC9E4"/>
            </a:solidFill>
            <a:prstDash val="solid"/>
          </a:ln>
        </p:spPr>
      </p:sp>
      <p:sp>
        <p:nvSpPr>
          <p:cNvPr id="6" name="Shape 4"/>
          <p:cNvSpPr/>
          <p:nvPr/>
        </p:nvSpPr>
        <p:spPr>
          <a:xfrm flipV="1">
            <a:off x="11019434" y="772668"/>
            <a:ext cx="326441" cy="295351"/>
          </a:xfrm>
          <a:prstGeom prst="line">
            <a:avLst/>
          </a:prstGeom>
          <a:noFill/>
          <a:ln w="12700">
            <a:solidFill>
              <a:srgbClr val="CFC9E4"/>
            </a:solidFill>
            <a:prstDash val="solid"/>
          </a:ln>
        </p:spPr>
      </p:sp>
      <p:sp>
        <p:nvSpPr>
          <p:cNvPr id="7" name="Shape 5"/>
          <p:cNvSpPr/>
          <p:nvPr/>
        </p:nvSpPr>
        <p:spPr>
          <a:xfrm>
            <a:off x="11345875" y="772668"/>
            <a:ext cx="310896" cy="279806"/>
          </a:xfrm>
          <a:prstGeom prst="line">
            <a:avLst/>
          </a:prstGeom>
          <a:noFill/>
          <a:ln w="12700">
            <a:solidFill>
              <a:srgbClr val="CFC9E4"/>
            </a:solidFill>
            <a:prstDash val="solid"/>
          </a:ln>
        </p:spPr>
      </p:sp>
      <p:sp>
        <p:nvSpPr>
          <p:cNvPr id="8" name="Shape 6"/>
          <p:cNvSpPr/>
          <p:nvPr/>
        </p:nvSpPr>
        <p:spPr>
          <a:xfrm>
            <a:off x="10974354" y="432237"/>
            <a:ext cx="121249" cy="121249"/>
          </a:xfrm>
          <a:prstGeom prst="ellipse">
            <a:avLst/>
          </a:prstGeom>
          <a:solidFill>
            <a:srgbClr val="0091FF"/>
          </a:solidFill>
          <a:ln/>
        </p:spPr>
      </p:sp>
      <p:sp>
        <p:nvSpPr>
          <p:cNvPr id="9" name="Shape 7"/>
          <p:cNvSpPr/>
          <p:nvPr/>
        </p:nvSpPr>
        <p:spPr>
          <a:xfrm>
            <a:off x="11594592" y="415138"/>
            <a:ext cx="93269" cy="93269"/>
          </a:xfrm>
          <a:prstGeom prst="ellipse">
            <a:avLst/>
          </a:prstGeom>
          <a:solidFill>
            <a:srgbClr val="FFB800"/>
          </a:solidFill>
          <a:ln/>
        </p:spPr>
      </p:sp>
      <p:sp>
        <p:nvSpPr>
          <p:cNvPr id="10" name="Shape 8"/>
          <p:cNvSpPr/>
          <p:nvPr/>
        </p:nvSpPr>
        <p:spPr>
          <a:xfrm>
            <a:off x="10972800" y="1021385"/>
            <a:ext cx="93269" cy="93269"/>
          </a:xfrm>
          <a:prstGeom prst="ellipse">
            <a:avLst/>
          </a:prstGeom>
          <a:solidFill>
            <a:srgbClr val="FF1F71"/>
          </a:solidFill>
          <a:ln/>
        </p:spPr>
      </p:sp>
      <p:sp>
        <p:nvSpPr>
          <p:cNvPr id="11" name="Shape 9"/>
          <p:cNvSpPr/>
          <p:nvPr/>
        </p:nvSpPr>
        <p:spPr>
          <a:xfrm>
            <a:off x="11596146" y="991850"/>
            <a:ext cx="121249" cy="121249"/>
          </a:xfrm>
          <a:prstGeom prst="ellipse">
            <a:avLst/>
          </a:prstGeom>
          <a:solidFill>
            <a:srgbClr val="0091FF"/>
          </a:solidFill>
          <a:ln/>
        </p:spPr>
      </p:sp>
      <p:sp>
        <p:nvSpPr>
          <p:cNvPr id="12" name="Shape 10"/>
          <p:cNvSpPr/>
          <p:nvPr/>
        </p:nvSpPr>
        <p:spPr>
          <a:xfrm>
            <a:off x="11256493" y="683285"/>
            <a:ext cx="178765" cy="178765"/>
          </a:xfrm>
          <a:prstGeom prst="ellipse">
            <a:avLst/>
          </a:prstGeom>
          <a:solidFill>
            <a:srgbClr val="1B0E3D"/>
          </a:solidFill>
          <a:ln w="19050">
            <a:solidFill>
              <a:srgbClr val="FFFFFF"/>
            </a:solidFill>
            <a:prstDash val="solid"/>
          </a:ln>
        </p:spPr>
      </p:sp>
      <p:sp>
        <p:nvSpPr>
          <p:cNvPr id="13" name="Shape 11"/>
          <p:cNvSpPr/>
          <p:nvPr/>
        </p:nvSpPr>
        <p:spPr>
          <a:xfrm>
            <a:off x="548640" y="1554480"/>
            <a:ext cx="5362956" cy="2080260"/>
          </a:xfrm>
          <a:prstGeom prst="roundRect">
            <a:avLst>
              <a:gd name="adj" fmla="val 4396"/>
            </a:avLst>
          </a:prstGeom>
          <a:solidFill>
            <a:srgbClr val="FFFFFF"/>
          </a:solidFill>
          <a:ln w="12700">
            <a:solidFill>
              <a:srgbClr val="E5E1F0"/>
            </a:solidFill>
            <a:prstDash val="solid"/>
          </a:ln>
          <a:effectLst>
            <a:outerShdw sx="100000" sy="100000" kx="0" ky="0" algn="bl" rotWithShape="0" blurRad="101600" dist="38100" dir="5400000">
              <a:srgbClr val="000000">
                <a:alpha val="14000"/>
              </a:srgbClr>
            </a:outerShdw>
          </a:effectLst>
        </p:spPr>
      </p:sp>
      <p:sp>
        <p:nvSpPr>
          <p:cNvPr id="14" name="Shape 12"/>
          <p:cNvSpPr/>
          <p:nvPr/>
        </p:nvSpPr>
        <p:spPr>
          <a:xfrm>
            <a:off x="804672" y="1810512"/>
            <a:ext cx="365760" cy="365760"/>
          </a:xfrm>
          <a:prstGeom prst="ellipse">
            <a:avLst/>
          </a:prstGeom>
          <a:solidFill>
            <a:srgbClr val="0091FF"/>
          </a:solidFill>
          <a:ln/>
        </p:spPr>
      </p:sp>
      <p:sp>
        <p:nvSpPr>
          <p:cNvPr id="15" name="Text 13"/>
          <p:cNvSpPr/>
          <p:nvPr/>
        </p:nvSpPr>
        <p:spPr>
          <a:xfrm>
            <a:off x="1325880" y="1773936"/>
            <a:ext cx="4357116" cy="457200"/>
          </a:xfrm>
          <a:prstGeom prst="rect">
            <a:avLst/>
          </a:prstGeom>
          <a:noFill/>
          <a:ln/>
        </p:spPr>
        <p:txBody>
          <a:bodyPr wrap="square" lIns="0" tIns="0" rIns="0" bIns="0" rtlCol="0" anchor="ctr"/>
          <a:lstStyle/>
          <a:p>
            <a:pPr indent="0" marL="0">
              <a:buNone/>
            </a:pPr>
            <a:r>
              <a:rPr lang="en-US" sz="1550" b="1" dirty="0">
                <a:solidFill>
                  <a:srgbClr val="1B0E3D"/>
                </a:solidFill>
                <a:latin typeface="Cambria" pitchFamily="34" charset="0"/>
                <a:ea typeface="Cambria" pitchFamily="34" charset="-122"/>
                <a:cs typeface="Cambria" pitchFamily="34" charset="-120"/>
              </a:rPr>
              <a:t>Game-Theoretic Centrality</a:t>
            </a:r>
            <a:endParaRPr lang="en-US" sz="1550" dirty="0"/>
          </a:p>
        </p:txBody>
      </p:sp>
      <p:sp>
        <p:nvSpPr>
          <p:cNvPr id="16" name="Text 14"/>
          <p:cNvSpPr/>
          <p:nvPr/>
        </p:nvSpPr>
        <p:spPr>
          <a:xfrm>
            <a:off x="804672" y="2331720"/>
            <a:ext cx="4850892" cy="685800"/>
          </a:xfrm>
          <a:prstGeom prst="rect">
            <a:avLst/>
          </a:prstGeom>
          <a:noFill/>
          <a:ln/>
        </p:spPr>
        <p:txBody>
          <a:bodyPr wrap="square" lIns="0" tIns="0" rIns="0" bIns="0" rtlCol="0" anchor="t"/>
          <a:lstStyle/>
          <a:p>
            <a:pPr indent="0" marL="0">
              <a:lnSpc>
                <a:spcPct val="110000"/>
              </a:lnSpc>
              <a:buNone/>
            </a:pPr>
            <a:r>
              <a:rPr lang="en-US" sz="1150" dirty="0">
                <a:solidFill>
                  <a:srgbClr val="6B7280"/>
                </a:solidFill>
                <a:latin typeface="Cambria" pitchFamily="34" charset="0"/>
                <a:ea typeface="Cambria" pitchFamily="34" charset="-122"/>
                <a:cs typeface="Cambria" pitchFamily="34" charset="-120"/>
              </a:rPr>
              <a:t>Shapley value of a coverage game (Michalak, 2013) ranks nodes by fair contribution to reachability.</a:t>
            </a:r>
            <a:endParaRPr lang="en-US" sz="1150" dirty="0"/>
          </a:p>
        </p:txBody>
      </p:sp>
      <p:sp>
        <p:nvSpPr>
          <p:cNvPr id="17" name="Text 15"/>
          <p:cNvSpPr/>
          <p:nvPr/>
        </p:nvSpPr>
        <p:spPr>
          <a:xfrm>
            <a:off x="804672" y="3131820"/>
            <a:ext cx="4850892" cy="411480"/>
          </a:xfrm>
          <a:prstGeom prst="rect">
            <a:avLst/>
          </a:prstGeom>
          <a:noFill/>
          <a:ln/>
        </p:spPr>
        <p:txBody>
          <a:bodyPr wrap="square" lIns="0" tIns="0" rIns="0" bIns="0" rtlCol="0" anchor="ctr"/>
          <a:lstStyle/>
          <a:p>
            <a:pPr indent="0" marL="0">
              <a:buNone/>
            </a:pPr>
            <a:r>
              <a:rPr lang="en-US" sz="1200" b="1" dirty="0">
                <a:solidFill>
                  <a:srgbClr val="0091FF"/>
                </a:solidFill>
                <a:latin typeface="Cambria" pitchFamily="34" charset="0"/>
                <a:ea typeface="Cambria" pitchFamily="34" charset="-122"/>
                <a:cs typeface="Cambria" pitchFamily="34" charset="-120"/>
              </a:rPr>
              <a:t>ρ = 0.38 vs. degree — a genuinely different centrality</a:t>
            </a:r>
            <a:endParaRPr lang="en-US" sz="1200" dirty="0"/>
          </a:p>
        </p:txBody>
      </p:sp>
      <p:sp>
        <p:nvSpPr>
          <p:cNvPr id="18" name="Shape 16"/>
          <p:cNvSpPr/>
          <p:nvPr/>
        </p:nvSpPr>
        <p:spPr>
          <a:xfrm>
            <a:off x="6277356" y="1554480"/>
            <a:ext cx="5362956" cy="2080260"/>
          </a:xfrm>
          <a:prstGeom prst="roundRect">
            <a:avLst>
              <a:gd name="adj" fmla="val 4396"/>
            </a:avLst>
          </a:prstGeom>
          <a:solidFill>
            <a:srgbClr val="FFFFFF"/>
          </a:solidFill>
          <a:ln w="12700">
            <a:solidFill>
              <a:srgbClr val="E5E1F0"/>
            </a:solidFill>
            <a:prstDash val="solid"/>
          </a:ln>
          <a:effectLst>
            <a:outerShdw sx="100000" sy="100000" kx="0" ky="0" algn="bl" rotWithShape="0" blurRad="101600" dist="38100" dir="5400000">
              <a:srgbClr val="000000">
                <a:alpha val="14000"/>
              </a:srgbClr>
            </a:outerShdw>
          </a:effectLst>
        </p:spPr>
      </p:sp>
      <p:sp>
        <p:nvSpPr>
          <p:cNvPr id="19" name="Shape 17"/>
          <p:cNvSpPr/>
          <p:nvPr/>
        </p:nvSpPr>
        <p:spPr>
          <a:xfrm>
            <a:off x="6533388" y="1810512"/>
            <a:ext cx="365760" cy="365760"/>
          </a:xfrm>
          <a:prstGeom prst="ellipse">
            <a:avLst/>
          </a:prstGeom>
          <a:solidFill>
            <a:srgbClr val="FF1F71"/>
          </a:solidFill>
          <a:ln/>
        </p:spPr>
      </p:sp>
      <p:sp>
        <p:nvSpPr>
          <p:cNvPr id="20" name="Text 18"/>
          <p:cNvSpPr/>
          <p:nvPr/>
        </p:nvSpPr>
        <p:spPr>
          <a:xfrm>
            <a:off x="7054596" y="1773936"/>
            <a:ext cx="4357116" cy="457200"/>
          </a:xfrm>
          <a:prstGeom prst="rect">
            <a:avLst/>
          </a:prstGeom>
          <a:noFill/>
          <a:ln/>
        </p:spPr>
        <p:txBody>
          <a:bodyPr wrap="square" lIns="0" tIns="0" rIns="0" bIns="0" rtlCol="0" anchor="ctr"/>
          <a:lstStyle/>
          <a:p>
            <a:pPr indent="0" marL="0">
              <a:buNone/>
            </a:pPr>
            <a:r>
              <a:rPr lang="en-US" sz="1550" b="1" dirty="0">
                <a:solidFill>
                  <a:srgbClr val="1B0E3D"/>
                </a:solidFill>
                <a:latin typeface="Cambria" pitchFamily="34" charset="0"/>
                <a:ea typeface="Cambria" pitchFamily="34" charset="-122"/>
                <a:cs typeface="Cambria" pitchFamily="34" charset="-120"/>
              </a:rPr>
              <a:t>Spreading &amp; Immunisation</a:t>
            </a:r>
            <a:endParaRPr lang="en-US" sz="1550" dirty="0"/>
          </a:p>
        </p:txBody>
      </p:sp>
      <p:sp>
        <p:nvSpPr>
          <p:cNvPr id="21" name="Text 19"/>
          <p:cNvSpPr/>
          <p:nvPr/>
        </p:nvSpPr>
        <p:spPr>
          <a:xfrm>
            <a:off x="6533388" y="2331720"/>
            <a:ext cx="4850892" cy="685800"/>
          </a:xfrm>
          <a:prstGeom prst="rect">
            <a:avLst/>
          </a:prstGeom>
          <a:noFill/>
          <a:ln/>
        </p:spPr>
        <p:txBody>
          <a:bodyPr wrap="square" lIns="0" tIns="0" rIns="0" bIns="0" rtlCol="0" anchor="t"/>
          <a:lstStyle/>
          <a:p>
            <a:pPr indent="0" marL="0">
              <a:lnSpc>
                <a:spcPct val="110000"/>
              </a:lnSpc>
              <a:buNone/>
            </a:pPr>
            <a:r>
              <a:rPr lang="en-US" sz="1150" dirty="0">
                <a:solidFill>
                  <a:srgbClr val="6B7280"/>
                </a:solidFill>
                <a:latin typeface="Cambria" pitchFamily="34" charset="0"/>
                <a:ea typeface="Cambria" pitchFamily="34" charset="-122"/>
                <a:cs typeface="Cambria" pitchFamily="34" charset="-120"/>
              </a:rPr>
              <a:t>SI worm simulation plus five immunisation strategies (random, degree, betweenness, Shapley, acquaintance).</a:t>
            </a:r>
            <a:endParaRPr lang="en-US" sz="1150" dirty="0"/>
          </a:p>
        </p:txBody>
      </p:sp>
      <p:sp>
        <p:nvSpPr>
          <p:cNvPr id="22" name="Text 20"/>
          <p:cNvSpPr/>
          <p:nvPr/>
        </p:nvSpPr>
        <p:spPr>
          <a:xfrm>
            <a:off x="6533388" y="3131820"/>
            <a:ext cx="4850892" cy="411480"/>
          </a:xfrm>
          <a:prstGeom prst="rect">
            <a:avLst/>
          </a:prstGeom>
          <a:noFill/>
          <a:ln/>
        </p:spPr>
        <p:txBody>
          <a:bodyPr wrap="square" lIns="0" tIns="0" rIns="0" bIns="0" rtlCol="0" anchor="ctr"/>
          <a:lstStyle/>
          <a:p>
            <a:pPr indent="0" marL="0">
              <a:buNone/>
            </a:pPr>
            <a:r>
              <a:rPr lang="en-US" sz="1200" b="1" dirty="0">
                <a:solidFill>
                  <a:srgbClr val="FF1F71"/>
                </a:solidFill>
                <a:latin typeface="Cambria" pitchFamily="34" charset="0"/>
                <a:ea typeface="Cambria" pitchFamily="34" charset="-122"/>
                <a:cs typeface="Cambria" pitchFamily="34" charset="-120"/>
              </a:rPr>
              <a:t>10% hub vaccination: 85% → 14% reachable</a:t>
            </a:r>
            <a:endParaRPr lang="en-US" sz="1200" dirty="0"/>
          </a:p>
        </p:txBody>
      </p:sp>
      <p:sp>
        <p:nvSpPr>
          <p:cNvPr id="23" name="Shape 21"/>
          <p:cNvSpPr/>
          <p:nvPr/>
        </p:nvSpPr>
        <p:spPr>
          <a:xfrm>
            <a:off x="548640" y="3954780"/>
            <a:ext cx="5362956" cy="2080260"/>
          </a:xfrm>
          <a:prstGeom prst="roundRect">
            <a:avLst>
              <a:gd name="adj" fmla="val 4396"/>
            </a:avLst>
          </a:prstGeom>
          <a:solidFill>
            <a:srgbClr val="FFFFFF"/>
          </a:solidFill>
          <a:ln w="12700">
            <a:solidFill>
              <a:srgbClr val="E5E1F0"/>
            </a:solidFill>
            <a:prstDash val="solid"/>
          </a:ln>
          <a:effectLst>
            <a:outerShdw sx="100000" sy="100000" kx="0" ky="0" algn="bl" rotWithShape="0" blurRad="101600" dist="38100" dir="5400000">
              <a:srgbClr val="000000">
                <a:alpha val="14000"/>
              </a:srgbClr>
            </a:outerShdw>
          </a:effectLst>
        </p:spPr>
      </p:sp>
      <p:sp>
        <p:nvSpPr>
          <p:cNvPr id="24" name="Shape 22"/>
          <p:cNvSpPr/>
          <p:nvPr/>
        </p:nvSpPr>
        <p:spPr>
          <a:xfrm>
            <a:off x="804672" y="4210812"/>
            <a:ext cx="365760" cy="365760"/>
          </a:xfrm>
          <a:prstGeom prst="ellipse">
            <a:avLst/>
          </a:prstGeom>
          <a:solidFill>
            <a:srgbClr val="FFB800"/>
          </a:solidFill>
          <a:ln/>
        </p:spPr>
      </p:sp>
      <p:sp>
        <p:nvSpPr>
          <p:cNvPr id="25" name="Text 23"/>
          <p:cNvSpPr/>
          <p:nvPr/>
        </p:nvSpPr>
        <p:spPr>
          <a:xfrm>
            <a:off x="1325880" y="4174236"/>
            <a:ext cx="4357116" cy="457200"/>
          </a:xfrm>
          <a:prstGeom prst="rect">
            <a:avLst/>
          </a:prstGeom>
          <a:noFill/>
          <a:ln/>
        </p:spPr>
        <p:txBody>
          <a:bodyPr wrap="square" lIns="0" tIns="0" rIns="0" bIns="0" rtlCol="0" anchor="ctr"/>
          <a:lstStyle/>
          <a:p>
            <a:pPr indent="0" marL="0">
              <a:buNone/>
            </a:pPr>
            <a:r>
              <a:rPr lang="en-US" sz="1550" b="1" dirty="0">
                <a:solidFill>
                  <a:srgbClr val="1B0E3D"/>
                </a:solidFill>
                <a:latin typeface="Cambria" pitchFamily="34" charset="0"/>
                <a:ea typeface="Cambria" pitchFamily="34" charset="-122"/>
                <a:cs typeface="Cambria" pitchFamily="34" charset="-120"/>
              </a:rPr>
              <a:t>Graph Embeddings + ML</a:t>
            </a:r>
            <a:endParaRPr lang="en-US" sz="1550" dirty="0"/>
          </a:p>
        </p:txBody>
      </p:sp>
      <p:sp>
        <p:nvSpPr>
          <p:cNvPr id="26" name="Text 24"/>
          <p:cNvSpPr/>
          <p:nvPr/>
        </p:nvSpPr>
        <p:spPr>
          <a:xfrm>
            <a:off x="804672" y="4732020"/>
            <a:ext cx="4850892" cy="685800"/>
          </a:xfrm>
          <a:prstGeom prst="rect">
            <a:avLst/>
          </a:prstGeom>
          <a:noFill/>
          <a:ln/>
        </p:spPr>
        <p:txBody>
          <a:bodyPr wrap="square" lIns="0" tIns="0" rIns="0" bIns="0" rtlCol="0" anchor="t"/>
          <a:lstStyle/>
          <a:p>
            <a:pPr indent="0" marL="0">
              <a:lnSpc>
                <a:spcPct val="110000"/>
              </a:lnSpc>
              <a:buNone/>
            </a:pPr>
            <a:r>
              <a:rPr lang="en-US" sz="1150" dirty="0">
                <a:solidFill>
                  <a:srgbClr val="6B7280"/>
                </a:solidFill>
                <a:latin typeface="Cambria" pitchFamily="34" charset="0"/>
                <a:ea typeface="Cambria" pitchFamily="34" charset="-122"/>
                <a:cs typeface="Cambria" pitchFamily="34" charset="-120"/>
              </a:rPr>
              <a:t>Spectral embedding of the network, classified with logistic regression.</a:t>
            </a:r>
            <a:endParaRPr lang="en-US" sz="1150" dirty="0"/>
          </a:p>
        </p:txBody>
      </p:sp>
      <p:sp>
        <p:nvSpPr>
          <p:cNvPr id="27" name="Text 25"/>
          <p:cNvSpPr/>
          <p:nvPr/>
        </p:nvSpPr>
        <p:spPr>
          <a:xfrm>
            <a:off x="804672" y="5532120"/>
            <a:ext cx="4850892" cy="411480"/>
          </a:xfrm>
          <a:prstGeom prst="rect">
            <a:avLst/>
          </a:prstGeom>
          <a:noFill/>
          <a:ln/>
        </p:spPr>
        <p:txBody>
          <a:bodyPr wrap="square" lIns="0" tIns="0" rIns="0" bIns="0" rtlCol="0" anchor="ctr"/>
          <a:lstStyle/>
          <a:p>
            <a:pPr indent="0" marL="0">
              <a:buNone/>
            </a:pPr>
            <a:r>
              <a:rPr lang="en-US" sz="1200" b="1" dirty="0">
                <a:solidFill>
                  <a:srgbClr val="FFB800"/>
                </a:solidFill>
                <a:latin typeface="Cambria" pitchFamily="34" charset="0"/>
                <a:ea typeface="Cambria" pitchFamily="34" charset="-122"/>
                <a:cs typeface="Cambria" pitchFamily="34" charset="-120"/>
              </a:rPr>
              <a:t>90% accuracy recovering communities (baseline 21%)</a:t>
            </a:r>
            <a:endParaRPr lang="en-US" sz="1200" dirty="0"/>
          </a:p>
        </p:txBody>
      </p:sp>
      <p:sp>
        <p:nvSpPr>
          <p:cNvPr id="28" name="Shape 26"/>
          <p:cNvSpPr/>
          <p:nvPr/>
        </p:nvSpPr>
        <p:spPr>
          <a:xfrm>
            <a:off x="6277356" y="3954780"/>
            <a:ext cx="5362956" cy="2080260"/>
          </a:xfrm>
          <a:prstGeom prst="roundRect">
            <a:avLst>
              <a:gd name="adj" fmla="val 4396"/>
            </a:avLst>
          </a:prstGeom>
          <a:solidFill>
            <a:srgbClr val="FFFFFF"/>
          </a:solidFill>
          <a:ln w="12700">
            <a:solidFill>
              <a:srgbClr val="E5E1F0"/>
            </a:solidFill>
            <a:prstDash val="solid"/>
          </a:ln>
          <a:effectLst>
            <a:outerShdw sx="100000" sy="100000" kx="0" ky="0" algn="bl" rotWithShape="0" blurRad="101600" dist="38100" dir="5400000">
              <a:srgbClr val="000000">
                <a:alpha val="14000"/>
              </a:srgbClr>
            </a:outerShdw>
          </a:effectLst>
        </p:spPr>
      </p:sp>
      <p:sp>
        <p:nvSpPr>
          <p:cNvPr id="29" name="Shape 27"/>
          <p:cNvSpPr/>
          <p:nvPr/>
        </p:nvSpPr>
        <p:spPr>
          <a:xfrm>
            <a:off x="6533388" y="4210812"/>
            <a:ext cx="365760" cy="365760"/>
          </a:xfrm>
          <a:prstGeom prst="ellipse">
            <a:avLst/>
          </a:prstGeom>
          <a:solidFill>
            <a:srgbClr val="0091FF"/>
          </a:solidFill>
          <a:ln/>
        </p:spPr>
      </p:sp>
      <p:sp>
        <p:nvSpPr>
          <p:cNvPr id="30" name="Text 28"/>
          <p:cNvSpPr/>
          <p:nvPr/>
        </p:nvSpPr>
        <p:spPr>
          <a:xfrm>
            <a:off x="7054596" y="4174236"/>
            <a:ext cx="4357116" cy="457200"/>
          </a:xfrm>
          <a:prstGeom prst="rect">
            <a:avLst/>
          </a:prstGeom>
          <a:noFill/>
          <a:ln/>
        </p:spPr>
        <p:txBody>
          <a:bodyPr wrap="square" lIns="0" tIns="0" rIns="0" bIns="0" rtlCol="0" anchor="ctr"/>
          <a:lstStyle/>
          <a:p>
            <a:pPr indent="0" marL="0">
              <a:buNone/>
            </a:pPr>
            <a:r>
              <a:rPr lang="en-US" sz="1550" b="1" dirty="0">
                <a:solidFill>
                  <a:srgbClr val="1B0E3D"/>
                </a:solidFill>
                <a:latin typeface="Cambria" pitchFamily="34" charset="0"/>
                <a:ea typeface="Cambria" pitchFamily="34" charset="-122"/>
                <a:cs typeface="Cambria" pitchFamily="34" charset="-120"/>
              </a:rPr>
              <a:t>Conformal Prediction</a:t>
            </a:r>
            <a:endParaRPr lang="en-US" sz="1550" dirty="0"/>
          </a:p>
        </p:txBody>
      </p:sp>
      <p:sp>
        <p:nvSpPr>
          <p:cNvPr id="31" name="Text 29"/>
          <p:cNvSpPr/>
          <p:nvPr/>
        </p:nvSpPr>
        <p:spPr>
          <a:xfrm>
            <a:off x="6533388" y="4732020"/>
            <a:ext cx="4850892" cy="685800"/>
          </a:xfrm>
          <a:prstGeom prst="rect">
            <a:avLst/>
          </a:prstGeom>
          <a:noFill/>
          <a:ln/>
        </p:spPr>
        <p:txBody>
          <a:bodyPr wrap="square" lIns="0" tIns="0" rIns="0" bIns="0" rtlCol="0" anchor="t"/>
          <a:lstStyle/>
          <a:p>
            <a:pPr indent="0" marL="0">
              <a:lnSpc>
                <a:spcPct val="110000"/>
              </a:lnSpc>
              <a:buNone/>
            </a:pPr>
            <a:r>
              <a:rPr lang="en-US" sz="1150" dirty="0">
                <a:solidFill>
                  <a:srgbClr val="6B7280"/>
                </a:solidFill>
                <a:latin typeface="Cambria" pitchFamily="34" charset="0"/>
                <a:ea typeface="Cambria" pitchFamily="34" charset="-122"/>
                <a:cs typeface="Cambria" pitchFamily="34" charset="-120"/>
              </a:rPr>
              <a:t>Distribution-free uncertainty on the community classifier (90% target coverage).</a:t>
            </a:r>
            <a:endParaRPr lang="en-US" sz="1150" dirty="0"/>
          </a:p>
        </p:txBody>
      </p:sp>
      <p:sp>
        <p:nvSpPr>
          <p:cNvPr id="32" name="Text 30"/>
          <p:cNvSpPr/>
          <p:nvPr/>
        </p:nvSpPr>
        <p:spPr>
          <a:xfrm>
            <a:off x="6533388" y="5532120"/>
            <a:ext cx="4850892" cy="411480"/>
          </a:xfrm>
          <a:prstGeom prst="rect">
            <a:avLst/>
          </a:prstGeom>
          <a:noFill/>
          <a:ln/>
        </p:spPr>
        <p:txBody>
          <a:bodyPr wrap="square" lIns="0" tIns="0" rIns="0" bIns="0" rtlCol="0" anchor="ctr"/>
          <a:lstStyle/>
          <a:p>
            <a:pPr indent="0" marL="0">
              <a:buNone/>
            </a:pPr>
            <a:r>
              <a:rPr lang="en-US" sz="1200" b="1" dirty="0">
                <a:solidFill>
                  <a:srgbClr val="0091FF"/>
                </a:solidFill>
                <a:latin typeface="Cambria" pitchFamily="34" charset="0"/>
                <a:ea typeface="Cambria" pitchFamily="34" charset="-122"/>
                <a:cs typeface="Cambria" pitchFamily="34" charset="-120"/>
              </a:rPr>
              <a:t>Empirical coverage: 90.5%</a:t>
            </a:r>
            <a:endParaRPr lang="en-US" sz="1200" dirty="0"/>
          </a:p>
        </p:txBody>
      </p:sp>
      <p:sp>
        <p:nvSpPr>
          <p:cNvPr id="33" name="Text 31"/>
          <p:cNvSpPr/>
          <p:nvPr/>
        </p:nvSpPr>
        <p:spPr>
          <a:xfrm>
            <a:off x="548640" y="6053328"/>
            <a:ext cx="11091672"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Cambria" pitchFamily="34" charset="0"/>
                <a:ea typeface="Cambria" pitchFamily="34" charset="-122"/>
                <a:cs typeface="Cambria" pitchFamily="34" charset="-120"/>
              </a:rPr>
              <a:t>Cross-links with Game Theory and Conformal Prediction from the Big Data &amp; Symbolic Methods course.</a:t>
            </a:r>
            <a:endParaRPr lang="en-US" sz="1100" dirty="0"/>
          </a:p>
        </p:txBody>
      </p:sp>
      <p:sp>
        <p:nvSpPr>
          <p:cNvPr id="34" name="Text 32"/>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B3AFC7"/>
                </a:solidFill>
                <a:latin typeface="Cambria" pitchFamily="34" charset="0"/>
                <a:ea typeface="Cambria" pitchFamily="34" charset="-122"/>
                <a:cs typeface="Cambria" pitchFamily="34" charset="-120"/>
              </a:rPr>
              <a:t>14 / 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0E3D"/>
        </a:solidFill>
      </p:bgPr>
    </p:bg>
    <p:spTree>
      <p:nvGrpSpPr>
        <p:cNvPr id="1" name=""/>
        <p:cNvGrpSpPr/>
        <p:nvPr/>
      </p:nvGrpSpPr>
      <p:grpSpPr>
        <a:xfrm>
          <a:off x="0" y="0"/>
          <a:ext cx="0" cy="0"/>
          <a:chOff x="0" y="0"/>
          <a:chExt cx="0" cy="0"/>
        </a:xfrm>
      </p:grpSpPr>
      <p:sp>
        <p:nvSpPr>
          <p:cNvPr id="2" name="Shape 0"/>
          <p:cNvSpPr/>
          <p:nvPr/>
        </p:nvSpPr>
        <p:spPr>
          <a:xfrm>
            <a:off x="9290304" y="1338682"/>
            <a:ext cx="950976" cy="855878"/>
          </a:xfrm>
          <a:prstGeom prst="line">
            <a:avLst/>
          </a:prstGeom>
          <a:noFill/>
          <a:ln w="12700">
            <a:solidFill>
              <a:srgbClr val="CFC9E4"/>
            </a:solidFill>
            <a:prstDash val="solid"/>
          </a:ln>
        </p:spPr>
      </p:sp>
      <p:sp>
        <p:nvSpPr>
          <p:cNvPr id="3" name="Shape 1"/>
          <p:cNvSpPr/>
          <p:nvPr/>
        </p:nvSpPr>
        <p:spPr>
          <a:xfrm flipV="1">
            <a:off x="10241280" y="1243584"/>
            <a:ext cx="903427" cy="950976"/>
          </a:xfrm>
          <a:prstGeom prst="line">
            <a:avLst/>
          </a:prstGeom>
          <a:noFill/>
          <a:ln w="12700">
            <a:solidFill>
              <a:srgbClr val="CFC9E4"/>
            </a:solidFill>
            <a:prstDash val="solid"/>
          </a:ln>
        </p:spPr>
      </p:sp>
      <p:sp>
        <p:nvSpPr>
          <p:cNvPr id="4" name="Shape 2"/>
          <p:cNvSpPr/>
          <p:nvPr/>
        </p:nvSpPr>
        <p:spPr>
          <a:xfrm flipV="1">
            <a:off x="9242755" y="2194560"/>
            <a:ext cx="998525" cy="903427"/>
          </a:xfrm>
          <a:prstGeom prst="line">
            <a:avLst/>
          </a:prstGeom>
          <a:noFill/>
          <a:ln w="12700">
            <a:solidFill>
              <a:srgbClr val="CFC9E4"/>
            </a:solidFill>
            <a:prstDash val="solid"/>
          </a:ln>
        </p:spPr>
      </p:sp>
      <p:sp>
        <p:nvSpPr>
          <p:cNvPr id="5" name="Shape 3"/>
          <p:cNvSpPr/>
          <p:nvPr/>
        </p:nvSpPr>
        <p:spPr>
          <a:xfrm>
            <a:off x="10241280" y="2194560"/>
            <a:ext cx="950976" cy="855878"/>
          </a:xfrm>
          <a:prstGeom prst="line">
            <a:avLst/>
          </a:prstGeom>
          <a:noFill/>
          <a:ln w="12700">
            <a:solidFill>
              <a:srgbClr val="CFC9E4"/>
            </a:solidFill>
            <a:prstDash val="solid"/>
          </a:ln>
        </p:spPr>
      </p:sp>
      <p:sp>
        <p:nvSpPr>
          <p:cNvPr id="6" name="Shape 4"/>
          <p:cNvSpPr/>
          <p:nvPr/>
        </p:nvSpPr>
        <p:spPr>
          <a:xfrm>
            <a:off x="9104864" y="1153241"/>
            <a:ext cx="370881" cy="370881"/>
          </a:xfrm>
          <a:prstGeom prst="ellipse">
            <a:avLst/>
          </a:prstGeom>
          <a:solidFill>
            <a:srgbClr val="0091FF"/>
          </a:solidFill>
          <a:ln/>
        </p:spPr>
      </p:sp>
      <p:sp>
        <p:nvSpPr>
          <p:cNvPr id="7" name="Shape 5"/>
          <p:cNvSpPr/>
          <p:nvPr/>
        </p:nvSpPr>
        <p:spPr>
          <a:xfrm>
            <a:off x="11002061" y="1100938"/>
            <a:ext cx="285293" cy="285293"/>
          </a:xfrm>
          <a:prstGeom prst="ellipse">
            <a:avLst/>
          </a:prstGeom>
          <a:solidFill>
            <a:srgbClr val="FFB800"/>
          </a:solidFill>
          <a:ln/>
        </p:spPr>
      </p:sp>
      <p:sp>
        <p:nvSpPr>
          <p:cNvPr id="8" name="Shape 6"/>
          <p:cNvSpPr/>
          <p:nvPr/>
        </p:nvSpPr>
        <p:spPr>
          <a:xfrm>
            <a:off x="9100109" y="2955341"/>
            <a:ext cx="285293" cy="285293"/>
          </a:xfrm>
          <a:prstGeom prst="ellipse">
            <a:avLst/>
          </a:prstGeom>
          <a:solidFill>
            <a:srgbClr val="FF1F71"/>
          </a:solidFill>
          <a:ln/>
        </p:spPr>
      </p:sp>
      <p:sp>
        <p:nvSpPr>
          <p:cNvPr id="9" name="Shape 7"/>
          <p:cNvSpPr/>
          <p:nvPr/>
        </p:nvSpPr>
        <p:spPr>
          <a:xfrm>
            <a:off x="11006816" y="2864998"/>
            <a:ext cx="370881" cy="370881"/>
          </a:xfrm>
          <a:prstGeom prst="ellipse">
            <a:avLst/>
          </a:prstGeom>
          <a:solidFill>
            <a:srgbClr val="0091FF"/>
          </a:solidFill>
          <a:ln/>
        </p:spPr>
      </p:sp>
      <p:sp>
        <p:nvSpPr>
          <p:cNvPr id="10" name="Shape 8"/>
          <p:cNvSpPr/>
          <p:nvPr/>
        </p:nvSpPr>
        <p:spPr>
          <a:xfrm>
            <a:off x="9967874" y="1921154"/>
            <a:ext cx="546811" cy="546811"/>
          </a:xfrm>
          <a:prstGeom prst="ellipse">
            <a:avLst/>
          </a:prstGeom>
          <a:solidFill>
            <a:srgbClr val="1B0E3D"/>
          </a:solidFill>
          <a:ln w="19050">
            <a:solidFill>
              <a:srgbClr val="FFFFFF"/>
            </a:solidFill>
            <a:prstDash val="solid"/>
          </a:ln>
        </p:spPr>
      </p:sp>
      <p:sp>
        <p:nvSpPr>
          <p:cNvPr id="11" name="Shape 9"/>
          <p:cNvSpPr/>
          <p:nvPr/>
        </p:nvSpPr>
        <p:spPr>
          <a:xfrm>
            <a:off x="10826496" y="4385462"/>
            <a:ext cx="512064" cy="460858"/>
          </a:xfrm>
          <a:prstGeom prst="line">
            <a:avLst/>
          </a:prstGeom>
          <a:noFill/>
          <a:ln w="12700">
            <a:solidFill>
              <a:srgbClr val="CFC9E4"/>
            </a:solidFill>
            <a:prstDash val="solid"/>
          </a:ln>
        </p:spPr>
      </p:sp>
      <p:sp>
        <p:nvSpPr>
          <p:cNvPr id="12" name="Shape 10"/>
          <p:cNvSpPr/>
          <p:nvPr/>
        </p:nvSpPr>
        <p:spPr>
          <a:xfrm flipV="1">
            <a:off x="11338560" y="4334256"/>
            <a:ext cx="486461" cy="512064"/>
          </a:xfrm>
          <a:prstGeom prst="line">
            <a:avLst/>
          </a:prstGeom>
          <a:noFill/>
          <a:ln w="12700">
            <a:solidFill>
              <a:srgbClr val="CFC9E4"/>
            </a:solidFill>
            <a:prstDash val="solid"/>
          </a:ln>
        </p:spPr>
      </p:sp>
      <p:sp>
        <p:nvSpPr>
          <p:cNvPr id="13" name="Shape 11"/>
          <p:cNvSpPr/>
          <p:nvPr/>
        </p:nvSpPr>
        <p:spPr>
          <a:xfrm flipV="1">
            <a:off x="10800893" y="4846320"/>
            <a:ext cx="537667" cy="486461"/>
          </a:xfrm>
          <a:prstGeom prst="line">
            <a:avLst/>
          </a:prstGeom>
          <a:noFill/>
          <a:ln w="12700">
            <a:solidFill>
              <a:srgbClr val="CFC9E4"/>
            </a:solidFill>
            <a:prstDash val="solid"/>
          </a:ln>
        </p:spPr>
      </p:sp>
      <p:sp>
        <p:nvSpPr>
          <p:cNvPr id="14" name="Shape 12"/>
          <p:cNvSpPr/>
          <p:nvPr/>
        </p:nvSpPr>
        <p:spPr>
          <a:xfrm>
            <a:off x="11338560" y="4846320"/>
            <a:ext cx="512064" cy="460858"/>
          </a:xfrm>
          <a:prstGeom prst="line">
            <a:avLst/>
          </a:prstGeom>
          <a:noFill/>
          <a:ln w="12700">
            <a:solidFill>
              <a:srgbClr val="CFC9E4"/>
            </a:solidFill>
            <a:prstDash val="solid"/>
          </a:ln>
        </p:spPr>
      </p:sp>
      <p:sp>
        <p:nvSpPr>
          <p:cNvPr id="15" name="Shape 13"/>
          <p:cNvSpPr/>
          <p:nvPr/>
        </p:nvSpPr>
        <p:spPr>
          <a:xfrm>
            <a:off x="10726644" y="4285610"/>
            <a:ext cx="199705" cy="199705"/>
          </a:xfrm>
          <a:prstGeom prst="ellipse">
            <a:avLst/>
          </a:prstGeom>
          <a:solidFill>
            <a:srgbClr val="FF1F71"/>
          </a:solidFill>
          <a:ln/>
        </p:spPr>
      </p:sp>
      <p:sp>
        <p:nvSpPr>
          <p:cNvPr id="16" name="Shape 14"/>
          <p:cNvSpPr/>
          <p:nvPr/>
        </p:nvSpPr>
        <p:spPr>
          <a:xfrm>
            <a:off x="11748211" y="4257446"/>
            <a:ext cx="153619" cy="153619"/>
          </a:xfrm>
          <a:prstGeom prst="ellipse">
            <a:avLst/>
          </a:prstGeom>
          <a:solidFill>
            <a:srgbClr val="FFB800"/>
          </a:solidFill>
          <a:ln/>
        </p:spPr>
      </p:sp>
      <p:sp>
        <p:nvSpPr>
          <p:cNvPr id="17" name="Shape 15"/>
          <p:cNvSpPr/>
          <p:nvPr/>
        </p:nvSpPr>
        <p:spPr>
          <a:xfrm>
            <a:off x="10724083" y="5255971"/>
            <a:ext cx="153619" cy="153619"/>
          </a:xfrm>
          <a:prstGeom prst="ellipse">
            <a:avLst/>
          </a:prstGeom>
          <a:solidFill>
            <a:srgbClr val="0091FF"/>
          </a:solidFill>
          <a:ln/>
        </p:spPr>
      </p:sp>
      <p:sp>
        <p:nvSpPr>
          <p:cNvPr id="18" name="Shape 16"/>
          <p:cNvSpPr/>
          <p:nvPr/>
        </p:nvSpPr>
        <p:spPr>
          <a:xfrm>
            <a:off x="11750772" y="5207325"/>
            <a:ext cx="199705" cy="199705"/>
          </a:xfrm>
          <a:prstGeom prst="ellipse">
            <a:avLst/>
          </a:prstGeom>
          <a:solidFill>
            <a:srgbClr val="FF1F71"/>
          </a:solidFill>
          <a:ln/>
        </p:spPr>
      </p:sp>
      <p:sp>
        <p:nvSpPr>
          <p:cNvPr id="19" name="Shape 17"/>
          <p:cNvSpPr/>
          <p:nvPr/>
        </p:nvSpPr>
        <p:spPr>
          <a:xfrm>
            <a:off x="11191342" y="4699102"/>
            <a:ext cx="294437" cy="294437"/>
          </a:xfrm>
          <a:prstGeom prst="ellipse">
            <a:avLst/>
          </a:prstGeom>
          <a:solidFill>
            <a:srgbClr val="1B0E3D"/>
          </a:solidFill>
          <a:ln w="19050">
            <a:solidFill>
              <a:srgbClr val="FFFFFF"/>
            </a:solidFill>
            <a:prstDash val="solid"/>
          </a:ln>
        </p:spPr>
      </p:sp>
      <p:sp>
        <p:nvSpPr>
          <p:cNvPr id="20" name="Text 18"/>
          <p:cNvSpPr/>
          <p:nvPr/>
        </p:nvSpPr>
        <p:spPr>
          <a:xfrm>
            <a:off x="640080" y="237744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21" name="Text 19"/>
          <p:cNvSpPr/>
          <p:nvPr/>
        </p:nvSpPr>
        <p:spPr>
          <a:xfrm>
            <a:off x="640080" y="3246120"/>
            <a:ext cx="7772400" cy="640080"/>
          </a:xfrm>
          <a:prstGeom prst="rect">
            <a:avLst/>
          </a:prstGeom>
          <a:noFill/>
          <a:ln/>
        </p:spPr>
        <p:txBody>
          <a:bodyPr wrap="square" lIns="0" tIns="0" rIns="0" bIns="0" rtlCol="0" anchor="ctr"/>
          <a:lstStyle/>
          <a:p>
            <a:pPr indent="0" marL="0">
              <a:buNone/>
            </a:pPr>
            <a:r>
              <a:rPr lang="en-US" sz="2400" i="1" dirty="0">
                <a:solidFill>
                  <a:srgbClr val="FFB800"/>
                </a:solidFill>
                <a:latin typeface="Cambria" pitchFamily="34" charset="0"/>
                <a:ea typeface="Cambria" pitchFamily="34" charset="-122"/>
                <a:cs typeface="Cambria" pitchFamily="34" charset="-120"/>
              </a:rPr>
              <a:t>Questions?</a:t>
            </a:r>
            <a:endParaRPr lang="en-US" sz="2400" dirty="0"/>
          </a:p>
        </p:txBody>
      </p:sp>
      <p:sp>
        <p:nvSpPr>
          <p:cNvPr id="22" name="Text 20"/>
          <p:cNvSpPr/>
          <p:nvPr/>
        </p:nvSpPr>
        <p:spPr>
          <a:xfrm>
            <a:off x="640080" y="4114800"/>
            <a:ext cx="7315200" cy="365760"/>
          </a:xfrm>
          <a:prstGeom prst="rect">
            <a:avLst/>
          </a:prstGeom>
          <a:noFill/>
          <a:ln/>
        </p:spPr>
        <p:txBody>
          <a:bodyPr wrap="square" lIns="0" tIns="0" rIns="0" bIns="0" rtlCol="0" anchor="ctr"/>
          <a:lstStyle/>
          <a:p>
            <a:pPr indent="0" marL="0">
              <a:buNone/>
            </a:pPr>
            <a:r>
              <a:rPr lang="en-US" sz="1250" dirty="0">
                <a:solidFill>
                  <a:srgbClr val="9B8FC9"/>
                </a:solidFill>
                <a:latin typeface="Cambria" pitchFamily="34" charset="0"/>
                <a:ea typeface="Cambria" pitchFamily="34" charset="-122"/>
                <a:cs typeface="Cambria" pitchFamily="34" charset="-120"/>
              </a:rPr>
              <a:t>networkx  ·  powerlaw  ·  scikit-learn  ·  SNAP email-Enron</a:t>
            </a:r>
            <a:endParaRPr lang="en-US" sz="1250" dirty="0"/>
          </a:p>
        </p:txBody>
      </p:sp>
      <p:sp>
        <p:nvSpPr>
          <p:cNvPr id="23" name="Text 21"/>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9B8FC9"/>
                </a:solidFill>
                <a:latin typeface="Cambria" pitchFamily="34" charset="0"/>
                <a:ea typeface="Cambria" pitchFamily="34" charset="-122"/>
                <a:cs typeface="Cambria" pitchFamily="34" charset="-120"/>
              </a:rPr>
              <a:t>15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50" b="1" spc="200" kern="0" dirty="0">
                <a:solidFill>
                  <a:srgbClr val="0091FF"/>
                </a:solidFill>
                <a:latin typeface="Cambria" pitchFamily="34" charset="0"/>
                <a:ea typeface="Cambria" pitchFamily="34" charset="-122"/>
                <a:cs typeface="Cambria" pitchFamily="34" charset="-120"/>
              </a:rPr>
              <a:t>APPENDIX</a:t>
            </a:r>
            <a:endParaRPr lang="en-US" sz="125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buNone/>
            </a:pPr>
            <a:r>
              <a:rPr lang="en-US" sz="3000" b="1" dirty="0">
                <a:solidFill>
                  <a:srgbClr val="1B0E3D"/>
                </a:solidFill>
                <a:latin typeface="Cambria" pitchFamily="34" charset="0"/>
                <a:ea typeface="Cambria" pitchFamily="34" charset="-122"/>
                <a:cs typeface="Cambria" pitchFamily="34" charset="-120"/>
              </a:rPr>
              <a:t>Quick Reference — Q&amp;A Backup</a:t>
            </a:r>
            <a:endParaRPr lang="en-US" sz="3000" dirty="0"/>
          </a:p>
        </p:txBody>
      </p:sp>
      <p:sp>
        <p:nvSpPr>
          <p:cNvPr id="4" name="Shape 2"/>
          <p:cNvSpPr/>
          <p:nvPr/>
        </p:nvSpPr>
        <p:spPr>
          <a:xfrm>
            <a:off x="11034979" y="492862"/>
            <a:ext cx="310896" cy="279806"/>
          </a:xfrm>
          <a:prstGeom prst="line">
            <a:avLst/>
          </a:prstGeom>
          <a:noFill/>
          <a:ln w="12700">
            <a:solidFill>
              <a:srgbClr val="CFC9E4"/>
            </a:solidFill>
            <a:prstDash val="solid"/>
          </a:ln>
        </p:spPr>
      </p:sp>
      <p:sp>
        <p:nvSpPr>
          <p:cNvPr id="5" name="Shape 3"/>
          <p:cNvSpPr/>
          <p:nvPr/>
        </p:nvSpPr>
        <p:spPr>
          <a:xfrm flipV="1">
            <a:off x="11345875" y="461772"/>
            <a:ext cx="295351" cy="310896"/>
          </a:xfrm>
          <a:prstGeom prst="line">
            <a:avLst/>
          </a:prstGeom>
          <a:noFill/>
          <a:ln w="12700">
            <a:solidFill>
              <a:srgbClr val="CFC9E4"/>
            </a:solidFill>
            <a:prstDash val="solid"/>
          </a:ln>
        </p:spPr>
      </p:sp>
      <p:sp>
        <p:nvSpPr>
          <p:cNvPr id="6" name="Shape 4"/>
          <p:cNvSpPr/>
          <p:nvPr/>
        </p:nvSpPr>
        <p:spPr>
          <a:xfrm flipV="1">
            <a:off x="11019434" y="772668"/>
            <a:ext cx="326441" cy="295351"/>
          </a:xfrm>
          <a:prstGeom prst="line">
            <a:avLst/>
          </a:prstGeom>
          <a:noFill/>
          <a:ln w="12700">
            <a:solidFill>
              <a:srgbClr val="CFC9E4"/>
            </a:solidFill>
            <a:prstDash val="solid"/>
          </a:ln>
        </p:spPr>
      </p:sp>
      <p:sp>
        <p:nvSpPr>
          <p:cNvPr id="7" name="Shape 5"/>
          <p:cNvSpPr/>
          <p:nvPr/>
        </p:nvSpPr>
        <p:spPr>
          <a:xfrm>
            <a:off x="11345875" y="772668"/>
            <a:ext cx="310896" cy="279806"/>
          </a:xfrm>
          <a:prstGeom prst="line">
            <a:avLst/>
          </a:prstGeom>
          <a:noFill/>
          <a:ln w="12700">
            <a:solidFill>
              <a:srgbClr val="CFC9E4"/>
            </a:solidFill>
            <a:prstDash val="solid"/>
          </a:ln>
        </p:spPr>
      </p:sp>
      <p:sp>
        <p:nvSpPr>
          <p:cNvPr id="8" name="Shape 6"/>
          <p:cNvSpPr/>
          <p:nvPr/>
        </p:nvSpPr>
        <p:spPr>
          <a:xfrm>
            <a:off x="10974354" y="432237"/>
            <a:ext cx="121249" cy="121249"/>
          </a:xfrm>
          <a:prstGeom prst="ellipse">
            <a:avLst/>
          </a:prstGeom>
          <a:solidFill>
            <a:srgbClr val="0091FF"/>
          </a:solidFill>
          <a:ln/>
        </p:spPr>
      </p:sp>
      <p:sp>
        <p:nvSpPr>
          <p:cNvPr id="9" name="Shape 7"/>
          <p:cNvSpPr/>
          <p:nvPr/>
        </p:nvSpPr>
        <p:spPr>
          <a:xfrm>
            <a:off x="11594592" y="415138"/>
            <a:ext cx="93269" cy="93269"/>
          </a:xfrm>
          <a:prstGeom prst="ellipse">
            <a:avLst/>
          </a:prstGeom>
          <a:solidFill>
            <a:srgbClr val="FFB800"/>
          </a:solidFill>
          <a:ln/>
        </p:spPr>
      </p:sp>
      <p:sp>
        <p:nvSpPr>
          <p:cNvPr id="10" name="Shape 8"/>
          <p:cNvSpPr/>
          <p:nvPr/>
        </p:nvSpPr>
        <p:spPr>
          <a:xfrm>
            <a:off x="10972800" y="1021385"/>
            <a:ext cx="93269" cy="93269"/>
          </a:xfrm>
          <a:prstGeom prst="ellipse">
            <a:avLst/>
          </a:prstGeom>
          <a:solidFill>
            <a:srgbClr val="FF1F71"/>
          </a:solidFill>
          <a:ln/>
        </p:spPr>
      </p:sp>
      <p:sp>
        <p:nvSpPr>
          <p:cNvPr id="11" name="Shape 9"/>
          <p:cNvSpPr/>
          <p:nvPr/>
        </p:nvSpPr>
        <p:spPr>
          <a:xfrm>
            <a:off x="11596146" y="991850"/>
            <a:ext cx="121249" cy="121249"/>
          </a:xfrm>
          <a:prstGeom prst="ellipse">
            <a:avLst/>
          </a:prstGeom>
          <a:solidFill>
            <a:srgbClr val="0091FF"/>
          </a:solidFill>
          <a:ln/>
        </p:spPr>
      </p:sp>
      <p:sp>
        <p:nvSpPr>
          <p:cNvPr id="12" name="Shape 10"/>
          <p:cNvSpPr/>
          <p:nvPr/>
        </p:nvSpPr>
        <p:spPr>
          <a:xfrm>
            <a:off x="11256493" y="683285"/>
            <a:ext cx="178765" cy="178765"/>
          </a:xfrm>
          <a:prstGeom prst="ellipse">
            <a:avLst/>
          </a:prstGeom>
          <a:solidFill>
            <a:srgbClr val="1B0E3D"/>
          </a:solidFill>
          <a:ln w="19050">
            <a:solidFill>
              <a:srgbClr val="FFFFFF"/>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38505" y="1554480"/>
          <a:ext cx="10515600" cy="914400"/>
        </p:xfrm>
        <a:graphic>
          <a:graphicData uri="http://schemas.openxmlformats.org/drawingml/2006/table">
            <a:tbl>
              <a:tblPr/>
              <a:tblGrid>
                <a:gridCol w="3566160"/>
                <a:gridCol w="1691640"/>
                <a:gridCol w="3566160"/>
                <a:gridCol w="1691640"/>
              </a:tblGrid>
              <a:tr h="484632">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Nodes (GC)</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91FF"/>
                          </a:solidFill>
                          <a:latin typeface="Cambria" pitchFamily="34" charset="0"/>
                          <a:ea typeface="Cambria" pitchFamily="34" charset="-122"/>
                          <a:cs typeface="Cambria" pitchFamily="34" charset="-120"/>
                        </a:rPr>
                        <a:t>33,696 (91.8%)</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Assortativity r</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FF1F71"/>
                          </a:solidFill>
                          <a:latin typeface="Cambria" pitchFamily="34" charset="0"/>
                          <a:ea typeface="Cambria" pitchFamily="34" charset="-122"/>
                          <a:cs typeface="Cambria" pitchFamily="34" charset="-120"/>
                        </a:rPr>
                        <a:t>-0.117 (disassortative)</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r>
              <a:tr h="484632">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Edges (GC)</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91FF"/>
                          </a:solidFill>
                          <a:latin typeface="Cambria" pitchFamily="34" charset="0"/>
                          <a:ea typeface="Cambria" pitchFamily="34" charset="-122"/>
                          <a:cs typeface="Cambria" pitchFamily="34" charset="-120"/>
                        </a:rPr>
                        <a:t>180,811</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Mean knn</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FF1F71"/>
                          </a:solidFill>
                          <a:latin typeface="Cambria" pitchFamily="34" charset="0"/>
                          <a:ea typeface="Cambria" pitchFamily="34" charset="-122"/>
                          <a:cs typeface="Cambria" pitchFamily="34" charset="-120"/>
                        </a:rPr>
                        <a:t>257 (≫ ⟨k⟩ = 10.7)</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r>
              <a:tr h="484632">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Average degree ⟨k⟩</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91FF"/>
                          </a:solidFill>
                          <a:latin typeface="Cambria" pitchFamily="34" charset="0"/>
                          <a:ea typeface="Cambria" pitchFamily="34" charset="-122"/>
                          <a:cs typeface="Cambria" pitchFamily="34" charset="-120"/>
                        </a:rPr>
                        <a:t>10.73</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Degree–betweenness corr.</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FF1F71"/>
                          </a:solidFill>
                          <a:latin typeface="Cambria" pitchFamily="34" charset="0"/>
                          <a:ea typeface="Cambria" pitchFamily="34" charset="-122"/>
                          <a:cs typeface="Cambria" pitchFamily="34" charset="-120"/>
                        </a:rPr>
                        <a:t>0.79</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r>
              <a:tr h="484632">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Max degree</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91FF"/>
                          </a:solidFill>
                          <a:latin typeface="Cambria" pitchFamily="34" charset="0"/>
                          <a:ea typeface="Cambria" pitchFamily="34" charset="-122"/>
                          <a:cs typeface="Cambria" pitchFamily="34" charset="-120"/>
                        </a:rPr>
                        <a:t>1,383 (node 5038)</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Communities / modularity</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FF1F71"/>
                          </a:solidFill>
                          <a:latin typeface="Cambria" pitchFamily="34" charset="0"/>
                          <a:ea typeface="Cambria" pitchFamily="34" charset="-122"/>
                          <a:cs typeface="Cambria" pitchFamily="34" charset="-120"/>
                        </a:rPr>
                        <a:t>197 / 0.60</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r>
              <a:tr h="484632">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Power-law γ / xmin</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91FF"/>
                          </a:solidFill>
                          <a:latin typeface="Cambria" pitchFamily="34" charset="0"/>
                          <a:ea typeface="Cambria" pitchFamily="34" charset="-122"/>
                          <a:cs typeface="Cambria" pitchFamily="34" charset="-120"/>
                        </a:rPr>
                        <a:t>1.98 / 5</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fₑ (Molloy-Reed)</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FF1F71"/>
                          </a:solidFill>
                          <a:latin typeface="Cambria" pitchFamily="34" charset="0"/>
                          <a:ea typeface="Cambria" pitchFamily="34" charset="-122"/>
                          <a:cs typeface="Cambria" pitchFamily="34" charset="-120"/>
                        </a:rPr>
                        <a:t>0.993</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r>
              <a:tr h="484632">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Best-fit distribution</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91FF"/>
                          </a:solidFill>
                          <a:latin typeface="Cambria" pitchFamily="34" charset="0"/>
                          <a:ea typeface="Cambria" pitchFamily="34" charset="-122"/>
                          <a:cs typeface="Cambria" pitchFamily="34" charset="-120"/>
                        </a:rPr>
                        <a:t>Truncated power law</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fₑ random / targeted</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FF1F71"/>
                          </a:solidFill>
                          <a:latin typeface="Cambria" pitchFamily="34" charset="0"/>
                          <a:ea typeface="Cambria" pitchFamily="34" charset="-122"/>
                          <a:cs typeface="Cambria" pitchFamily="34" charset="-120"/>
                        </a:rPr>
                        <a:t>0.93 / 0.13</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r>
              <a:tr h="484632">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TPL α / cutoff</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91FF"/>
                          </a:solidFill>
                          <a:latin typeface="Cambria" pitchFamily="34" charset="0"/>
                          <a:ea typeface="Cambria" pitchFamily="34" charset="-122"/>
                          <a:cs typeface="Cambria" pitchFamily="34" charset="-120"/>
                        </a:rPr>
                        <a:t>1.87 / ≈ 590</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Robust-graph gain</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FF1F71"/>
                          </a:solidFill>
                          <a:latin typeface="Cambria" pitchFamily="34" charset="0"/>
                          <a:ea typeface="Cambria" pitchFamily="34" charset="-122"/>
                          <a:cs typeface="Cambria" pitchFamily="34" charset="-120"/>
                        </a:rPr>
                        <a:t>same ⟨k⟩, much higher fₑ</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r>
              <a:tr h="484632">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Global clustering C₁</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91FF"/>
                          </a:solidFill>
                          <a:latin typeface="Cambria" pitchFamily="34" charset="0"/>
                          <a:ea typeface="Cambria" pitchFamily="34" charset="-122"/>
                          <a:cs typeface="Cambria" pitchFamily="34" charset="-120"/>
                        </a:rPr>
                        <a:t>0.085</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Bipartite check</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FF1F71"/>
                          </a:solidFill>
                          <a:latin typeface="Cambria" pitchFamily="34" charset="0"/>
                          <a:ea typeface="Cambria" pitchFamily="34" charset="-122"/>
                          <a:cs typeface="Cambria" pitchFamily="34" charset="-120"/>
                        </a:rPr>
                        <a:t>No (725,311 triangles)</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r>
              <a:tr h="484632">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Local clustering C₂</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91FF"/>
                          </a:solidFill>
                          <a:latin typeface="Cambria" pitchFamily="34" charset="0"/>
                          <a:ea typeface="Cambria" pitchFamily="34" charset="-122"/>
                          <a:cs typeface="Cambria" pitchFamily="34" charset="-120"/>
                        </a:rPr>
                        <a:t>0.509 (1,599× ER)</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indent="0" marL="0">
                        <a:buNone/>
                      </a:pPr>
                      <a:r>
                        <a:rPr lang="en-US" sz="1150" dirty="0">
                          <a:solidFill>
                            <a:srgbClr val="1B0E3D"/>
                          </a:solidFill>
                          <a:latin typeface="Cambria" pitchFamily="34" charset="0"/>
                          <a:ea typeface="Cambria" pitchFamily="34" charset="-122"/>
                          <a:cs typeface="Cambria" pitchFamily="34" charset="-120"/>
                        </a:rPr>
                        <a:t>Avg. path / diameter</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FF1F71"/>
                          </a:solidFill>
                          <a:latin typeface="Cambria" pitchFamily="34" charset="0"/>
                          <a:ea typeface="Cambria" pitchFamily="34" charset="-122"/>
                          <a:cs typeface="Cambria" pitchFamily="34" charset="-120"/>
                        </a:rPr>
                        <a:t>3.96 / 13 (est.)</a:t>
                      </a:r>
                      <a:endParaRPr lang="en-US" sz="1150" dirty="0">
                        <a:latin typeface="Cambria" charset="0"/>
                        <a:ea typeface="Cambria" charset="0"/>
                        <a:cs typeface="Cambria" charset="0"/>
                      </a:endParaRPr>
                    </a:p>
                  </a:txBody>
                  <a:tcPr marL="91440" marR="91440" marT="45720" marB="45720" anchor="ctr">
                    <a:lnL w="7620" cap="flat" cmpd="sng" algn="ctr">
                      <a:solidFill>
                        <a:srgbClr val="E5E1F0"/>
                      </a:solidFill>
                      <a:prstDash val="solid"/>
                      <a:round/>
                      <a:headEnd type="none" w="med" len="med"/>
                      <a:tailEnd type="none" w="med" len="med"/>
                    </a:lnL>
                    <a:lnR w="7620" cap="flat" cmpd="sng" algn="ctr">
                      <a:solidFill>
                        <a:srgbClr val="E5E1F0"/>
                      </a:solidFill>
                      <a:prstDash val="solid"/>
                      <a:round/>
                      <a:headEnd type="none" w="med" len="med"/>
                      <a:tailEnd type="none" w="med" len="med"/>
                    </a:lnR>
                    <a:lnT w="7620" cap="flat" cmpd="sng" algn="ctr">
                      <a:solidFill>
                        <a:srgbClr val="E5E1F0"/>
                      </a:solidFill>
                      <a:prstDash val="solid"/>
                      <a:round/>
                      <a:headEnd type="none" w="med" len="med"/>
                      <a:tailEnd type="none" w="med" len="med"/>
                    </a:lnT>
                    <a:lnB w="7620" cap="flat" cmpd="sng" algn="ctr">
                      <a:solidFill>
                        <a:srgbClr val="E5E1F0"/>
                      </a:solidFill>
                      <a:prstDash val="solid"/>
                      <a:round/>
                      <a:headEnd type="none" w="med" len="med"/>
                      <a:tailEnd type="none" w="med" len="med"/>
                    </a:lnB>
                    <a:solidFill>
                      <a:srgbClr val="FFFFFF"/>
                    </a:solidFill>
                  </a:tcPr>
                </a:tc>
              </a:tr>
            </a:tbl>
          </a:graphicData>
        </a:graphic>
      </p:graphicFrame>
      <p:sp>
        <p:nvSpPr>
          <p:cNvPr id="14" name="Text 11"/>
          <p:cNvSpPr/>
          <p:nvPr/>
        </p:nvSpPr>
        <p:spPr>
          <a:xfrm>
            <a:off x="838505" y="5989320"/>
            <a:ext cx="10515600" cy="365760"/>
          </a:xfrm>
          <a:prstGeom prst="rect">
            <a:avLst/>
          </a:prstGeom>
          <a:noFill/>
          <a:ln/>
        </p:spPr>
        <p:txBody>
          <a:bodyPr wrap="square" lIns="0" tIns="0" rIns="0" bIns="0" rtlCol="0" anchor="ctr"/>
          <a:lstStyle/>
          <a:p>
            <a:pPr algn="ctr" indent="0" marL="0">
              <a:buNone/>
            </a:pPr>
            <a:r>
              <a:rPr lang="en-US" sz="1050" i="1" dirty="0">
                <a:solidFill>
                  <a:srgbClr val="6B7280"/>
                </a:solidFill>
                <a:latin typeface="Cambria" pitchFamily="34" charset="0"/>
                <a:ea typeface="Cambria" pitchFamily="34" charset="-122"/>
                <a:cs typeface="Cambria" pitchFamily="34" charset="-120"/>
              </a:rPr>
              <a:t>Extensions (Shapley, spreading, embeddings, conformal prediction) — see slide 14 and the project notes.</a:t>
            </a:r>
            <a:endParaRPr lang="en-US" sz="1050" dirty="0"/>
          </a:p>
        </p:txBody>
      </p:sp>
      <p:sp>
        <p:nvSpPr>
          <p:cNvPr id="15" name="Text 12"/>
          <p:cNvSpPr/>
          <p:nvPr/>
        </p:nvSpPr>
        <p:spPr>
          <a:xfrm>
            <a:off x="11140135" y="6473952"/>
            <a:ext cx="822960" cy="274320"/>
          </a:xfrm>
          <a:prstGeom prst="rect">
            <a:avLst/>
          </a:prstGeom>
          <a:noFill/>
          <a:ln/>
        </p:spPr>
        <p:txBody>
          <a:bodyPr wrap="square" lIns="0" tIns="0" rIns="0" bIns="0" rtlCol="0" anchor="ctr"/>
          <a:lstStyle/>
          <a:p>
            <a:pPr algn="r" indent="0" marL="0">
              <a:buNone/>
            </a:pPr>
            <a:r>
              <a:rPr lang="en-US" sz="900" dirty="0">
                <a:solidFill>
                  <a:srgbClr val="B3AFC7"/>
                </a:solidFill>
                <a:latin typeface="Cambria" pitchFamily="34" charset="0"/>
                <a:ea typeface="Cambria" pitchFamily="34" charset="-122"/>
                <a:cs typeface="Cambria" pitchFamily="34" charset="-120"/>
              </a:rPr>
              <a:t>16 / 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Enron Email Network — A Complex Network Analysis</dc:title>
  <dc:subject>Complex Network Analysis</dc:subject>
  <dc:creator>CNA Project Group</dc:creator>
  <cp:lastModifiedBy>CNA Project Group</cp:lastModifiedBy>
  <cp:revision>1</cp:revision>
  <dcterms:created xsi:type="dcterms:W3CDTF">2026-07-09T18:03:46Z</dcterms:created>
  <dcterms:modified xsi:type="dcterms:W3CDTF">2026-07-09T18:03:46Z</dcterms:modified>
</cp:coreProperties>
</file>